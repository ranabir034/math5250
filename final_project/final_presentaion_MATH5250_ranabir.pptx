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7" r:id="rId2"/>
    <p:sldId id="258" r:id="rId3"/>
    <p:sldId id="260" r:id="rId4"/>
    <p:sldId id="259" r:id="rId5"/>
    <p:sldId id="261" r:id="rId6"/>
    <p:sldId id="262" r:id="rId7"/>
    <p:sldId id="263" r:id="rId8"/>
    <p:sldId id="265" r:id="rId9"/>
    <p:sldId id="266" r:id="rId10"/>
    <p:sldId id="267" r:id="rId11"/>
    <p:sldId id="268" r:id="rId12"/>
    <p:sldId id="269" r:id="rId13"/>
    <p:sldId id="270" r:id="rId14"/>
    <p:sldId id="272" r:id="rId15"/>
    <p:sldId id="271" r:id="rId16"/>
    <p:sldId id="273" r:id="rId17"/>
    <p:sldId id="274" r:id="rId18"/>
    <p:sldId id="275" r:id="rId19"/>
    <p:sldId id="277" r:id="rId20"/>
    <p:sldId id="276" r:id="rId21"/>
    <p:sldId id="278" r:id="rId22"/>
    <p:sldId id="279" r:id="rId23"/>
    <p:sldId id="281" r:id="rId24"/>
    <p:sldId id="280" r:id="rId25"/>
    <p:sldId id="282" r:id="rId26"/>
    <p:sldId id="283" r:id="rId27"/>
    <p:sldId id="284" r:id="rId28"/>
    <p:sldId id="285" r:id="rId29"/>
    <p:sldId id="286" r:id="rId30"/>
    <p:sldId id="287" r:id="rId31"/>
    <p:sldId id="288" r:id="rId32"/>
    <p:sldId id="290" r:id="rId33"/>
    <p:sldId id="29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76"/>
    <p:restoredTop sz="78336"/>
  </p:normalViewPr>
  <p:slideViewPr>
    <p:cSldViewPr snapToGrid="0">
      <p:cViewPr varScale="1">
        <p:scale>
          <a:sx n="93" d="100"/>
          <a:sy n="93" d="100"/>
        </p:scale>
        <p:origin x="94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CDABD7-C6F8-794D-B865-FD57523AAD1F}" type="datetimeFigureOut">
              <a:rPr lang="en-US" smtClean="0"/>
              <a:t>5/4/26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1A41FB-0BC0-3348-8414-7F2833672A24}" type="slidenum">
              <a:rPr lang="en-US" smtClean="0"/>
              <a:t>‹#›</a:t>
            </a:fld>
            <a:endParaRPr lang="en-US"/>
          </a:p>
        </p:txBody>
      </p:sp>
    </p:spTree>
    <p:extLst>
      <p:ext uri="{BB962C8B-B14F-4D97-AF65-F5344CB8AC3E}">
        <p14:creationId xmlns:p14="http://schemas.microsoft.com/office/powerpoint/2010/main" val="3601501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Here is how the talk is structured. I will start with the motivation — what the question is and why I care about it</a:t>
            </a:r>
          </a:p>
          <a:p>
            <a:r>
              <a:rPr lang="en-US" dirty="0">
                <a:solidFill>
                  <a:srgbClr val="141414"/>
                </a:solidFill>
                <a:effectLst/>
                <a:latin typeface="Helvetica" pitchFamily="2" charset="0"/>
              </a:rPr>
              <a:t>personally. Then a short tour of the constitutive model itself, the mathematics of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sensitivity analysis, and</a:t>
            </a:r>
          </a:p>
          <a:p>
            <a:r>
              <a:rPr lang="en-US" dirty="0">
                <a:solidFill>
                  <a:srgbClr val="141414"/>
                </a:solidFill>
                <a:effectLst/>
                <a:latin typeface="Helvetica" pitchFamily="2" charset="0"/>
              </a:rPr>
              <a:t>the parallel implementation. After that, I’ll show you my validation of the estimator, the actual scientific results,</a:t>
            </a:r>
          </a:p>
          <a:p>
            <a:r>
              <a:rPr lang="en-US" dirty="0">
                <a:solidFill>
                  <a:srgbClr val="141414"/>
                </a:solidFill>
                <a:effectLst/>
                <a:latin typeface="Helvetica" pitchFamily="2" charset="0"/>
              </a:rPr>
              <a:t>and finish with a summary and future work.</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a:t>
            </a:fld>
            <a:endParaRPr lang="en-US"/>
          </a:p>
        </p:txBody>
      </p:sp>
    </p:spTree>
    <p:extLst>
      <p:ext uri="{BB962C8B-B14F-4D97-AF65-F5344CB8AC3E}">
        <p14:creationId xmlns:p14="http://schemas.microsoft.com/office/powerpoint/2010/main" val="1739661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Cardiovascular tissues — the aorta, the pulmonary artery, vein walls — deform nonlinearly under physiological</a:t>
            </a:r>
          </a:p>
          <a:p>
            <a:r>
              <a:rPr lang="en-US" dirty="0">
                <a:solidFill>
                  <a:srgbClr val="141414"/>
                </a:solidFill>
                <a:effectLst/>
                <a:latin typeface="Helvetica" pitchFamily="2" charset="0"/>
              </a:rPr>
              <a:t>loading. Predicting how they deform matters for surgical planning, stent design, aneurysm risk assessment, drug</a:t>
            </a:r>
          </a:p>
          <a:p>
            <a:r>
              <a:rPr lang="en-US" dirty="0">
                <a:solidFill>
                  <a:srgbClr val="141414"/>
                </a:solidFill>
                <a:effectLst/>
                <a:latin typeface="Helvetica" pitchFamily="2" charset="0"/>
              </a:rPr>
              <a:t>delivery modeling, and so on.</a:t>
            </a:r>
          </a:p>
          <a:p>
            <a:r>
              <a:rPr lang="en-US" dirty="0">
                <a:solidFill>
                  <a:srgbClr val="141414"/>
                </a:solidFill>
                <a:effectLst/>
                <a:latin typeface="Helvetica" pitchFamily="2" charset="0"/>
              </a:rPr>
              <a:t>To predict that deformation, we need a constitutive model — a mathematical function that maps deformation</a:t>
            </a:r>
          </a:p>
          <a:p>
            <a:r>
              <a:rPr lang="en-US" dirty="0">
                <a:solidFill>
                  <a:srgbClr val="141414"/>
                </a:solidFill>
                <a:effectLst/>
                <a:latin typeface="Helvetica" pitchFamily="2" charset="0"/>
              </a:rPr>
              <a:t>to stress. And to use any constitutive model, we have to calibrate its parameters from experimental data.</a:t>
            </a:r>
          </a:p>
          <a:p>
            <a:endParaRPr lang="en-US" dirty="0"/>
          </a:p>
          <a:p>
            <a:r>
              <a:rPr lang="en-US" dirty="0">
                <a:solidFill>
                  <a:srgbClr val="141414"/>
                </a:solidFill>
                <a:effectLst/>
                <a:latin typeface="Helvetica" pitchFamily="2" charset="0"/>
              </a:rPr>
              <a:t>The data we calibrate from is a stress–strain curve from biaxial mechanical testing on the tissue specimen. The</a:t>
            </a:r>
          </a:p>
          <a:p>
            <a:r>
              <a:rPr lang="en-US" dirty="0">
                <a:solidFill>
                  <a:srgbClr val="141414"/>
                </a:solidFill>
                <a:effectLst/>
                <a:latin typeface="Helvetica" pitchFamily="2" charset="0"/>
              </a:rPr>
              <a:t>model we use throughout this project is the Holzapfel–Gasser–Ogden model — HGO for short — which is the</a:t>
            </a:r>
          </a:p>
          <a:p>
            <a:r>
              <a:rPr lang="en-US" dirty="0">
                <a:solidFill>
                  <a:srgbClr val="141414"/>
                </a:solidFill>
                <a:effectLst/>
                <a:latin typeface="Helvetica" pitchFamily="2" charset="0"/>
              </a:rPr>
              <a:t>de-facto standard in cardiovascular biomechanics.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4</a:t>
            </a:fld>
            <a:endParaRPr lang="en-US"/>
          </a:p>
        </p:txBody>
      </p:sp>
    </p:spTree>
    <p:extLst>
      <p:ext uri="{BB962C8B-B14F-4D97-AF65-F5344CB8AC3E}">
        <p14:creationId xmlns:p14="http://schemas.microsoft.com/office/powerpoint/2010/main" val="3709141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This is what a biaxial mechanical test looks like in cartoon form. You take a small square piece of tissue, attach</a:t>
            </a:r>
          </a:p>
          <a:p>
            <a:r>
              <a:rPr lang="en-US" dirty="0">
                <a:solidFill>
                  <a:srgbClr val="141414"/>
                </a:solidFill>
                <a:effectLst/>
                <a:latin typeface="Helvetica" pitchFamily="2" charset="0"/>
              </a:rPr>
              <a:t>hooks or sutures along all four sides, and pull simultaneously in two perpendicular directions with independently</a:t>
            </a:r>
          </a:p>
          <a:p>
            <a:r>
              <a:rPr lang="en-US" dirty="0">
                <a:solidFill>
                  <a:srgbClr val="141414"/>
                </a:solidFill>
                <a:effectLst/>
                <a:latin typeface="Helvetica" pitchFamily="2" charset="0"/>
              </a:rPr>
              <a:t>controlled forces F₁ and F₂. The corresponding stretches are </a:t>
            </a:r>
            <a:r>
              <a:rPr lang="el-GR" dirty="0">
                <a:solidFill>
                  <a:srgbClr val="141414"/>
                </a:solidFill>
                <a:effectLst/>
                <a:latin typeface="Helvetica" pitchFamily="2" charset="0"/>
              </a:rPr>
              <a:t>λ₁ </a:t>
            </a:r>
            <a:r>
              <a:rPr lang="en-US" dirty="0">
                <a:solidFill>
                  <a:srgbClr val="141414"/>
                </a:solidFill>
                <a:effectLst/>
                <a:latin typeface="Helvetica" pitchFamily="2" charset="0"/>
              </a:rPr>
              <a:t>and </a:t>
            </a:r>
            <a:r>
              <a:rPr lang="el-GR" dirty="0">
                <a:solidFill>
                  <a:srgbClr val="141414"/>
                </a:solidFill>
                <a:effectLst/>
                <a:latin typeface="Helvetica" pitchFamily="2" charset="0"/>
              </a:rPr>
              <a:t>λ₂. </a:t>
            </a:r>
            <a:r>
              <a:rPr lang="en-US" dirty="0">
                <a:solidFill>
                  <a:srgbClr val="141414"/>
                </a:solidFill>
                <a:effectLst/>
                <a:latin typeface="Helvetica" pitchFamily="2" charset="0"/>
              </a:rPr>
              <a:t>While doing this, you measure the stresses</a:t>
            </a:r>
          </a:p>
          <a:p>
            <a:r>
              <a:rPr lang="el-GR" dirty="0">
                <a:solidFill>
                  <a:srgbClr val="141414"/>
                </a:solidFill>
                <a:effectLst/>
                <a:latin typeface="Helvetica" pitchFamily="2" charset="0"/>
              </a:rPr>
              <a:t>σ₁₁ </a:t>
            </a:r>
            <a:r>
              <a:rPr lang="en-US" dirty="0">
                <a:solidFill>
                  <a:srgbClr val="141414"/>
                </a:solidFill>
                <a:effectLst/>
                <a:latin typeface="Helvetica" pitchFamily="2" charset="0"/>
              </a:rPr>
              <a:t>and </a:t>
            </a:r>
            <a:r>
              <a:rPr lang="el-GR" dirty="0">
                <a:solidFill>
                  <a:srgbClr val="141414"/>
                </a:solidFill>
                <a:effectLst/>
                <a:latin typeface="Helvetica" pitchFamily="2" charset="0"/>
              </a:rPr>
              <a:t>σ₂₂.</a:t>
            </a:r>
          </a:p>
          <a:p>
            <a:r>
              <a:rPr lang="en-US" dirty="0">
                <a:solidFill>
                  <a:srgbClr val="141414"/>
                </a:solidFill>
                <a:effectLst/>
                <a:latin typeface="Helvetica" pitchFamily="2" charset="0"/>
              </a:rPr>
              <a:t>Now, the ratio </a:t>
            </a:r>
            <a:r>
              <a:rPr lang="el-GR" dirty="0">
                <a:solidFill>
                  <a:srgbClr val="141414"/>
                </a:solidFill>
                <a:effectLst/>
                <a:latin typeface="Helvetica" pitchFamily="2" charset="0"/>
              </a:rPr>
              <a:t>λ₂ </a:t>
            </a:r>
            <a:r>
              <a:rPr lang="en-US" dirty="0">
                <a:solidFill>
                  <a:srgbClr val="141414"/>
                </a:solidFill>
                <a:effectLst/>
                <a:latin typeface="Helvetica" pitchFamily="2" charset="0"/>
              </a:rPr>
              <a:t>over </a:t>
            </a:r>
            <a:r>
              <a:rPr lang="el-GR" dirty="0">
                <a:solidFill>
                  <a:srgbClr val="141414"/>
                </a:solidFill>
                <a:effectLst/>
                <a:latin typeface="Helvetica" pitchFamily="2" charset="0"/>
              </a:rPr>
              <a:t>λ₁ </a:t>
            </a:r>
            <a:r>
              <a:rPr lang="en-US" dirty="0">
                <a:solidFill>
                  <a:srgbClr val="141414"/>
                </a:solidFill>
                <a:effectLst/>
                <a:latin typeface="Helvetica" pitchFamily="2" charset="0"/>
              </a:rPr>
              <a:t>defines the loading protocol. If you stretch equally in both directions, that’s </a:t>
            </a:r>
            <a:r>
              <a:rPr lang="en-US" dirty="0" err="1">
                <a:solidFill>
                  <a:srgbClr val="141414"/>
                </a:solidFill>
                <a:effectLst/>
                <a:latin typeface="Helvetica" pitchFamily="2" charset="0"/>
              </a:rPr>
              <a:t>equibiaxial</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 ratio 1:1. If you stretch one direction and let the other follow at half the rate, that’s 1:0.5 off-biaxial. And if</a:t>
            </a:r>
          </a:p>
          <a:p>
            <a:r>
              <a:rPr lang="en-US" dirty="0">
                <a:solidFill>
                  <a:srgbClr val="141414"/>
                </a:solidFill>
                <a:effectLst/>
                <a:latin typeface="Helvetica" pitchFamily="2" charset="0"/>
              </a:rPr>
              <a:t>you stretch only in one direction with the other free, that’s uniaxial.</a:t>
            </a:r>
          </a:p>
          <a:p>
            <a:r>
              <a:rPr lang="en-US" dirty="0">
                <a:solidFill>
                  <a:srgbClr val="141414"/>
                </a:solidFill>
                <a:effectLst/>
                <a:latin typeface="Helvetica" pitchFamily="2" charset="0"/>
              </a:rPr>
              <a:t>In this project I’m considering all four of these protocols: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two off-biaxial cases at 1:0.75 and 1:0.5,</a:t>
            </a:r>
          </a:p>
          <a:p>
            <a:r>
              <a:rPr lang="en-US" dirty="0">
                <a:solidFill>
                  <a:srgbClr val="141414"/>
                </a:solidFill>
                <a:effectLst/>
                <a:latin typeface="Helvetica" pitchFamily="2" charset="0"/>
              </a:rPr>
              <a:t>and uniaxial.</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5</a:t>
            </a:fld>
            <a:endParaRPr lang="en-US"/>
          </a:p>
        </p:txBody>
      </p:sp>
    </p:spTree>
    <p:extLst>
      <p:ext uri="{BB962C8B-B14F-4D97-AF65-F5344CB8AC3E}">
        <p14:creationId xmlns:p14="http://schemas.microsoft.com/office/powerpoint/2010/main" val="3711108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Here is the question that motivates this project. On the left is what people typically do today: they fit HGO to biaxial test data with nonlinear least squares, then report the fitted parameter values along with confidence intervals derived from the Hessian at the optimum point. This is fine — but it’s a local view of identifiability. The confidence intervals are only valid in a small neighborhood of that one fitted point. The deeper question is what’s on the right. Across the full physiologically plausible range — not just at one fitted</a:t>
            </a:r>
          </a:p>
          <a:p>
            <a:r>
              <a:rPr lang="en-US" dirty="0">
                <a:solidFill>
                  <a:srgbClr val="141414"/>
                </a:solidFill>
                <a:effectLst/>
                <a:latin typeface="Helvetica" pitchFamily="2" charset="0"/>
              </a:rPr>
              <a:t>point — how much does each parameter actually influence the stress response under a given loading protocol?</a:t>
            </a:r>
          </a:p>
          <a:p>
            <a:r>
              <a:rPr lang="en-US" dirty="0">
                <a:solidFill>
                  <a:srgbClr val="141414"/>
                </a:solidFill>
                <a:effectLst/>
                <a:latin typeface="Helvetica" pitchFamily="2" charset="0"/>
              </a:rPr>
              <a:t>That gives us a global view of identifiability that doesn’t depend on any one specific fit. And it tells us, for any</a:t>
            </a:r>
          </a:p>
          <a:p>
            <a:r>
              <a:rPr lang="en-US" dirty="0">
                <a:solidFill>
                  <a:srgbClr val="141414"/>
                </a:solidFill>
                <a:effectLst/>
                <a:latin typeface="Helvetica" pitchFamily="2" charset="0"/>
              </a:rPr>
              <a:t>new tissue, which loading protocols genuinely identify which parameters.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41414"/>
                </a:solidFill>
                <a:effectLst/>
                <a:latin typeface="Helvetica" pitchFamily="2" charset="0"/>
              </a:rPr>
              <a:t>This is what global sensitivity analysis answers.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6</a:t>
            </a:fld>
            <a:endParaRPr lang="en-US"/>
          </a:p>
        </p:txBody>
      </p:sp>
    </p:spTree>
    <p:extLst>
      <p:ext uri="{BB962C8B-B14F-4D97-AF65-F5344CB8AC3E}">
        <p14:creationId xmlns:p14="http://schemas.microsoft.com/office/powerpoint/2010/main" val="27636814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When I tried to fit HGO to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biaxial-test data in earlier work, the fiber angle </a:t>
            </a:r>
            <a:r>
              <a:rPr lang="el-GR" dirty="0">
                <a:solidFill>
                  <a:srgbClr val="141414"/>
                </a:solidFill>
                <a:effectLst/>
                <a:latin typeface="Helvetica" pitchFamily="2" charset="0"/>
              </a:rPr>
              <a:t>α </a:t>
            </a:r>
            <a:r>
              <a:rPr lang="en-US" dirty="0">
                <a:solidFill>
                  <a:srgbClr val="141414"/>
                </a:solidFill>
                <a:effectLst/>
                <a:latin typeface="Helvetica" pitchFamily="2" charset="0"/>
              </a:rPr>
              <a:t>was not recoverable.</a:t>
            </a:r>
          </a:p>
          <a:p>
            <a:r>
              <a:rPr lang="en-US" dirty="0">
                <a:solidFill>
                  <a:srgbClr val="141414"/>
                </a:solidFill>
                <a:effectLst/>
                <a:latin typeface="Helvetica" pitchFamily="2" charset="0"/>
              </a:rPr>
              <a:t>Different fit runs returned wildly different </a:t>
            </a:r>
            <a:r>
              <a:rPr lang="el-GR" dirty="0">
                <a:solidFill>
                  <a:srgbClr val="141414"/>
                </a:solidFill>
                <a:effectLst/>
                <a:latin typeface="Helvetica" pitchFamily="2" charset="0"/>
              </a:rPr>
              <a:t>α </a:t>
            </a:r>
            <a:r>
              <a:rPr lang="en-US" dirty="0">
                <a:solidFill>
                  <a:srgbClr val="141414"/>
                </a:solidFill>
                <a:effectLst/>
                <a:latin typeface="Helvetica" pitchFamily="2" charset="0"/>
              </a:rPr>
              <a:t>values, all with similar fit quality. The inverse problem appeared</a:t>
            </a:r>
          </a:p>
          <a:p>
            <a:r>
              <a:rPr lang="en-US" dirty="0">
                <a:solidFill>
                  <a:srgbClr val="141414"/>
                </a:solidFill>
                <a:effectLst/>
                <a:latin typeface="Helvetica" pitchFamily="2" charset="0"/>
              </a:rPr>
              <a:t>rank-deficient. I saw the symptom but didn’t have a clean explanation for it.</a:t>
            </a:r>
          </a:p>
          <a:p>
            <a:r>
              <a:rPr lang="en-US" dirty="0">
                <a:solidFill>
                  <a:srgbClr val="141414"/>
                </a:solidFill>
                <a:effectLst/>
                <a:latin typeface="Helvetica" pitchFamily="2" charset="0"/>
              </a:rPr>
              <a:t>So this project tests a hypothesis: variance-based sensitivity analysis should quantitatively explain </a:t>
            </a:r>
            <a:r>
              <a:rPr lang="el-GR" dirty="0">
                <a:solidFill>
                  <a:srgbClr val="141414"/>
                </a:solidFill>
                <a:effectLst/>
                <a:latin typeface="Helvetica" pitchFamily="2" charset="0"/>
              </a:rPr>
              <a:t>α’</a:t>
            </a:r>
            <a:r>
              <a:rPr lang="en-US" dirty="0">
                <a:solidFill>
                  <a:srgbClr val="141414"/>
                </a:solidFill>
                <a:effectLst/>
                <a:latin typeface="Helvetica" pitchFamily="2" charset="0"/>
              </a:rPr>
              <a:t>s rank</a:t>
            </a:r>
          </a:p>
          <a:p>
            <a:r>
              <a:rPr lang="en-US" dirty="0">
                <a:solidFill>
                  <a:srgbClr val="141414"/>
                </a:solidFill>
                <a:effectLst/>
                <a:latin typeface="Helvetica" pitchFamily="2" charset="0"/>
              </a:rPr>
              <a:t>deficiency 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loading. And going further — other loading protocols, particularly off-biaxial and</a:t>
            </a:r>
          </a:p>
          <a:p>
            <a:r>
              <a:rPr lang="en-US" dirty="0">
                <a:solidFill>
                  <a:srgbClr val="141414"/>
                </a:solidFill>
                <a:effectLst/>
                <a:latin typeface="Helvetica" pitchFamily="2" charset="0"/>
              </a:rPr>
              <a:t>uniaxial, should activate </a:t>
            </a:r>
            <a:r>
              <a:rPr lang="el-GR" dirty="0">
                <a:solidFill>
                  <a:srgbClr val="141414"/>
                </a:solidFill>
                <a:effectLst/>
                <a:latin typeface="Helvetica" pitchFamily="2" charset="0"/>
              </a:rPr>
              <a:t>α </a:t>
            </a:r>
            <a:r>
              <a:rPr lang="en-US" dirty="0">
                <a:solidFill>
                  <a:srgbClr val="141414"/>
                </a:solidFill>
                <a:effectLst/>
                <a:latin typeface="Helvetica" pitchFamily="2" charset="0"/>
              </a:rPr>
              <a:t>more strongly and make it identifiable. The output is what cardiovascular</a:t>
            </a:r>
          </a:p>
          <a:p>
            <a:r>
              <a:rPr lang="en-US" dirty="0">
                <a:solidFill>
                  <a:srgbClr val="141414"/>
                </a:solidFill>
                <a:effectLst/>
                <a:latin typeface="Helvetica" pitchFamily="2" charset="0"/>
              </a:rPr>
              <a:t>biomechanics experimentalists could use as a quantitative protocol-design figure: which protocol exposes which</a:t>
            </a:r>
          </a:p>
          <a:p>
            <a:r>
              <a:rPr lang="en-US" dirty="0">
                <a:solidFill>
                  <a:srgbClr val="141414"/>
                </a:solidFill>
                <a:effectLst/>
                <a:latin typeface="Helvetica" pitchFamily="2" charset="0"/>
              </a:rPr>
              <a:t>parameter.</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7</a:t>
            </a:fld>
            <a:endParaRPr lang="en-US"/>
          </a:p>
        </p:txBody>
      </p:sp>
    </p:spTree>
    <p:extLst>
      <p:ext uri="{BB962C8B-B14F-4D97-AF65-F5344CB8AC3E}">
        <p14:creationId xmlns:p14="http://schemas.microsoft.com/office/powerpoint/2010/main" val="546355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HGO is a </a:t>
            </a:r>
            <a:r>
              <a:rPr lang="en-US" dirty="0" err="1">
                <a:solidFill>
                  <a:srgbClr val="141414"/>
                </a:solidFill>
                <a:effectLst/>
                <a:latin typeface="Helvetica" pitchFamily="2" charset="0"/>
              </a:rPr>
              <a:t>hyperelastic</a:t>
            </a:r>
            <a:r>
              <a:rPr lang="en-US" dirty="0">
                <a:solidFill>
                  <a:srgbClr val="141414"/>
                </a:solidFill>
                <a:effectLst/>
                <a:latin typeface="Helvetica" pitchFamily="2" charset="0"/>
              </a:rPr>
              <a:t> model. The big idea behind </a:t>
            </a:r>
            <a:r>
              <a:rPr lang="en-US" dirty="0" err="1">
                <a:solidFill>
                  <a:srgbClr val="141414"/>
                </a:solidFill>
                <a:effectLst/>
                <a:latin typeface="Helvetica" pitchFamily="2" charset="0"/>
              </a:rPr>
              <a:t>hyperelasticity</a:t>
            </a:r>
            <a:r>
              <a:rPr lang="en-US" dirty="0">
                <a:solidFill>
                  <a:srgbClr val="141414"/>
                </a:solidFill>
                <a:effectLst/>
                <a:latin typeface="Helvetica" pitchFamily="2" charset="0"/>
              </a:rPr>
              <a:t> is that the entire mechanical response of the</a:t>
            </a:r>
          </a:p>
          <a:p>
            <a:r>
              <a:rPr lang="en-US" dirty="0">
                <a:solidFill>
                  <a:srgbClr val="141414"/>
                </a:solidFill>
                <a:effectLst/>
                <a:latin typeface="Helvetica" pitchFamily="2" charset="0"/>
              </a:rPr>
              <a:t>material is captured by a single scalar function — the strain energy function </a:t>
            </a:r>
            <a:r>
              <a:rPr lang="el-GR" dirty="0">
                <a:solidFill>
                  <a:srgbClr val="141414"/>
                </a:solidFill>
                <a:effectLst/>
                <a:latin typeface="Helvetica" pitchFamily="2" charset="0"/>
              </a:rPr>
              <a:t>Ψ — </a:t>
            </a:r>
            <a:r>
              <a:rPr lang="en-US" dirty="0">
                <a:solidFill>
                  <a:srgbClr val="141414"/>
                </a:solidFill>
                <a:effectLst/>
                <a:latin typeface="Helvetica" pitchFamily="2" charset="0"/>
              </a:rPr>
              <a:t>that depends on the</a:t>
            </a:r>
          </a:p>
          <a:p>
            <a:r>
              <a:rPr lang="en-US" dirty="0">
                <a:solidFill>
                  <a:srgbClr val="141414"/>
                </a:solidFill>
                <a:effectLst/>
                <a:latin typeface="Helvetica" pitchFamily="2" charset="0"/>
              </a:rPr>
              <a:t>deformation gradient F. Stress is just the derivative of </a:t>
            </a:r>
            <a:r>
              <a:rPr lang="el-GR" dirty="0">
                <a:solidFill>
                  <a:srgbClr val="141414"/>
                </a:solidFill>
                <a:effectLst/>
                <a:latin typeface="Helvetica" pitchFamily="2" charset="0"/>
              </a:rPr>
              <a:t>Ψ. </a:t>
            </a:r>
            <a:r>
              <a:rPr lang="en-US" dirty="0">
                <a:solidFill>
                  <a:srgbClr val="141414"/>
                </a:solidFill>
                <a:effectLst/>
                <a:latin typeface="Helvetica" pitchFamily="2" charset="0"/>
              </a:rPr>
              <a:t>Crucially, this means there’s no path dependence and</a:t>
            </a:r>
          </a:p>
          <a:p>
            <a:r>
              <a:rPr lang="en-US" dirty="0">
                <a:solidFill>
                  <a:srgbClr val="141414"/>
                </a:solidFill>
                <a:effectLst/>
                <a:latin typeface="Helvetica" pitchFamily="2" charset="0"/>
              </a:rPr>
              <a:t>no memory: the stress at any deformation depends only on the current state, not on how you got there.</a:t>
            </a:r>
          </a:p>
          <a:p>
            <a:endParaRPr lang="en-US" dirty="0">
              <a:solidFill>
                <a:srgbClr val="141414"/>
              </a:solidFill>
              <a:effectLst/>
              <a:latin typeface="Helvetica" pitchFamily="2" charset="0"/>
            </a:endParaRPr>
          </a:p>
          <a:p>
            <a:r>
              <a:rPr lang="en-US" dirty="0">
                <a:solidFill>
                  <a:srgbClr val="141414"/>
                </a:solidFill>
                <a:effectLst/>
                <a:latin typeface="Helvetica" pitchFamily="2" charset="0"/>
              </a:rPr>
              <a:t>The Cauchy stress is computed by differentiating </a:t>
            </a:r>
            <a:r>
              <a:rPr lang="el-GR" dirty="0">
                <a:solidFill>
                  <a:srgbClr val="141414"/>
                </a:solidFill>
                <a:effectLst/>
                <a:latin typeface="Helvetica" pitchFamily="2" charset="0"/>
              </a:rPr>
              <a:t>Ψ </a:t>
            </a:r>
            <a:r>
              <a:rPr lang="en-US" dirty="0">
                <a:solidFill>
                  <a:srgbClr val="141414"/>
                </a:solidFill>
                <a:effectLst/>
                <a:latin typeface="Helvetica" pitchFamily="2" charset="0"/>
              </a:rPr>
              <a:t>with respect to F and pre-multiplying by F. For our soft tissue</a:t>
            </a:r>
          </a:p>
          <a:p>
            <a:r>
              <a:rPr lang="en-US" dirty="0">
                <a:solidFill>
                  <a:srgbClr val="141414"/>
                </a:solidFill>
                <a:effectLst/>
                <a:latin typeface="Helvetica" pitchFamily="2" charset="0"/>
              </a:rPr>
              <a:t>we’re assuming incompressibility and plane stress, so the Jacobian J equals 1 and </a:t>
            </a:r>
            <a:r>
              <a:rPr lang="el-GR" dirty="0">
                <a:solidFill>
                  <a:srgbClr val="141414"/>
                </a:solidFill>
                <a:effectLst/>
                <a:latin typeface="Helvetica" pitchFamily="2" charset="0"/>
              </a:rPr>
              <a:t>σ₃₃ </a:t>
            </a:r>
            <a:r>
              <a:rPr lang="en-US" dirty="0">
                <a:solidFill>
                  <a:srgbClr val="141414"/>
                </a:solidFill>
                <a:effectLst/>
                <a:latin typeface="Helvetica" pitchFamily="2" charset="0"/>
              </a:rPr>
              <a:t>is zero.</a:t>
            </a:r>
          </a:p>
          <a:p>
            <a:r>
              <a:rPr lang="en-US" dirty="0">
                <a:solidFill>
                  <a:srgbClr val="141414"/>
                </a:solidFill>
                <a:effectLst/>
                <a:latin typeface="Helvetica" pitchFamily="2" charset="0"/>
              </a:rPr>
              <a:t>Choosing </a:t>
            </a:r>
            <a:r>
              <a:rPr lang="el-GR" dirty="0">
                <a:solidFill>
                  <a:srgbClr val="141414"/>
                </a:solidFill>
                <a:effectLst/>
                <a:latin typeface="Helvetica" pitchFamily="2" charset="0"/>
              </a:rPr>
              <a:t>Ψ </a:t>
            </a:r>
            <a:r>
              <a:rPr lang="en-US" dirty="0">
                <a:solidFill>
                  <a:srgbClr val="141414"/>
                </a:solidFill>
                <a:effectLst/>
                <a:latin typeface="Helvetica" pitchFamily="2" charset="0"/>
              </a:rPr>
              <a:t>is what defines a constitutive model. Different soft tissues motivate different forms of </a:t>
            </a:r>
            <a:r>
              <a:rPr lang="el-GR" dirty="0">
                <a:solidFill>
                  <a:srgbClr val="141414"/>
                </a:solidFill>
                <a:effectLst/>
                <a:latin typeface="Helvetica" pitchFamily="2" charset="0"/>
              </a:rPr>
              <a:t>Ψ — </a:t>
            </a:r>
            <a:r>
              <a:rPr lang="en-US" dirty="0">
                <a:solidFill>
                  <a:srgbClr val="141414"/>
                </a:solidFill>
                <a:effectLst/>
                <a:latin typeface="Helvetica" pitchFamily="2" charset="0"/>
              </a:rPr>
              <a:t>and HGO</a:t>
            </a:r>
          </a:p>
          <a:p>
            <a:r>
              <a:rPr lang="en-US" dirty="0">
                <a:solidFill>
                  <a:srgbClr val="141414"/>
                </a:solidFill>
                <a:effectLst/>
                <a:latin typeface="Helvetica" pitchFamily="2" charset="0"/>
              </a:rPr>
              <a:t>chooses a form that captures both the ground matrix and the embedded fibers in cardiovascular tissue.</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9</a:t>
            </a:fld>
            <a:endParaRPr lang="en-US"/>
          </a:p>
        </p:txBody>
      </p:sp>
    </p:spTree>
    <p:extLst>
      <p:ext uri="{BB962C8B-B14F-4D97-AF65-F5344CB8AC3E}">
        <p14:creationId xmlns:p14="http://schemas.microsoft.com/office/powerpoint/2010/main" val="11100422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Soft tissues like the arterial wall are composite materials. There is an isotropic ground matrix made of</a:t>
            </a:r>
          </a:p>
          <a:p>
            <a:r>
              <a:rPr lang="en-US" dirty="0">
                <a:solidFill>
                  <a:srgbClr val="141414"/>
                </a:solidFill>
                <a:effectLst/>
                <a:latin typeface="Helvetica" pitchFamily="2" charset="0"/>
              </a:rPr>
              <a:t>proteoglycans and elastin — that’s the dotted region on the left — which carries most of the low-strain load. It</a:t>
            </a:r>
          </a:p>
          <a:p>
            <a:r>
              <a:rPr lang="en-US" dirty="0">
                <a:solidFill>
                  <a:srgbClr val="141414"/>
                </a:solidFill>
                <a:effectLst/>
                <a:latin typeface="Helvetica" pitchFamily="2" charset="0"/>
              </a:rPr>
              <a:t>behaves the same in every direction.</a:t>
            </a:r>
          </a:p>
          <a:p>
            <a:endParaRPr lang="en-US" dirty="0">
              <a:solidFill>
                <a:srgbClr val="141414"/>
              </a:solidFill>
              <a:effectLst/>
              <a:latin typeface="Helvetica" pitchFamily="2" charset="0"/>
            </a:endParaRPr>
          </a:p>
          <a:p>
            <a:r>
              <a:rPr lang="en-US" dirty="0">
                <a:solidFill>
                  <a:srgbClr val="141414"/>
                </a:solidFill>
                <a:effectLst/>
                <a:latin typeface="Helvetica" pitchFamily="2" charset="0"/>
              </a:rPr>
              <a:t>Embedded in that matrix are collagen fibers, oriented at some angle </a:t>
            </a:r>
            <a:r>
              <a:rPr lang="el-GR" dirty="0">
                <a:solidFill>
                  <a:srgbClr val="141414"/>
                </a:solidFill>
                <a:effectLst/>
                <a:latin typeface="Helvetica" pitchFamily="2" charset="0"/>
              </a:rPr>
              <a:t>α </a:t>
            </a:r>
            <a:r>
              <a:rPr lang="en-US" dirty="0">
                <a:solidFill>
                  <a:srgbClr val="141414"/>
                </a:solidFill>
                <a:effectLst/>
                <a:latin typeface="Helvetica" pitchFamily="2" charset="0"/>
              </a:rPr>
              <a:t>from the loading direction. As the tissue</a:t>
            </a:r>
          </a:p>
          <a:p>
            <a:r>
              <a:rPr lang="en-US" dirty="0">
                <a:solidFill>
                  <a:srgbClr val="141414"/>
                </a:solidFill>
                <a:effectLst/>
                <a:latin typeface="Helvetica" pitchFamily="2" charset="0"/>
              </a:rPr>
              <a:t>stretches, these fibers progressively engage, and they engage exponentially. They are anisotropic: stretching</a:t>
            </a:r>
          </a:p>
          <a:p>
            <a:r>
              <a:rPr lang="en-US" dirty="0">
                <a:solidFill>
                  <a:srgbClr val="141414"/>
                </a:solidFill>
                <a:effectLst/>
                <a:latin typeface="Helvetica" pitchFamily="2" charset="0"/>
              </a:rPr>
              <a:t>parallel to them is very different from stretching perpendicular.</a:t>
            </a:r>
          </a:p>
          <a:p>
            <a:r>
              <a:rPr lang="en-US" dirty="0">
                <a:solidFill>
                  <a:srgbClr val="141414"/>
                </a:solidFill>
                <a:effectLst/>
                <a:latin typeface="Helvetica" pitchFamily="2" charset="0"/>
              </a:rPr>
              <a:t>HGO captures both contributions in its strain energy. The matrix and the fibers each get their own term.</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10</a:t>
            </a:fld>
            <a:endParaRPr lang="en-US"/>
          </a:p>
        </p:txBody>
      </p:sp>
    </p:spTree>
    <p:extLst>
      <p:ext uri="{BB962C8B-B14F-4D97-AF65-F5344CB8AC3E}">
        <p14:creationId xmlns:p14="http://schemas.microsoft.com/office/powerpoint/2010/main" val="3506490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Here is the actual HGO strain energy function. Two terms. The first — c over 2 times I₁ minus 3 — is the matrix</a:t>
            </a:r>
          </a:p>
          <a:p>
            <a:r>
              <a:rPr lang="en-US" dirty="0">
                <a:solidFill>
                  <a:srgbClr val="141414"/>
                </a:solidFill>
                <a:effectLst/>
                <a:latin typeface="Helvetica" pitchFamily="2" charset="0"/>
              </a:rPr>
              <a:t>term, also called the neo-Hookean term. It’s controlled by a single parameter c, which is the matrix stiffness. I₁ is</a:t>
            </a:r>
          </a:p>
          <a:p>
            <a:r>
              <a:rPr lang="en-US" dirty="0">
                <a:solidFill>
                  <a:srgbClr val="141414"/>
                </a:solidFill>
                <a:effectLst/>
                <a:latin typeface="Helvetica" pitchFamily="2" charset="0"/>
              </a:rPr>
              <a:t>the first invariant of the deformation, measuring overall stretch.</a:t>
            </a:r>
          </a:p>
          <a:p>
            <a:r>
              <a:rPr lang="en-US" dirty="0">
                <a:solidFill>
                  <a:srgbClr val="141414"/>
                </a:solidFill>
                <a:effectLst/>
                <a:latin typeface="Helvetica" pitchFamily="2" charset="0"/>
              </a:rPr>
              <a:t>The second term is the fiber term. It’s exponential in the deformation, governed by two parameters: k₁ controls</a:t>
            </a:r>
          </a:p>
          <a:p>
            <a:r>
              <a:rPr lang="en-US" dirty="0">
                <a:solidFill>
                  <a:srgbClr val="141414"/>
                </a:solidFill>
                <a:effectLst/>
                <a:latin typeface="Helvetica" pitchFamily="2" charset="0"/>
              </a:rPr>
              <a:t>how stiff the fibers are, and k₂ controls how nonlinear their response is. The fiber term depends on I₄ — that’s a</a:t>
            </a:r>
          </a:p>
          <a:p>
            <a:r>
              <a:rPr lang="en-US" dirty="0">
                <a:solidFill>
                  <a:srgbClr val="141414"/>
                </a:solidFill>
                <a:effectLst/>
                <a:latin typeface="Helvetica" pitchFamily="2" charset="0"/>
              </a:rPr>
              <a:t>different invariant that measures stretch specifically along the fiber direction.</a:t>
            </a:r>
          </a:p>
          <a:p>
            <a:endParaRPr lang="en-US" dirty="0"/>
          </a:p>
          <a:p>
            <a:r>
              <a:rPr lang="en-US" dirty="0">
                <a:solidFill>
                  <a:srgbClr val="141414"/>
                </a:solidFill>
                <a:effectLst/>
                <a:latin typeface="Helvetica" pitchFamily="2" charset="0"/>
              </a:rPr>
              <a:t>Look closely at I₄: it’s </a:t>
            </a:r>
            <a:r>
              <a:rPr lang="el-GR" dirty="0">
                <a:solidFill>
                  <a:srgbClr val="141414"/>
                </a:solidFill>
                <a:effectLst/>
                <a:latin typeface="Helvetica" pitchFamily="2" charset="0"/>
              </a:rPr>
              <a:t>λ₁² </a:t>
            </a:r>
            <a:r>
              <a:rPr lang="en-US" dirty="0">
                <a:solidFill>
                  <a:srgbClr val="141414"/>
                </a:solidFill>
                <a:effectLst/>
                <a:latin typeface="Helvetica" pitchFamily="2" charset="0"/>
              </a:rPr>
              <a:t>cos² </a:t>
            </a:r>
            <a:r>
              <a:rPr lang="el-GR" dirty="0">
                <a:solidFill>
                  <a:srgbClr val="141414"/>
                </a:solidFill>
                <a:effectLst/>
                <a:latin typeface="Helvetica" pitchFamily="2" charset="0"/>
              </a:rPr>
              <a:t>α </a:t>
            </a:r>
            <a:r>
              <a:rPr lang="en-US" dirty="0">
                <a:solidFill>
                  <a:srgbClr val="141414"/>
                </a:solidFill>
                <a:effectLst/>
                <a:latin typeface="Helvetica" pitchFamily="2" charset="0"/>
              </a:rPr>
              <a:t>plus </a:t>
            </a:r>
            <a:r>
              <a:rPr lang="el-GR" dirty="0">
                <a:solidFill>
                  <a:srgbClr val="141414"/>
                </a:solidFill>
                <a:effectLst/>
                <a:latin typeface="Helvetica" pitchFamily="2" charset="0"/>
              </a:rPr>
              <a:t>λ₂² </a:t>
            </a:r>
            <a:r>
              <a:rPr lang="en-US" dirty="0">
                <a:solidFill>
                  <a:srgbClr val="141414"/>
                </a:solidFill>
                <a:effectLst/>
                <a:latin typeface="Helvetica" pitchFamily="2" charset="0"/>
              </a:rPr>
              <a:t>sin² </a:t>
            </a:r>
            <a:r>
              <a:rPr lang="el-GR" dirty="0">
                <a:solidFill>
                  <a:srgbClr val="141414"/>
                </a:solidFill>
                <a:effectLst/>
                <a:latin typeface="Helvetica" pitchFamily="2" charset="0"/>
              </a:rPr>
              <a:t>α. </a:t>
            </a:r>
            <a:r>
              <a:rPr lang="en-US" dirty="0">
                <a:solidFill>
                  <a:srgbClr val="141414"/>
                </a:solidFill>
                <a:effectLst/>
                <a:latin typeface="Helvetica" pitchFamily="2" charset="0"/>
              </a:rPr>
              <a:t>So I₄ depends on the fiber angle </a:t>
            </a:r>
            <a:r>
              <a:rPr lang="el-GR" dirty="0">
                <a:solidFill>
                  <a:srgbClr val="141414"/>
                </a:solidFill>
                <a:effectLst/>
                <a:latin typeface="Helvetica" pitchFamily="2" charset="0"/>
              </a:rPr>
              <a:t>α, </a:t>
            </a:r>
            <a:r>
              <a:rPr lang="en-US" dirty="0">
                <a:solidFill>
                  <a:srgbClr val="141414"/>
                </a:solidFill>
                <a:effectLst/>
                <a:latin typeface="Helvetica" pitchFamily="2" charset="0"/>
              </a:rPr>
              <a:t>but only through the difference</a:t>
            </a:r>
          </a:p>
          <a:p>
            <a:r>
              <a:rPr lang="en-US" dirty="0">
                <a:solidFill>
                  <a:srgbClr val="141414"/>
                </a:solidFill>
                <a:effectLst/>
                <a:latin typeface="Helvetica" pitchFamily="2" charset="0"/>
              </a:rPr>
              <a:t>between </a:t>
            </a:r>
            <a:r>
              <a:rPr lang="el-GR" dirty="0">
                <a:solidFill>
                  <a:srgbClr val="141414"/>
                </a:solidFill>
                <a:effectLst/>
                <a:latin typeface="Helvetica" pitchFamily="2" charset="0"/>
              </a:rPr>
              <a:t>λ₁² </a:t>
            </a:r>
            <a:r>
              <a:rPr lang="en-US" dirty="0">
                <a:solidFill>
                  <a:srgbClr val="141414"/>
                </a:solidFill>
                <a:effectLst/>
                <a:latin typeface="Helvetica" pitchFamily="2" charset="0"/>
              </a:rPr>
              <a:t>and </a:t>
            </a:r>
            <a:r>
              <a:rPr lang="el-GR" dirty="0">
                <a:solidFill>
                  <a:srgbClr val="141414"/>
                </a:solidFill>
                <a:effectLst/>
                <a:latin typeface="Helvetica" pitchFamily="2" charset="0"/>
              </a:rPr>
              <a:t>λ₂². </a:t>
            </a:r>
            <a:r>
              <a:rPr lang="en-US" dirty="0">
                <a:solidFill>
                  <a:srgbClr val="141414"/>
                </a:solidFill>
                <a:effectLst/>
                <a:latin typeface="Helvetica" pitchFamily="2" charset="0"/>
              </a:rPr>
              <a:t>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loading, where </a:t>
            </a:r>
            <a:r>
              <a:rPr lang="el-GR" dirty="0">
                <a:solidFill>
                  <a:srgbClr val="141414"/>
                </a:solidFill>
                <a:effectLst/>
                <a:latin typeface="Helvetica" pitchFamily="2" charset="0"/>
              </a:rPr>
              <a:t>λ₁ </a:t>
            </a:r>
            <a:r>
              <a:rPr lang="en-US" dirty="0">
                <a:solidFill>
                  <a:srgbClr val="141414"/>
                </a:solidFill>
                <a:effectLst/>
                <a:latin typeface="Helvetica" pitchFamily="2" charset="0"/>
              </a:rPr>
              <a:t>equals </a:t>
            </a:r>
            <a:r>
              <a:rPr lang="el-GR" dirty="0">
                <a:solidFill>
                  <a:srgbClr val="141414"/>
                </a:solidFill>
                <a:effectLst/>
                <a:latin typeface="Helvetica" pitchFamily="2" charset="0"/>
              </a:rPr>
              <a:t>λ₂, </a:t>
            </a:r>
            <a:r>
              <a:rPr lang="en-US" dirty="0">
                <a:solidFill>
                  <a:srgbClr val="141414"/>
                </a:solidFill>
                <a:effectLst/>
                <a:latin typeface="Helvetica" pitchFamily="2" charset="0"/>
              </a:rPr>
              <a:t>those terms collapse and I₄ becomes</a:t>
            </a:r>
          </a:p>
          <a:p>
            <a:r>
              <a:rPr lang="en-US" dirty="0">
                <a:solidFill>
                  <a:srgbClr val="141414"/>
                </a:solidFill>
                <a:effectLst/>
                <a:latin typeface="Helvetica" pitchFamily="2" charset="0"/>
              </a:rPr>
              <a:t>independent of </a:t>
            </a:r>
            <a:r>
              <a:rPr lang="el-GR" dirty="0">
                <a:solidFill>
                  <a:srgbClr val="141414"/>
                </a:solidFill>
                <a:effectLst/>
                <a:latin typeface="Helvetica" pitchFamily="2" charset="0"/>
              </a:rPr>
              <a:t>α. </a:t>
            </a:r>
            <a:r>
              <a:rPr lang="en-US" dirty="0">
                <a:solidFill>
                  <a:srgbClr val="141414"/>
                </a:solidFill>
                <a:effectLst/>
                <a:latin typeface="Helvetica" pitchFamily="2" charset="0"/>
              </a:rPr>
              <a:t>That single observation, written right here at the bottom of the slide, is what motivates the</a:t>
            </a:r>
          </a:p>
          <a:p>
            <a:r>
              <a:rPr lang="en-US" dirty="0">
                <a:solidFill>
                  <a:srgbClr val="141414"/>
                </a:solidFill>
                <a:effectLst/>
                <a:latin typeface="Helvetica" pitchFamily="2" charset="0"/>
              </a:rPr>
              <a:t>entire project.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loading is mathematically blind to the fiber angle. Off-biaxial and uniaxial loading,</a:t>
            </a:r>
          </a:p>
          <a:p>
            <a:r>
              <a:rPr lang="en-US" dirty="0">
                <a:solidFill>
                  <a:srgbClr val="141414"/>
                </a:solidFill>
                <a:effectLst/>
                <a:latin typeface="Helvetica" pitchFamily="2" charset="0"/>
              </a:rPr>
              <a:t>where </a:t>
            </a:r>
            <a:r>
              <a:rPr lang="el-GR" dirty="0">
                <a:solidFill>
                  <a:srgbClr val="141414"/>
                </a:solidFill>
                <a:effectLst/>
                <a:latin typeface="Helvetica" pitchFamily="2" charset="0"/>
              </a:rPr>
              <a:t>λ₁ </a:t>
            </a:r>
            <a:r>
              <a:rPr lang="en-US" dirty="0">
                <a:solidFill>
                  <a:srgbClr val="141414"/>
                </a:solidFill>
                <a:effectLst/>
                <a:latin typeface="Helvetica" pitchFamily="2" charset="0"/>
              </a:rPr>
              <a:t>and </a:t>
            </a:r>
            <a:r>
              <a:rPr lang="el-GR" dirty="0">
                <a:solidFill>
                  <a:srgbClr val="141414"/>
                </a:solidFill>
                <a:effectLst/>
                <a:latin typeface="Helvetica" pitchFamily="2" charset="0"/>
              </a:rPr>
              <a:t>λ₂ </a:t>
            </a:r>
            <a:r>
              <a:rPr lang="en-US" dirty="0">
                <a:solidFill>
                  <a:srgbClr val="141414"/>
                </a:solidFill>
                <a:effectLst/>
                <a:latin typeface="Helvetica" pitchFamily="2" charset="0"/>
              </a:rPr>
              <a:t>differ, can see it.</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11</a:t>
            </a:fld>
            <a:endParaRPr lang="en-US"/>
          </a:p>
        </p:txBody>
      </p:sp>
    </p:spTree>
    <p:extLst>
      <p:ext uri="{BB962C8B-B14F-4D97-AF65-F5344CB8AC3E}">
        <p14:creationId xmlns:p14="http://schemas.microsoft.com/office/powerpoint/2010/main" val="2018265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c is the matrix stiffness. It governs the low-strain regime, before the fibers engage. For arterial tissue, this</a:t>
            </a:r>
          </a:p>
          <a:p>
            <a:r>
              <a:rPr lang="en-US" dirty="0">
                <a:solidFill>
                  <a:srgbClr val="141414"/>
                </a:solidFill>
                <a:effectLst/>
                <a:latin typeface="Helvetica" pitchFamily="2" charset="0"/>
              </a:rPr>
              <a:t>typically ranges from about 5 to 50 kilopascals.</a:t>
            </a:r>
          </a:p>
          <a:p>
            <a:r>
              <a:rPr lang="en-US" dirty="0">
                <a:solidFill>
                  <a:srgbClr val="141414"/>
                </a:solidFill>
                <a:effectLst/>
                <a:latin typeface="Helvetica" pitchFamily="2" charset="0"/>
              </a:rPr>
              <a:t>k₁ is the fiber stiffness — the linear coefficient in the exponential term. Around 0.5 to 20 kilopascals.</a:t>
            </a:r>
          </a:p>
          <a:p>
            <a:r>
              <a:rPr lang="en-US" dirty="0">
                <a:solidFill>
                  <a:srgbClr val="141414"/>
                </a:solidFill>
                <a:effectLst/>
                <a:latin typeface="Helvetica" pitchFamily="2" charset="0"/>
              </a:rPr>
              <a:t>k₂ is the fiber nonlinearity — the exponential rate. Dimensionless, ranging from 0.1 to 5.</a:t>
            </a:r>
          </a:p>
          <a:p>
            <a:r>
              <a:rPr lang="en-US" dirty="0">
                <a:solidFill>
                  <a:srgbClr val="141414"/>
                </a:solidFill>
                <a:effectLst/>
                <a:latin typeface="Helvetica" pitchFamily="2" charset="0"/>
              </a:rPr>
              <a:t>And </a:t>
            </a:r>
            <a:r>
              <a:rPr lang="el-GR" dirty="0">
                <a:solidFill>
                  <a:srgbClr val="141414"/>
                </a:solidFill>
                <a:effectLst/>
                <a:latin typeface="Helvetica" pitchFamily="2" charset="0"/>
              </a:rPr>
              <a:t>α </a:t>
            </a:r>
            <a:r>
              <a:rPr lang="en-US" dirty="0">
                <a:solidFill>
                  <a:srgbClr val="141414"/>
                </a:solidFill>
                <a:effectLst/>
                <a:latin typeface="Helvetica" pitchFamily="2" charset="0"/>
              </a:rPr>
              <a:t>is the fiber orientation angle, between 30 and 60 degrees for human aortic tissue.</a:t>
            </a:r>
          </a:p>
          <a:p>
            <a:r>
              <a:rPr lang="en-US" dirty="0">
                <a:solidFill>
                  <a:srgbClr val="141414"/>
                </a:solidFill>
                <a:effectLst/>
                <a:latin typeface="Helvetica" pitchFamily="2" charset="0"/>
              </a:rPr>
              <a:t>These ranges come from the published aortic-tissue literature. In my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analysis, I sample uniformly across</a:t>
            </a:r>
          </a:p>
          <a:p>
            <a:r>
              <a:rPr lang="en-US" dirty="0">
                <a:solidFill>
                  <a:srgbClr val="141414"/>
                </a:solidFill>
                <a:effectLst/>
                <a:latin typeface="Helvetica" pitchFamily="2" charset="0"/>
              </a:rPr>
              <a:t>these ranges — that’s the support of the global sensitivity analysis.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12</a:t>
            </a:fld>
            <a:endParaRPr lang="en-US"/>
          </a:p>
        </p:txBody>
      </p:sp>
    </p:spTree>
    <p:extLst>
      <p:ext uri="{BB962C8B-B14F-4D97-AF65-F5344CB8AC3E}">
        <p14:creationId xmlns:p14="http://schemas.microsoft.com/office/powerpoint/2010/main" val="7319104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This is what HGO predicts in practice — </a:t>
            </a:r>
            <a:r>
              <a:rPr lang="el-GR" dirty="0">
                <a:solidFill>
                  <a:srgbClr val="141414"/>
                </a:solidFill>
                <a:effectLst/>
                <a:latin typeface="Helvetica" pitchFamily="2" charset="0"/>
              </a:rPr>
              <a:t>σ₁₁ </a:t>
            </a:r>
            <a:r>
              <a:rPr lang="en-US" dirty="0">
                <a:solidFill>
                  <a:srgbClr val="141414"/>
                </a:solidFill>
                <a:effectLst/>
                <a:latin typeface="Helvetica" pitchFamily="2" charset="0"/>
              </a:rPr>
              <a:t>versus </a:t>
            </a:r>
            <a:r>
              <a:rPr lang="el-GR" dirty="0">
                <a:solidFill>
                  <a:srgbClr val="141414"/>
                </a:solidFill>
                <a:effectLst/>
                <a:latin typeface="Helvetica" pitchFamily="2" charset="0"/>
              </a:rPr>
              <a:t>λ₁ </a:t>
            </a:r>
            <a:r>
              <a:rPr lang="en-US" dirty="0">
                <a:solidFill>
                  <a:srgbClr val="141414"/>
                </a:solidFill>
                <a:effectLst/>
                <a:latin typeface="Helvetica" pitchFamily="2" charset="0"/>
              </a:rPr>
              <a:t>for the four loading protocols, with three different fiber</a:t>
            </a:r>
          </a:p>
          <a:p>
            <a:r>
              <a:rPr lang="en-US" dirty="0">
                <a:solidFill>
                  <a:srgbClr val="141414"/>
                </a:solidFill>
                <a:effectLst/>
                <a:latin typeface="Helvetica" pitchFamily="2" charset="0"/>
              </a:rPr>
              <a:t>angles superposed in each. The parameters c, k₁, and k₂ are fixed; only </a:t>
            </a:r>
            <a:r>
              <a:rPr lang="el-GR" dirty="0">
                <a:solidFill>
                  <a:srgbClr val="141414"/>
                </a:solidFill>
                <a:effectLst/>
                <a:latin typeface="Helvetica" pitchFamily="2" charset="0"/>
              </a:rPr>
              <a:t>α </a:t>
            </a:r>
            <a:r>
              <a:rPr lang="en-US" dirty="0">
                <a:solidFill>
                  <a:srgbClr val="141414"/>
                </a:solidFill>
                <a:effectLst/>
                <a:latin typeface="Helvetica" pitchFamily="2" charset="0"/>
              </a:rPr>
              <a:t>varies between the colored curves.</a:t>
            </a:r>
          </a:p>
          <a:p>
            <a:r>
              <a:rPr lang="en-US" dirty="0">
                <a:solidFill>
                  <a:srgbClr val="141414"/>
                </a:solidFill>
                <a:effectLst/>
                <a:latin typeface="Helvetica" pitchFamily="2" charset="0"/>
              </a:rPr>
              <a:t>Three things to read off this. First: at low stretch, around </a:t>
            </a:r>
            <a:r>
              <a:rPr lang="el-GR" dirty="0">
                <a:solidFill>
                  <a:srgbClr val="141414"/>
                </a:solidFill>
                <a:effectLst/>
                <a:latin typeface="Helvetica" pitchFamily="2" charset="0"/>
              </a:rPr>
              <a:t>λ </a:t>
            </a:r>
            <a:r>
              <a:rPr lang="en-US" dirty="0">
                <a:solidFill>
                  <a:srgbClr val="141414"/>
                </a:solidFill>
                <a:effectLst/>
                <a:latin typeface="Helvetica" pitchFamily="2" charset="0"/>
              </a:rPr>
              <a:t>between 1.0 and 1.1, the response is nearly linear —</a:t>
            </a:r>
          </a:p>
          <a:p>
            <a:r>
              <a:rPr lang="en-US" dirty="0">
                <a:solidFill>
                  <a:srgbClr val="141414"/>
                </a:solidFill>
                <a:effectLst/>
                <a:latin typeface="Helvetica" pitchFamily="2" charset="0"/>
              </a:rPr>
              <a:t>that’s the matrix dominating. Second: above </a:t>
            </a:r>
            <a:r>
              <a:rPr lang="el-GR" dirty="0">
                <a:solidFill>
                  <a:srgbClr val="141414"/>
                </a:solidFill>
                <a:effectLst/>
                <a:latin typeface="Helvetica" pitchFamily="2" charset="0"/>
              </a:rPr>
              <a:t>λ </a:t>
            </a:r>
            <a:r>
              <a:rPr lang="en-US" dirty="0">
                <a:solidFill>
                  <a:srgbClr val="141414"/>
                </a:solidFill>
                <a:effectLst/>
                <a:latin typeface="Helvetica" pitchFamily="2" charset="0"/>
              </a:rPr>
              <a:t>around 1.2, you see sharp upward curvature — fibers are</a:t>
            </a:r>
          </a:p>
          <a:p>
            <a:r>
              <a:rPr lang="en-US" dirty="0">
                <a:solidFill>
                  <a:srgbClr val="141414"/>
                </a:solidFill>
                <a:effectLst/>
                <a:latin typeface="Helvetica" pitchFamily="2" charset="0"/>
              </a:rPr>
              <a:t>engaging exponentially. That’s the matrix-to-fiber transition.</a:t>
            </a:r>
          </a:p>
          <a:p>
            <a:endParaRPr lang="en-US" dirty="0">
              <a:solidFill>
                <a:srgbClr val="141414"/>
              </a:solidFill>
              <a:effectLst/>
              <a:latin typeface="Helvetica" pitchFamily="2" charset="0"/>
            </a:endParaRPr>
          </a:p>
          <a:p>
            <a:r>
              <a:rPr lang="en-US" dirty="0">
                <a:solidFill>
                  <a:srgbClr val="141414"/>
                </a:solidFill>
                <a:effectLst/>
                <a:latin typeface="Helvetica" pitchFamily="2" charset="0"/>
              </a:rPr>
              <a:t>Third — and this is the punchline of this slide — look at the spread between the three </a:t>
            </a:r>
            <a:r>
              <a:rPr lang="el-GR" dirty="0">
                <a:solidFill>
                  <a:srgbClr val="141414"/>
                </a:solidFill>
                <a:effectLst/>
                <a:latin typeface="Helvetica" pitchFamily="2" charset="0"/>
              </a:rPr>
              <a:t>α </a:t>
            </a:r>
            <a:r>
              <a:rPr lang="en-US" dirty="0">
                <a:solidFill>
                  <a:srgbClr val="141414"/>
                </a:solidFill>
                <a:effectLst/>
                <a:latin typeface="Helvetica" pitchFamily="2" charset="0"/>
              </a:rPr>
              <a:t>curves as you move</a:t>
            </a:r>
          </a:p>
          <a:p>
            <a:r>
              <a:rPr lang="en-US" dirty="0">
                <a:solidFill>
                  <a:srgbClr val="141414"/>
                </a:solidFill>
                <a:effectLst/>
                <a:latin typeface="Helvetica" pitchFamily="2" charset="0"/>
              </a:rPr>
              <a:t>from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on the left to uniaxial on the right. In the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panel, the curves nearly overlap; </a:t>
            </a:r>
            <a:r>
              <a:rPr lang="el-GR" dirty="0">
                <a:solidFill>
                  <a:srgbClr val="141414"/>
                </a:solidFill>
                <a:effectLst/>
                <a:latin typeface="Helvetica" pitchFamily="2" charset="0"/>
              </a:rPr>
              <a:t>α </a:t>
            </a:r>
            <a:r>
              <a:rPr lang="en-US" dirty="0">
                <a:solidFill>
                  <a:srgbClr val="141414"/>
                </a:solidFill>
                <a:effectLst/>
                <a:latin typeface="Helvetica" pitchFamily="2" charset="0"/>
              </a:rPr>
              <a:t>barely</a:t>
            </a:r>
          </a:p>
          <a:p>
            <a:r>
              <a:rPr lang="en-US" dirty="0">
                <a:solidFill>
                  <a:srgbClr val="141414"/>
                </a:solidFill>
                <a:effectLst/>
                <a:latin typeface="Helvetica" pitchFamily="2" charset="0"/>
              </a:rPr>
              <a:t>moves the response. In the uniaxial panel, the curves fan out clearly. Different protocols expose </a:t>
            </a:r>
            <a:r>
              <a:rPr lang="el-GR" dirty="0">
                <a:solidFill>
                  <a:srgbClr val="141414"/>
                </a:solidFill>
                <a:effectLst/>
                <a:latin typeface="Helvetica" pitchFamily="2" charset="0"/>
              </a:rPr>
              <a:t>α </a:t>
            </a:r>
            <a:r>
              <a:rPr lang="en-US" dirty="0">
                <a:solidFill>
                  <a:srgbClr val="141414"/>
                </a:solidFill>
                <a:effectLst/>
                <a:latin typeface="Helvetica" pitchFamily="2" charset="0"/>
              </a:rPr>
              <a:t>differently.</a:t>
            </a:r>
          </a:p>
          <a:p>
            <a:r>
              <a:rPr lang="en-US" dirty="0">
                <a:solidFill>
                  <a:srgbClr val="141414"/>
                </a:solidFill>
                <a:effectLst/>
                <a:latin typeface="Helvetica" pitchFamily="2" charset="0"/>
              </a:rPr>
              <a:t>This is the qualitative version of what sensitivity analysis will quantify rigorously in a few slides.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13</a:t>
            </a:fld>
            <a:endParaRPr lang="en-US"/>
          </a:p>
        </p:txBody>
      </p:sp>
    </p:spTree>
    <p:extLst>
      <p:ext uri="{BB962C8B-B14F-4D97-AF65-F5344CB8AC3E}">
        <p14:creationId xmlns:p14="http://schemas.microsoft.com/office/powerpoint/2010/main" val="3811626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41414"/>
                </a:solidFill>
                <a:effectLst/>
                <a:latin typeface="Helvetica" pitchFamily="2" charset="0"/>
              </a:rPr>
              <a:t>Now to the heart of the method: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sensitivity analysis.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14</a:t>
            </a:fld>
            <a:endParaRPr lang="en-US"/>
          </a:p>
        </p:txBody>
      </p:sp>
    </p:spTree>
    <p:extLst>
      <p:ext uri="{BB962C8B-B14F-4D97-AF65-F5344CB8AC3E}">
        <p14:creationId xmlns:p14="http://schemas.microsoft.com/office/powerpoint/2010/main" val="1094214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Here is the conceptual picture of why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is different from what fitting routines give you. On the left, local</a:t>
            </a:r>
          </a:p>
          <a:p>
            <a:r>
              <a:rPr lang="en-US" dirty="0">
                <a:solidFill>
                  <a:srgbClr val="141414"/>
                </a:solidFill>
                <a:effectLst/>
                <a:latin typeface="Helvetica" pitchFamily="2" charset="0"/>
              </a:rPr>
              <a:t>sensitivity: you have one fitted optimum point and you ask, “if I perturb the parameter slightly around this point,</a:t>
            </a:r>
          </a:p>
          <a:p>
            <a:r>
              <a:rPr lang="en-US" dirty="0">
                <a:solidFill>
                  <a:srgbClr val="141414"/>
                </a:solidFill>
                <a:effectLst/>
                <a:latin typeface="Helvetica" pitchFamily="2" charset="0"/>
              </a:rPr>
              <a:t>how much does the output change?” That’s essentially the partial derivative ∂Q/∂</a:t>
            </a:r>
            <a:r>
              <a:rPr lang="el-GR" dirty="0">
                <a:solidFill>
                  <a:srgbClr val="141414"/>
                </a:solidFill>
                <a:effectLst/>
                <a:latin typeface="Helvetica" pitchFamily="2" charset="0"/>
              </a:rPr>
              <a:t>θ </a:t>
            </a:r>
            <a:r>
              <a:rPr lang="en-US" dirty="0">
                <a:solidFill>
                  <a:srgbClr val="141414"/>
                </a:solidFill>
                <a:effectLst/>
                <a:latin typeface="Helvetica" pitchFamily="2" charset="0"/>
              </a:rPr>
              <a:t>at one location. It’s what</a:t>
            </a:r>
          </a:p>
          <a:p>
            <a:r>
              <a:rPr lang="en-US" dirty="0">
                <a:solidFill>
                  <a:srgbClr val="141414"/>
                </a:solidFill>
                <a:effectLst/>
                <a:latin typeface="Helvetica" pitchFamily="2" charset="0"/>
              </a:rPr>
              <a:t>every nonlinear least-squares fit produces. The problem: if the parameter space is curvy or multimodal, the local</a:t>
            </a:r>
          </a:p>
          <a:p>
            <a:r>
              <a:rPr lang="en-US" dirty="0">
                <a:solidFill>
                  <a:srgbClr val="141414"/>
                </a:solidFill>
                <a:effectLst/>
                <a:latin typeface="Helvetica" pitchFamily="2" charset="0"/>
              </a:rPr>
              <a:t>view misses everything that happens elsewhere.</a:t>
            </a:r>
          </a:p>
          <a:p>
            <a:endParaRPr lang="en-US" dirty="0">
              <a:solidFill>
                <a:srgbClr val="141414"/>
              </a:solidFill>
              <a:effectLst/>
              <a:latin typeface="Helvetica" pitchFamily="2" charset="0"/>
            </a:endParaRPr>
          </a:p>
          <a:p>
            <a:r>
              <a:rPr lang="en-US" dirty="0">
                <a:solidFill>
                  <a:srgbClr val="141414"/>
                </a:solidFill>
                <a:effectLst/>
                <a:latin typeface="Helvetica" pitchFamily="2" charset="0"/>
              </a:rPr>
              <a:t>On the right is global sensitivity. Instead of perturbing around one point, we sample Q across the entire</a:t>
            </a:r>
          </a:p>
          <a:p>
            <a:r>
              <a:rPr lang="en-US" dirty="0">
                <a:solidFill>
                  <a:srgbClr val="141414"/>
                </a:solidFill>
                <a:effectLst/>
                <a:latin typeface="Helvetica" pitchFamily="2" charset="0"/>
              </a:rPr>
              <a:t>physiologically plausible range of </a:t>
            </a:r>
            <a:r>
              <a:rPr lang="el-GR" dirty="0">
                <a:solidFill>
                  <a:srgbClr val="141414"/>
                </a:solidFill>
                <a:effectLst/>
                <a:latin typeface="Helvetica" pitchFamily="2" charset="0"/>
              </a:rPr>
              <a:t>θ.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indices are computed from this global sweep. The answer doesn’t</a:t>
            </a:r>
          </a:p>
          <a:p>
            <a:r>
              <a:rPr lang="en-US" dirty="0">
                <a:solidFill>
                  <a:srgbClr val="141414"/>
                </a:solidFill>
                <a:effectLst/>
                <a:latin typeface="Helvetica" pitchFamily="2" charset="0"/>
              </a:rPr>
              <a:t>depend on any one particular fit; it’s a property of the model itself across the parameter space.</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15</a:t>
            </a:fld>
            <a:endParaRPr lang="en-US"/>
          </a:p>
        </p:txBody>
      </p:sp>
    </p:spTree>
    <p:extLst>
      <p:ext uri="{BB962C8B-B14F-4D97-AF65-F5344CB8AC3E}">
        <p14:creationId xmlns:p14="http://schemas.microsoft.com/office/powerpoint/2010/main" val="7792252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solidFill>
                  <a:srgbClr val="141414"/>
                </a:solidFill>
                <a:effectLst/>
                <a:latin typeface="Helvetica" pitchFamily="2" charset="0"/>
              </a:rPr>
              <a:t>Sobol</a:t>
            </a:r>
            <a:r>
              <a:rPr lang="en-US" dirty="0">
                <a:solidFill>
                  <a:srgbClr val="141414"/>
                </a:solidFill>
                <a:effectLst/>
                <a:latin typeface="Helvetica" pitchFamily="2" charset="0"/>
              </a:rPr>
              <a:t> gives us two complementary indices for each parameter. The first is the first-order index Sᵢ. It’s defined as</a:t>
            </a:r>
          </a:p>
          <a:p>
            <a:r>
              <a:rPr lang="en-US" dirty="0">
                <a:solidFill>
                  <a:srgbClr val="141414"/>
                </a:solidFill>
                <a:effectLst/>
                <a:latin typeface="Helvetica" pitchFamily="2" charset="0"/>
              </a:rPr>
              <a:t>the variance contribution Vᵢ divided by the total output variance. In words, it’s the direct contribution of</a:t>
            </a:r>
          </a:p>
          <a:p>
            <a:r>
              <a:rPr lang="en-US" dirty="0">
                <a:solidFill>
                  <a:srgbClr val="141414"/>
                </a:solidFill>
                <a:effectLst/>
                <a:latin typeface="Helvetica" pitchFamily="2" charset="0"/>
              </a:rPr>
              <a:t>parameter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to the output variance, averaged over all other parameters. It answers the question: “If I could fix</a:t>
            </a:r>
          </a:p>
          <a:p>
            <a:r>
              <a:rPr lang="en-US" dirty="0">
                <a:solidFill>
                  <a:srgbClr val="141414"/>
                </a:solidFill>
                <a:effectLst/>
                <a:latin typeface="Helvetica" pitchFamily="2" charset="0"/>
              </a:rPr>
              <a:t>parameter </a:t>
            </a:r>
            <a:r>
              <a:rPr lang="el-GR" dirty="0">
                <a:solidFill>
                  <a:srgbClr val="141414"/>
                </a:solidFill>
                <a:effectLst/>
                <a:latin typeface="Helvetica" pitchFamily="2" charset="0"/>
              </a:rPr>
              <a:t>θ</a:t>
            </a:r>
            <a:r>
              <a:rPr lang="en-US" dirty="0">
                <a:solidFill>
                  <a:srgbClr val="141414"/>
                </a:solidFill>
                <a:effectLst/>
                <a:latin typeface="Helvetica" pitchFamily="2" charset="0"/>
              </a:rPr>
              <a:t>ᵢ to its true value, by how much would my uncertainty in the output shrink?” Crucially, Sᵢ excludes</a:t>
            </a:r>
          </a:p>
          <a:p>
            <a:r>
              <a:rPr lang="en-US" dirty="0">
                <a:solidFill>
                  <a:srgbClr val="141414"/>
                </a:solidFill>
                <a:effectLst/>
                <a:latin typeface="Helvetica" pitchFamily="2" charset="0"/>
              </a:rPr>
              <a:t>interactions with other parameters.</a:t>
            </a:r>
          </a:p>
          <a:p>
            <a:endParaRPr lang="en-US" b="1" dirty="0">
              <a:solidFill>
                <a:srgbClr val="474747"/>
              </a:solidFill>
              <a:effectLst/>
              <a:latin typeface="Carlito"/>
            </a:endParaRPr>
          </a:p>
          <a:p>
            <a:r>
              <a:rPr lang="en-US" dirty="0">
                <a:solidFill>
                  <a:srgbClr val="141414"/>
                </a:solidFill>
                <a:effectLst/>
                <a:latin typeface="Helvetica" pitchFamily="2" charset="0"/>
              </a:rPr>
              <a:t>The second is the total-effect index Sᵢ. This includes Vᵢ plus all the interaction terms involving parameter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 Vᵢ, </a:t>
            </a:r>
            <a:r>
              <a:rPr lang="en-US" dirty="0">
                <a:solidFill>
                  <a:srgbClr val="141414"/>
                </a:solidFill>
                <a:effectLst/>
                <a:latin typeface="DejaVu Sans" panose="020B0603030804020204" pitchFamily="34" charset="0"/>
              </a:rPr>
              <a:t>ₜ ⱼ</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Vᵢ , and so on. It answers a different question: “How much variance is left if I fix every parameter except </a:t>
            </a:r>
            <a:r>
              <a:rPr lang="el-GR" dirty="0">
                <a:solidFill>
                  <a:srgbClr val="141414"/>
                </a:solidFill>
                <a:effectLst/>
                <a:latin typeface="Helvetica" pitchFamily="2" charset="0"/>
              </a:rPr>
              <a:t>θ</a:t>
            </a:r>
            <a:r>
              <a:rPr lang="en-US" dirty="0">
                <a:solidFill>
                  <a:srgbClr val="141414"/>
                </a:solidFill>
                <a:effectLst/>
                <a:latin typeface="Helvetica" pitchFamily="2" charset="0"/>
              </a:rPr>
              <a:t>ᵢ?” By </a:t>
            </a:r>
            <a:r>
              <a:rPr lang="en-US" dirty="0">
                <a:solidFill>
                  <a:srgbClr val="141414"/>
                </a:solidFill>
                <a:effectLst/>
                <a:latin typeface="DejaVu Sans" panose="020B0603030804020204" pitchFamily="34" charset="0"/>
              </a:rPr>
              <a:t>ⱼₖ</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construction, Sᵢ is always greater than or equal to Sᵢ.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endParaRPr lang="en-US" b="1" dirty="0">
              <a:solidFill>
                <a:srgbClr val="474747"/>
              </a:solidFill>
              <a:effectLst/>
              <a:latin typeface="Carlito"/>
            </a:endParaRPr>
          </a:p>
          <a:p>
            <a:r>
              <a:rPr lang="en-US" dirty="0">
                <a:solidFill>
                  <a:srgbClr val="141414"/>
                </a:solidFill>
                <a:effectLst/>
                <a:latin typeface="Helvetica" pitchFamily="2" charset="0"/>
              </a:rPr>
              <a:t>And here’s the key intuition that drives the entire interpretation. If Sᵢ is small but Sᵢ is large, the parameter only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matters through its interactions with other parameters. That’s an identifiability red flag — you can’t pin it down</a:t>
            </a:r>
          </a:p>
          <a:p>
            <a:r>
              <a:rPr lang="en-US" dirty="0">
                <a:solidFill>
                  <a:srgbClr val="141414"/>
                </a:solidFill>
                <a:effectLst/>
                <a:latin typeface="Helvetica" pitchFamily="2" charset="0"/>
              </a:rPr>
              <a:t>independently from the data. We will see this exact pattern emerge in the results.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16</a:t>
            </a:fld>
            <a:endParaRPr lang="en-US"/>
          </a:p>
        </p:txBody>
      </p:sp>
    </p:spTree>
    <p:extLst>
      <p:ext uri="{BB962C8B-B14F-4D97-AF65-F5344CB8AC3E}">
        <p14:creationId xmlns:p14="http://schemas.microsoft.com/office/powerpoint/2010/main" val="4218338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So how do we actually compute Sᵢ and Sᵢ in practice? The mathematical definitions involve high-dimensional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integrals that you can’t evaluate analytically for HGO. We need Monte Carlo. And the specific scheme I use is</a:t>
            </a:r>
          </a:p>
          <a:p>
            <a:r>
              <a:rPr lang="en-US" dirty="0" err="1">
                <a:solidFill>
                  <a:srgbClr val="141414"/>
                </a:solidFill>
                <a:effectLst/>
                <a:latin typeface="Helvetica" pitchFamily="2" charset="0"/>
              </a:rPr>
              <a:t>Saltelli’s</a:t>
            </a:r>
            <a:r>
              <a:rPr lang="en-US" dirty="0">
                <a:solidFill>
                  <a:srgbClr val="141414"/>
                </a:solidFill>
                <a:effectLst/>
                <a:latin typeface="Helvetica" pitchFamily="2" charset="0"/>
              </a:rPr>
              <a:t> 2010 estimator.</a:t>
            </a:r>
          </a:p>
          <a:p>
            <a:endParaRPr lang="en-US" b="1" dirty="0">
              <a:solidFill>
                <a:srgbClr val="474747"/>
              </a:solidFill>
              <a:effectLst/>
              <a:latin typeface="Carlito"/>
            </a:endParaRPr>
          </a:p>
          <a:p>
            <a:r>
              <a:rPr lang="en-US" dirty="0">
                <a:solidFill>
                  <a:srgbClr val="141414"/>
                </a:solidFill>
                <a:effectLst/>
                <a:latin typeface="Helvetica" pitchFamily="2" charset="0"/>
              </a:rPr>
              <a:t>The construction works like this. First, generate two independent random matrices A and B, each with N rows</a:t>
            </a:r>
          </a:p>
          <a:p>
            <a:r>
              <a:rPr lang="en-US" dirty="0">
                <a:solidFill>
                  <a:srgbClr val="141414"/>
                </a:solidFill>
                <a:effectLst/>
                <a:latin typeface="Helvetica" pitchFamily="2" charset="0"/>
              </a:rPr>
              <a:t>and four columns — one column per parameter. Each row is a different random sampling of (c, k₁, k₂, </a:t>
            </a:r>
            <a:r>
              <a:rPr lang="el-GR" dirty="0">
                <a:solidFill>
                  <a:srgbClr val="141414"/>
                </a:solidFill>
                <a:effectLst/>
                <a:latin typeface="Helvetica" pitchFamily="2" charset="0"/>
              </a:rPr>
              <a:t>α) </a:t>
            </a:r>
            <a:r>
              <a:rPr lang="en-US" dirty="0">
                <a:solidFill>
                  <a:srgbClr val="141414"/>
                </a:solidFill>
                <a:effectLst/>
                <a:latin typeface="Helvetica" pitchFamily="2" charset="0"/>
              </a:rPr>
              <a:t>from</a:t>
            </a:r>
          </a:p>
          <a:p>
            <a:r>
              <a:rPr lang="en-US" dirty="0">
                <a:solidFill>
                  <a:srgbClr val="141414"/>
                </a:solidFill>
                <a:effectLst/>
                <a:latin typeface="Helvetica" pitchFamily="2" charset="0"/>
              </a:rPr>
              <a:t>their physiological ranges.</a:t>
            </a:r>
          </a:p>
          <a:p>
            <a:r>
              <a:rPr lang="en-US" dirty="0">
                <a:solidFill>
                  <a:srgbClr val="141414"/>
                </a:solidFill>
                <a:effectLst/>
                <a:latin typeface="Helvetica" pitchFamily="2" charset="0"/>
              </a:rPr>
              <a:t>Next, for each parameter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build a cross-matrix AB superscript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This is matrix A with one column — column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a:t>
            </a:r>
          </a:p>
          <a:p>
            <a:r>
              <a:rPr lang="en-US" dirty="0">
                <a:solidFill>
                  <a:srgbClr val="141414"/>
                </a:solidFill>
                <a:effectLst/>
                <a:latin typeface="Helvetica" pitchFamily="2" charset="0"/>
              </a:rPr>
              <a:t>replaced by column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of matrix B. So AB superscript 2, on the right of the figure, is matrix A with column 2</a:t>
            </a:r>
          </a:p>
          <a:p>
            <a:r>
              <a:rPr lang="en-US" dirty="0">
                <a:solidFill>
                  <a:srgbClr val="141414"/>
                </a:solidFill>
                <a:effectLst/>
                <a:latin typeface="Helvetica" pitchFamily="2" charset="0"/>
              </a:rPr>
              <a:t>swapped out for column 2 of B. The orange-highlighted column shows the swap.</a:t>
            </a:r>
          </a:p>
          <a:p>
            <a:r>
              <a:rPr lang="en-US" dirty="0">
                <a:solidFill>
                  <a:srgbClr val="141414"/>
                </a:solidFill>
                <a:effectLst/>
                <a:latin typeface="Helvetica" pitchFamily="2" charset="0"/>
              </a:rPr>
              <a:t>Why this clever construction? Because when you compare HGO outputs from A vs from AB superscript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the</a:t>
            </a:r>
          </a:p>
          <a:p>
            <a:r>
              <a:rPr lang="en-US" dirty="0">
                <a:solidFill>
                  <a:srgbClr val="141414"/>
                </a:solidFill>
                <a:effectLst/>
                <a:latin typeface="Helvetica" pitchFamily="2" charset="0"/>
              </a:rPr>
              <a:t>only thing that differs between corresponding rows is parameter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a:t>
            </a:r>
            <a:r>
              <a:rPr lang="en-US" dirty="0" err="1">
                <a:solidFill>
                  <a:srgbClr val="141414"/>
                </a:solidFill>
                <a:effectLst/>
                <a:latin typeface="Helvetica" pitchFamily="2" charset="0"/>
              </a:rPr>
              <a:t>Saltelli’s</a:t>
            </a:r>
            <a:r>
              <a:rPr lang="en-US" dirty="0">
                <a:solidFill>
                  <a:srgbClr val="141414"/>
                </a:solidFill>
                <a:effectLst/>
                <a:latin typeface="Helvetica" pitchFamily="2" charset="0"/>
              </a:rPr>
              <a:t> formulas exploit this to extract Sᵢ</a:t>
            </a:r>
          </a:p>
          <a:p>
            <a:r>
              <a:rPr lang="en-US" dirty="0">
                <a:solidFill>
                  <a:srgbClr val="141414"/>
                </a:solidFill>
                <a:effectLst/>
                <a:latin typeface="Helvetica" pitchFamily="2" charset="0"/>
              </a:rPr>
              <a:t>and Sᵢ exactly.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endParaRPr lang="en-US" dirty="0"/>
          </a:p>
          <a:p>
            <a:r>
              <a:rPr lang="en-US" dirty="0">
                <a:solidFill>
                  <a:srgbClr val="141414"/>
                </a:solidFill>
                <a:effectLst/>
                <a:latin typeface="Helvetica" pitchFamily="2" charset="0"/>
              </a:rPr>
              <a:t>The total cost is N times k plus 2 forward HGO evaluations — that’s 6N for our four parameters. So if N is one</a:t>
            </a:r>
          </a:p>
          <a:p>
            <a:r>
              <a:rPr lang="en-US" dirty="0">
                <a:solidFill>
                  <a:srgbClr val="141414"/>
                </a:solidFill>
                <a:effectLst/>
                <a:latin typeface="Helvetica" pitchFamily="2" charset="0"/>
              </a:rPr>
              <a:t>million, that’s six million HGO evaluations per loading protocol. Manageable, but that’s where the parallelization</a:t>
            </a:r>
          </a:p>
          <a:p>
            <a:r>
              <a:rPr lang="en-US" dirty="0">
                <a:solidFill>
                  <a:srgbClr val="141414"/>
                </a:solidFill>
                <a:effectLst/>
                <a:latin typeface="Helvetica" pitchFamily="2" charset="0"/>
              </a:rPr>
              <a:t>matters.</a:t>
            </a:r>
          </a:p>
          <a:p>
            <a:endParaRPr lang="en-US" dirty="0"/>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17</a:t>
            </a:fld>
            <a:endParaRPr lang="en-US"/>
          </a:p>
        </p:txBody>
      </p:sp>
    </p:spTree>
    <p:extLst>
      <p:ext uri="{BB962C8B-B14F-4D97-AF65-F5344CB8AC3E}">
        <p14:creationId xmlns:p14="http://schemas.microsoft.com/office/powerpoint/2010/main" val="2232634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These are the actual formulas. The top one is the first-order index estimator. You sum, over all N samples, Q</a:t>
            </a:r>
          </a:p>
          <a:p>
            <a:r>
              <a:rPr lang="en-US" dirty="0">
                <a:solidFill>
                  <a:srgbClr val="141414"/>
                </a:solidFill>
                <a:effectLst/>
                <a:latin typeface="Helvetica" pitchFamily="2" charset="0"/>
              </a:rPr>
              <a:t>evaluated on B times the difference Q(AB superscript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minus Q(A), then divide by N times the variance V.</a:t>
            </a:r>
          </a:p>
          <a:p>
            <a:endParaRPr lang="en-US" b="1" dirty="0">
              <a:solidFill>
                <a:srgbClr val="474747"/>
              </a:solidFill>
              <a:effectLst/>
              <a:latin typeface="Carlito"/>
            </a:endParaRPr>
          </a:p>
          <a:p>
            <a:r>
              <a:rPr lang="en-US" dirty="0">
                <a:solidFill>
                  <a:srgbClr val="141414"/>
                </a:solidFill>
                <a:effectLst/>
                <a:latin typeface="Helvetica" pitchFamily="2" charset="0"/>
              </a:rPr>
              <a:t>The bottom one is the total-effect estimator. You sum the squared differences between Q(A) and Q(AB</a:t>
            </a:r>
          </a:p>
          <a:p>
            <a:r>
              <a:rPr lang="en-US" dirty="0">
                <a:solidFill>
                  <a:srgbClr val="141414"/>
                </a:solidFill>
                <a:effectLst/>
                <a:latin typeface="Helvetica" pitchFamily="2" charset="0"/>
              </a:rPr>
              <a:t>superscript </a:t>
            </a:r>
            <a:r>
              <a:rPr lang="en-US" dirty="0" err="1">
                <a:solidFill>
                  <a:srgbClr val="141414"/>
                </a:solidFill>
                <a:effectLst/>
                <a:latin typeface="Helvetica" pitchFamily="2" charset="0"/>
              </a:rPr>
              <a:t>i</a:t>
            </a:r>
            <a:r>
              <a:rPr lang="en-US" dirty="0">
                <a:solidFill>
                  <a:srgbClr val="141414"/>
                </a:solidFill>
                <a:effectLst/>
                <a:latin typeface="Helvetica" pitchFamily="2" charset="0"/>
              </a:rPr>
              <a:t>), divide by 2 N V.</a:t>
            </a:r>
          </a:p>
          <a:p>
            <a:r>
              <a:rPr lang="en-US" dirty="0">
                <a:solidFill>
                  <a:srgbClr val="141414"/>
                </a:solidFill>
                <a:effectLst/>
                <a:latin typeface="Helvetica" pitchFamily="2" charset="0"/>
              </a:rPr>
              <a:t>These specific forms come from </a:t>
            </a:r>
            <a:r>
              <a:rPr lang="en-US" dirty="0" err="1">
                <a:solidFill>
                  <a:srgbClr val="141414"/>
                </a:solidFill>
                <a:effectLst/>
                <a:latin typeface="Helvetica" pitchFamily="2" charset="0"/>
              </a:rPr>
              <a:t>Saltelli</a:t>
            </a:r>
            <a:r>
              <a:rPr lang="en-US" dirty="0">
                <a:solidFill>
                  <a:srgbClr val="141414"/>
                </a:solidFill>
                <a:effectLst/>
                <a:latin typeface="Helvetica" pitchFamily="2" charset="0"/>
              </a:rPr>
              <a:t>, </a:t>
            </a:r>
            <a:r>
              <a:rPr lang="en-US" dirty="0" err="1">
                <a:solidFill>
                  <a:srgbClr val="141414"/>
                </a:solidFill>
                <a:effectLst/>
                <a:latin typeface="Helvetica" pitchFamily="2" charset="0"/>
              </a:rPr>
              <a:t>Annoni</a:t>
            </a:r>
            <a:r>
              <a:rPr lang="en-US" dirty="0">
                <a:solidFill>
                  <a:srgbClr val="141414"/>
                </a:solidFill>
                <a:effectLst/>
                <a:latin typeface="Helvetica" pitchFamily="2" charset="0"/>
              </a:rPr>
              <a:t>, </a:t>
            </a:r>
            <a:r>
              <a:rPr lang="en-US" dirty="0" err="1">
                <a:solidFill>
                  <a:srgbClr val="141414"/>
                </a:solidFill>
                <a:effectLst/>
                <a:latin typeface="Helvetica" pitchFamily="2" charset="0"/>
              </a:rPr>
              <a:t>Azzini</a:t>
            </a:r>
            <a:r>
              <a:rPr lang="en-US" dirty="0">
                <a:solidFill>
                  <a:srgbClr val="141414"/>
                </a:solidFill>
                <a:effectLst/>
                <a:latin typeface="Helvetica" pitchFamily="2" charset="0"/>
              </a:rPr>
              <a:t>, </a:t>
            </a:r>
            <a:r>
              <a:rPr lang="en-US" dirty="0" err="1">
                <a:solidFill>
                  <a:srgbClr val="141414"/>
                </a:solidFill>
                <a:effectLst/>
                <a:latin typeface="Helvetica" pitchFamily="2" charset="0"/>
              </a:rPr>
              <a:t>Campolongo</a:t>
            </a:r>
            <a:r>
              <a:rPr lang="en-US" dirty="0">
                <a:solidFill>
                  <a:srgbClr val="141414"/>
                </a:solidFill>
                <a:effectLst/>
                <a:latin typeface="Helvetica" pitchFamily="2" charset="0"/>
              </a:rPr>
              <a:t>, </a:t>
            </a:r>
            <a:r>
              <a:rPr lang="en-US" dirty="0" err="1">
                <a:solidFill>
                  <a:srgbClr val="141414"/>
                </a:solidFill>
                <a:effectLst/>
                <a:latin typeface="Helvetica" pitchFamily="2" charset="0"/>
              </a:rPr>
              <a:t>Ratto</a:t>
            </a:r>
            <a:r>
              <a:rPr lang="en-US" dirty="0">
                <a:solidFill>
                  <a:srgbClr val="141414"/>
                </a:solidFill>
                <a:effectLst/>
                <a:latin typeface="Helvetica" pitchFamily="2" charset="0"/>
              </a:rPr>
              <a:t>, and </a:t>
            </a:r>
            <a:r>
              <a:rPr lang="en-US" dirty="0" err="1">
                <a:solidFill>
                  <a:srgbClr val="141414"/>
                </a:solidFill>
                <a:effectLst/>
                <a:latin typeface="Helvetica" pitchFamily="2" charset="0"/>
              </a:rPr>
              <a:t>Tarantola</a:t>
            </a:r>
            <a:r>
              <a:rPr lang="en-US" dirty="0">
                <a:solidFill>
                  <a:srgbClr val="141414"/>
                </a:solidFill>
                <a:effectLst/>
                <a:latin typeface="Helvetica" pitchFamily="2" charset="0"/>
              </a:rPr>
              <a:t>, 2010. They were</a:t>
            </a:r>
          </a:p>
          <a:p>
            <a:r>
              <a:rPr lang="en-US" dirty="0">
                <a:solidFill>
                  <a:srgbClr val="141414"/>
                </a:solidFill>
                <a:effectLst/>
                <a:latin typeface="Helvetica" pitchFamily="2" charset="0"/>
              </a:rPr>
              <a:t>carefully derived to give the lowest variance estimators of Sᵢ and Sᵢ for a given budget of model evaluations.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endParaRPr lang="en-US" b="1" dirty="0">
              <a:solidFill>
                <a:srgbClr val="474747"/>
              </a:solidFill>
              <a:effectLst/>
              <a:latin typeface="Carlito"/>
            </a:endParaRPr>
          </a:p>
          <a:p>
            <a:r>
              <a:rPr lang="en-US" dirty="0">
                <a:solidFill>
                  <a:srgbClr val="141414"/>
                </a:solidFill>
                <a:effectLst/>
                <a:latin typeface="Helvetica" pitchFamily="2" charset="0"/>
              </a:rPr>
              <a:t>All we need to compute these is to evaluate the HGO forward model on N times k plus 2 parameter samples.</a:t>
            </a:r>
          </a:p>
          <a:p>
            <a:r>
              <a:rPr lang="en-US" dirty="0">
                <a:solidFill>
                  <a:srgbClr val="141414"/>
                </a:solidFill>
                <a:effectLst/>
                <a:latin typeface="Helvetica" pitchFamily="2" charset="0"/>
              </a:rPr>
              <a:t>Every evaluation is independent of every other one. There’s no shared state, no sequencing constraint, nothing.</a:t>
            </a:r>
          </a:p>
          <a:p>
            <a:r>
              <a:rPr lang="en-US" dirty="0">
                <a:solidFill>
                  <a:srgbClr val="141414"/>
                </a:solidFill>
                <a:effectLst/>
                <a:latin typeface="Helvetica" pitchFamily="2" charset="0"/>
              </a:rPr>
              <a:t>This is exactly what HPC parallelization is built for. And that’s where I go next.</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18</a:t>
            </a:fld>
            <a:endParaRPr lang="en-US"/>
          </a:p>
        </p:txBody>
      </p:sp>
    </p:spTree>
    <p:extLst>
      <p:ext uri="{BB962C8B-B14F-4D97-AF65-F5344CB8AC3E}">
        <p14:creationId xmlns:p14="http://schemas.microsoft.com/office/powerpoint/2010/main" val="167709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41414"/>
                </a:solidFill>
                <a:effectLst/>
                <a:latin typeface="Helvetica" pitchFamily="2" charset="0"/>
              </a:rPr>
              <a:t>Now the parallelization piece — the HPC content of the project.</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19</a:t>
            </a:fld>
            <a:endParaRPr lang="en-US"/>
          </a:p>
        </p:txBody>
      </p:sp>
    </p:spTree>
    <p:extLst>
      <p:ext uri="{BB962C8B-B14F-4D97-AF65-F5344CB8AC3E}">
        <p14:creationId xmlns:p14="http://schemas.microsoft.com/office/powerpoint/2010/main" val="36677332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Here is the full pipeline for the parallel implementation. Rank 0 — the master process — generates the </a:t>
            </a:r>
            <a:r>
              <a:rPr lang="en-US" dirty="0" err="1">
                <a:solidFill>
                  <a:srgbClr val="141414"/>
                </a:solidFill>
                <a:effectLst/>
                <a:latin typeface="Helvetica" pitchFamily="2" charset="0"/>
              </a:rPr>
              <a:t>Saltelli</a:t>
            </a:r>
            <a:r>
              <a:rPr lang="en-US" dirty="0">
                <a:solidFill>
                  <a:srgbClr val="141414"/>
                </a:solidFill>
                <a:effectLst/>
                <a:latin typeface="Helvetica" pitchFamily="2" charset="0"/>
              </a:rPr>
              <a:t> A</a:t>
            </a:r>
          </a:p>
          <a:p>
            <a:r>
              <a:rPr lang="en-US" dirty="0">
                <a:solidFill>
                  <a:srgbClr val="141414"/>
                </a:solidFill>
                <a:effectLst/>
                <a:latin typeface="Helvetica" pitchFamily="2" charset="0"/>
              </a:rPr>
              <a:t>and B matrices once. Then those matrices are broadcast to all participating ranks via </a:t>
            </a:r>
            <a:r>
              <a:rPr lang="en-US" dirty="0" err="1">
                <a:solidFill>
                  <a:srgbClr val="141414"/>
                </a:solidFill>
                <a:effectLst/>
                <a:latin typeface="Helvetica" pitchFamily="2" charset="0"/>
              </a:rPr>
              <a:t>MPI_Bcast</a:t>
            </a:r>
            <a:r>
              <a:rPr lang="en-US" dirty="0">
                <a:solidFill>
                  <a:srgbClr val="141414"/>
                </a:solidFill>
                <a:effectLst/>
                <a:latin typeface="Helvetica" pitchFamily="2" charset="0"/>
              </a:rPr>
              <a:t>. Each rank —</a:t>
            </a:r>
          </a:p>
          <a:p>
            <a:r>
              <a:rPr lang="en-US" dirty="0">
                <a:solidFill>
                  <a:srgbClr val="141414"/>
                </a:solidFill>
                <a:effectLst/>
                <a:latin typeface="Helvetica" pitchFamily="2" charset="0"/>
              </a:rPr>
              <a:t>rank 0 through rank P minus 1 — handles a chunk of N over P samples, computing HGO evaluations</a:t>
            </a:r>
          </a:p>
          <a:p>
            <a:r>
              <a:rPr lang="en-US" dirty="0">
                <a:solidFill>
                  <a:srgbClr val="141414"/>
                </a:solidFill>
                <a:effectLst/>
                <a:latin typeface="Helvetica" pitchFamily="2" charset="0"/>
              </a:rPr>
              <a:t>independently. Within each rank, OpenMP threads further parallelize the local sample loop. Finally, the local</a:t>
            </a:r>
          </a:p>
          <a:p>
            <a:r>
              <a:rPr lang="en-US" dirty="0">
                <a:solidFill>
                  <a:srgbClr val="141414"/>
                </a:solidFill>
                <a:effectLst/>
                <a:latin typeface="Helvetica" pitchFamily="2" charset="0"/>
              </a:rPr>
              <a:t>results are gathered back to rank 0 with </a:t>
            </a:r>
            <a:r>
              <a:rPr lang="en-US" dirty="0" err="1">
                <a:solidFill>
                  <a:srgbClr val="141414"/>
                </a:solidFill>
                <a:effectLst/>
                <a:latin typeface="Helvetica" pitchFamily="2" charset="0"/>
              </a:rPr>
              <a:t>MPI_Gather</a:t>
            </a:r>
            <a:r>
              <a:rPr lang="en-US" dirty="0">
                <a:solidFill>
                  <a:srgbClr val="141414"/>
                </a:solidFill>
                <a:effectLst/>
                <a:latin typeface="Helvetica" pitchFamily="2" charset="0"/>
              </a:rPr>
              <a:t>, where the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indices are computed using the </a:t>
            </a:r>
            <a:r>
              <a:rPr lang="en-US" dirty="0" err="1">
                <a:solidFill>
                  <a:srgbClr val="141414"/>
                </a:solidFill>
                <a:effectLst/>
                <a:latin typeface="Helvetica" pitchFamily="2" charset="0"/>
              </a:rPr>
              <a:t>Saltelli</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formulas. The output is Sᵢ and Sᵢ for all four parameters, across all four loading protocols, plus strong-scaling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curves.</a:t>
            </a:r>
          </a:p>
          <a:p>
            <a:endParaRPr lang="en-US" b="1" dirty="0">
              <a:solidFill>
                <a:srgbClr val="474747"/>
              </a:solidFill>
              <a:effectLst/>
              <a:latin typeface="Carlito"/>
            </a:endParaRPr>
          </a:p>
          <a:p>
            <a:r>
              <a:rPr lang="en-US" dirty="0">
                <a:solidFill>
                  <a:srgbClr val="141414"/>
                </a:solidFill>
                <a:effectLst/>
                <a:latin typeface="Helvetica" pitchFamily="2" charset="0"/>
              </a:rPr>
              <a:t>Cost analysis: at N equals one million, across the four loading protocols, that’s 24 million HGO evaluations total.</a:t>
            </a:r>
          </a:p>
          <a:p>
            <a:r>
              <a:rPr lang="en-US" dirty="0">
                <a:solidFill>
                  <a:srgbClr val="141414"/>
                </a:solidFill>
                <a:effectLst/>
                <a:latin typeface="Helvetica" pitchFamily="2" charset="0"/>
              </a:rPr>
              <a:t>On a single core that’s about 50 seconds — tractable but inconvenient if you want to do parameter studies.</a:t>
            </a:r>
          </a:p>
          <a:p>
            <a:r>
              <a:rPr lang="en-US" dirty="0">
                <a:solidFill>
                  <a:srgbClr val="141414"/>
                </a:solidFill>
                <a:effectLst/>
                <a:latin typeface="Helvetica" pitchFamily="2" charset="0"/>
              </a:rPr>
              <a:t>And the key property that makes parallelization effective here: every HGO evaluation is independent. This is the</a:t>
            </a:r>
          </a:p>
          <a:p>
            <a:r>
              <a:rPr lang="en-US" dirty="0">
                <a:solidFill>
                  <a:srgbClr val="141414"/>
                </a:solidFill>
                <a:effectLst/>
                <a:latin typeface="Helvetica" pitchFamily="2" charset="0"/>
              </a:rPr>
              <a:t>textbook example of an embarrassingly parallel problem. Communication is reduced to one </a:t>
            </a:r>
            <a:r>
              <a:rPr lang="en-US" dirty="0" err="1">
                <a:solidFill>
                  <a:srgbClr val="141414"/>
                </a:solidFill>
                <a:effectLst/>
                <a:latin typeface="Helvetica" pitchFamily="2" charset="0"/>
              </a:rPr>
              <a:t>Bcast</a:t>
            </a:r>
            <a:r>
              <a:rPr lang="en-US" dirty="0">
                <a:solidFill>
                  <a:srgbClr val="141414"/>
                </a:solidFill>
                <a:effectLst/>
                <a:latin typeface="Helvetica" pitchFamily="2" charset="0"/>
              </a:rPr>
              <a:t> at startup and</a:t>
            </a:r>
          </a:p>
          <a:p>
            <a:r>
              <a:rPr lang="en-US" dirty="0">
                <a:solidFill>
                  <a:srgbClr val="141414"/>
                </a:solidFill>
                <a:effectLst/>
                <a:latin typeface="Helvetica" pitchFamily="2" charset="0"/>
              </a:rPr>
              <a:t>one Gather at termination — nothing in the hot inner loop.</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20</a:t>
            </a:fld>
            <a:endParaRPr lang="en-US"/>
          </a:p>
        </p:txBody>
      </p:sp>
    </p:spTree>
    <p:extLst>
      <p:ext uri="{BB962C8B-B14F-4D97-AF65-F5344CB8AC3E}">
        <p14:creationId xmlns:p14="http://schemas.microsoft.com/office/powerpoint/2010/main" val="3229276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Specifically, this project uses a hybrid MPI plus OpenMP parallelization. Not just MPI, not just OpenMP — both,</a:t>
            </a:r>
          </a:p>
          <a:p>
            <a:r>
              <a:rPr lang="en-US" dirty="0">
                <a:solidFill>
                  <a:srgbClr val="141414"/>
                </a:solidFill>
                <a:effectLst/>
                <a:latin typeface="Helvetica" pitchFamily="2" charset="0"/>
              </a:rPr>
              <a:t>layered.</a:t>
            </a:r>
          </a:p>
          <a:p>
            <a:endParaRPr lang="en-US" b="1" dirty="0">
              <a:solidFill>
                <a:srgbClr val="474747"/>
              </a:solidFill>
              <a:effectLst/>
              <a:latin typeface="Carlito"/>
            </a:endParaRPr>
          </a:p>
          <a:p>
            <a:r>
              <a:rPr lang="en-US" dirty="0">
                <a:solidFill>
                  <a:srgbClr val="141414"/>
                </a:solidFill>
                <a:effectLst/>
                <a:latin typeface="Helvetica" pitchFamily="2" charset="0"/>
              </a:rPr>
              <a:t>MPI is the distributed-memory layer. P MPI ranks are launched, possibly on different compute nodes of the</a:t>
            </a:r>
          </a:p>
          <a:p>
            <a:r>
              <a:rPr lang="en-US" dirty="0">
                <a:solidFill>
                  <a:srgbClr val="141414"/>
                </a:solidFill>
                <a:effectLst/>
                <a:latin typeface="Helvetica" pitchFamily="2" charset="0"/>
              </a:rPr>
              <a:t>cluster. Rank 0 broadcasts A and B once at startup. Each rank gets its own block of N over P samples. At the end,</a:t>
            </a:r>
          </a:p>
          <a:p>
            <a:r>
              <a:rPr lang="en-US" dirty="0">
                <a:solidFill>
                  <a:srgbClr val="141414"/>
                </a:solidFill>
                <a:effectLst/>
                <a:latin typeface="Helvetica" pitchFamily="2" charset="0"/>
              </a:rPr>
              <a:t>results are gathered. MPI is what lets us span multiple machines.</a:t>
            </a:r>
          </a:p>
          <a:p>
            <a:endParaRPr lang="en-US" b="1" dirty="0">
              <a:solidFill>
                <a:srgbClr val="474747"/>
              </a:solidFill>
              <a:effectLst/>
              <a:latin typeface="Carlito"/>
            </a:endParaRPr>
          </a:p>
          <a:p>
            <a:r>
              <a:rPr lang="en-US" dirty="0">
                <a:solidFill>
                  <a:srgbClr val="141414"/>
                </a:solidFill>
                <a:effectLst/>
                <a:latin typeface="Helvetica" pitchFamily="2" charset="0"/>
              </a:rPr>
              <a:t>OpenMP is the shared-memory layer, working inside each MPI rank. The local sample loop is wrapped in a</a:t>
            </a:r>
          </a:p>
          <a:p>
            <a:r>
              <a:rPr lang="en-US" dirty="0">
                <a:solidFill>
                  <a:srgbClr val="141414"/>
                </a:solidFill>
                <a:effectLst/>
                <a:latin typeface="Helvetica" pitchFamily="2" charset="0"/>
              </a:rPr>
              <a:t>“pragma </a:t>
            </a:r>
            <a:r>
              <a:rPr lang="en-US" dirty="0" err="1">
                <a:solidFill>
                  <a:srgbClr val="141414"/>
                </a:solidFill>
                <a:effectLst/>
                <a:latin typeface="Helvetica" pitchFamily="2" charset="0"/>
              </a:rPr>
              <a:t>omp</a:t>
            </a:r>
            <a:r>
              <a:rPr lang="en-US" dirty="0">
                <a:solidFill>
                  <a:srgbClr val="141414"/>
                </a:solidFill>
                <a:effectLst/>
                <a:latin typeface="Helvetica" pitchFamily="2" charset="0"/>
              </a:rPr>
              <a:t> parallel for, schedule static” directive, so within each rank, T threads share the work. Static</a:t>
            </a:r>
          </a:p>
          <a:p>
            <a:r>
              <a:rPr lang="en-US" dirty="0">
                <a:solidFill>
                  <a:srgbClr val="141414"/>
                </a:solidFill>
                <a:effectLst/>
                <a:latin typeface="Helvetica" pitchFamily="2" charset="0"/>
              </a:rPr>
              <a:t>scheduling is appropriate because the work per iteration — one HGO evaluation — is uniform.</a:t>
            </a:r>
          </a:p>
          <a:p>
            <a:endParaRPr lang="en-US" b="1" dirty="0">
              <a:solidFill>
                <a:srgbClr val="474747"/>
              </a:solidFill>
              <a:effectLst/>
              <a:latin typeface="Carlito"/>
            </a:endParaRPr>
          </a:p>
          <a:p>
            <a:r>
              <a:rPr lang="en-US" dirty="0">
                <a:solidFill>
                  <a:srgbClr val="141414"/>
                </a:solidFill>
                <a:effectLst/>
                <a:latin typeface="Helvetica" pitchFamily="2" charset="0"/>
              </a:rPr>
              <a:t>The combined effect: P times T total cores used. Why is this better than pure MPI with P times T ranks? Because</a:t>
            </a:r>
          </a:p>
          <a:p>
            <a:r>
              <a:rPr lang="en-US" dirty="0">
                <a:solidFill>
                  <a:srgbClr val="141414"/>
                </a:solidFill>
                <a:effectLst/>
                <a:latin typeface="Helvetica" pitchFamily="2" charset="0"/>
              </a:rPr>
              <a:t>MPI ranks duplicate memory — each rank has its own copy of A and B in its own address space. Threads, by</a:t>
            </a:r>
          </a:p>
          <a:p>
            <a:r>
              <a:rPr lang="en-US" dirty="0">
                <a:solidFill>
                  <a:srgbClr val="141414"/>
                </a:solidFill>
                <a:effectLst/>
                <a:latin typeface="Helvetica" pitchFamily="2" charset="0"/>
              </a:rPr>
              <a:t>contrast, share the same memory region. So hybrid uses less memory and gets better cache reuse than pure MPI</a:t>
            </a:r>
          </a:p>
          <a:p>
            <a:r>
              <a:rPr lang="en-US" dirty="0">
                <a:solidFill>
                  <a:srgbClr val="141414"/>
                </a:solidFill>
                <a:effectLst/>
                <a:latin typeface="Helvetica" pitchFamily="2" charset="0"/>
              </a:rPr>
              <a:t>on multi-core nodes.</a:t>
            </a:r>
          </a:p>
          <a:p>
            <a:r>
              <a:rPr lang="en-US" dirty="0">
                <a:solidFill>
                  <a:srgbClr val="141414"/>
                </a:solidFill>
                <a:effectLst/>
                <a:latin typeface="Helvetica" pitchFamily="2" charset="0"/>
              </a:rPr>
              <a:t>On Nova specifically, four MPI ranks with four OpenMP threads each will outperform sixteen pure-MPI ranks</a:t>
            </a:r>
          </a:p>
          <a:p>
            <a:r>
              <a:rPr lang="en-US" dirty="0">
                <a:solidFill>
                  <a:srgbClr val="141414"/>
                </a:solidFill>
                <a:effectLst/>
                <a:latin typeface="Helvetica" pitchFamily="2" charset="0"/>
              </a:rPr>
              <a:t>when those ranks share a CPU socket. The hybrid layer is the practical optimum on modern multi-core node</a:t>
            </a:r>
          </a:p>
          <a:p>
            <a:r>
              <a:rPr lang="en-US" dirty="0">
                <a:solidFill>
                  <a:srgbClr val="141414"/>
                </a:solidFill>
                <a:effectLst/>
                <a:latin typeface="Helvetica" pitchFamily="2" charset="0"/>
              </a:rPr>
              <a:t>architectures.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21</a:t>
            </a:fld>
            <a:endParaRPr lang="en-US"/>
          </a:p>
        </p:txBody>
      </p:sp>
    </p:spTree>
    <p:extLst>
      <p:ext uri="{BB962C8B-B14F-4D97-AF65-F5344CB8AC3E}">
        <p14:creationId xmlns:p14="http://schemas.microsoft.com/office/powerpoint/2010/main" val="18746676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141414"/>
                </a:solidFill>
                <a:effectLst/>
                <a:latin typeface="Helvetica" pitchFamily="2" charset="0"/>
              </a:rPr>
              <a:t>Before showing results, I need to convince you the estimator is correct.</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23</a:t>
            </a:fld>
            <a:endParaRPr lang="en-US"/>
          </a:p>
        </p:txBody>
      </p:sp>
    </p:spTree>
    <p:extLst>
      <p:ext uri="{BB962C8B-B14F-4D97-AF65-F5344CB8AC3E}">
        <p14:creationId xmlns:p14="http://schemas.microsoft.com/office/powerpoint/2010/main" val="424045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The principle is simple: before trusting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indices on HGO, where we don’t know the true answer, we test the</a:t>
            </a:r>
          </a:p>
          <a:p>
            <a:r>
              <a:rPr lang="en-US" dirty="0">
                <a:solidFill>
                  <a:srgbClr val="141414"/>
                </a:solidFill>
                <a:effectLst/>
                <a:latin typeface="Helvetica" pitchFamily="2" charset="0"/>
              </a:rPr>
              <a:t>estimator on a function where we do know the answer. There are three checks I do before any production runs.</a:t>
            </a:r>
          </a:p>
          <a:p>
            <a:r>
              <a:rPr lang="en-US" dirty="0">
                <a:solidFill>
                  <a:srgbClr val="000000"/>
                </a:solidFill>
                <a:effectLst/>
                <a:latin typeface="Helvetica" pitchFamily="2" charset="0"/>
              </a:rPr>
              <a:t>• </a:t>
            </a:r>
            <a:r>
              <a:rPr lang="en-US" dirty="0">
                <a:solidFill>
                  <a:srgbClr val="141414"/>
                </a:solidFill>
                <a:effectLst/>
                <a:latin typeface="Helvetica" pitchFamily="2" charset="0"/>
              </a:rPr>
              <a:t>First, the </a:t>
            </a:r>
            <a:r>
              <a:rPr lang="en-US" dirty="0" err="1">
                <a:solidFill>
                  <a:srgbClr val="141414"/>
                </a:solidFill>
                <a:effectLst/>
                <a:latin typeface="Helvetica" pitchFamily="2" charset="0"/>
              </a:rPr>
              <a:t>Ishigami</a:t>
            </a:r>
            <a:r>
              <a:rPr lang="en-US" dirty="0">
                <a:solidFill>
                  <a:srgbClr val="141414"/>
                </a:solidFill>
                <a:effectLst/>
                <a:latin typeface="Helvetica" pitchFamily="2" charset="0"/>
              </a:rPr>
              <a:t> benchmark — a standard sensitivity-analysis test function whose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indices have</a:t>
            </a:r>
          </a:p>
          <a:p>
            <a:r>
              <a:rPr lang="en-US" dirty="0">
                <a:solidFill>
                  <a:srgbClr val="141414"/>
                </a:solidFill>
                <a:effectLst/>
                <a:latin typeface="Helvetica" pitchFamily="2" charset="0"/>
              </a:rPr>
              <a:t>been derived analytically in closed form. The estimator must reproduce those known values to MC</a:t>
            </a:r>
          </a:p>
          <a:p>
            <a:r>
              <a:rPr lang="en-US" dirty="0">
                <a:solidFill>
                  <a:srgbClr val="141414"/>
                </a:solidFill>
                <a:effectLst/>
                <a:latin typeface="Helvetica" pitchFamily="2" charset="0"/>
              </a:rPr>
              <a:t>precision.</a:t>
            </a:r>
          </a:p>
          <a:p>
            <a:r>
              <a:rPr lang="en-US" dirty="0">
                <a:solidFill>
                  <a:srgbClr val="000000"/>
                </a:solidFill>
                <a:effectLst/>
                <a:latin typeface="Helvetica" pitchFamily="2" charset="0"/>
              </a:rPr>
              <a:t>• </a:t>
            </a:r>
            <a:r>
              <a:rPr lang="en-US" dirty="0">
                <a:solidFill>
                  <a:srgbClr val="141414"/>
                </a:solidFill>
                <a:effectLst/>
                <a:latin typeface="Helvetica" pitchFamily="2" charset="0"/>
              </a:rPr>
              <a:t>Second, a Monte Carlo convergence study — verify that the standard deviation of estimated indices</a:t>
            </a:r>
          </a:p>
          <a:p>
            <a:r>
              <a:rPr lang="en-US" dirty="0">
                <a:solidFill>
                  <a:srgbClr val="141414"/>
                </a:solidFill>
                <a:effectLst/>
                <a:latin typeface="Helvetica" pitchFamily="2" charset="0"/>
              </a:rPr>
              <a:t>decays as 1 over square root of N, the textbook rate.</a:t>
            </a:r>
          </a:p>
          <a:p>
            <a:r>
              <a:rPr lang="en-US" dirty="0">
                <a:solidFill>
                  <a:srgbClr val="000000"/>
                </a:solidFill>
                <a:effectLst/>
                <a:latin typeface="Helvetica" pitchFamily="2" charset="0"/>
              </a:rPr>
              <a:t>• </a:t>
            </a:r>
            <a:r>
              <a:rPr lang="en-US" dirty="0">
                <a:solidFill>
                  <a:srgbClr val="141414"/>
                </a:solidFill>
                <a:effectLst/>
                <a:latin typeface="Helvetica" pitchFamily="2" charset="0"/>
              </a:rPr>
              <a:t>Third, an HGO stress sanity check — compare </a:t>
            </a:r>
            <a:r>
              <a:rPr lang="el-GR" dirty="0">
                <a:solidFill>
                  <a:srgbClr val="141414"/>
                </a:solidFill>
                <a:effectLst/>
                <a:latin typeface="Helvetica" pitchFamily="2" charset="0"/>
              </a:rPr>
              <a:t>σ₁₁ </a:t>
            </a:r>
            <a:r>
              <a:rPr lang="en-US" dirty="0">
                <a:solidFill>
                  <a:srgbClr val="141414"/>
                </a:solidFill>
                <a:effectLst/>
                <a:latin typeface="Helvetica" pitchFamily="2" charset="0"/>
              </a:rPr>
              <a:t>at a published parameter set against the original</a:t>
            </a:r>
          </a:p>
          <a:p>
            <a:r>
              <a:rPr lang="en-US" dirty="0">
                <a:solidFill>
                  <a:srgbClr val="141414"/>
                </a:solidFill>
                <a:effectLst/>
                <a:latin typeface="Helvetica" pitchFamily="2" charset="0"/>
              </a:rPr>
              <a:t>Holzapfel 2000 reference values, to make sure the forward model itself is correct.</a:t>
            </a:r>
          </a:p>
          <a:p>
            <a:r>
              <a:rPr lang="en-US" dirty="0">
                <a:solidFill>
                  <a:srgbClr val="141414"/>
                </a:solidFill>
                <a:effectLst/>
                <a:latin typeface="Helvetica" pitchFamily="2" charset="0"/>
              </a:rPr>
              <a:t>Only when all three pass do I trust the cross-protocol HGO results.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24</a:t>
            </a:fld>
            <a:endParaRPr lang="en-US"/>
          </a:p>
        </p:txBody>
      </p:sp>
    </p:spTree>
    <p:extLst>
      <p:ext uri="{BB962C8B-B14F-4D97-AF65-F5344CB8AC3E}">
        <p14:creationId xmlns:p14="http://schemas.microsoft.com/office/powerpoint/2010/main" val="28382511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The </a:t>
            </a:r>
            <a:r>
              <a:rPr lang="en-US" dirty="0" err="1">
                <a:solidFill>
                  <a:srgbClr val="141414"/>
                </a:solidFill>
                <a:effectLst/>
                <a:latin typeface="Helvetica" pitchFamily="2" charset="0"/>
              </a:rPr>
              <a:t>Ishigami</a:t>
            </a:r>
            <a:r>
              <a:rPr lang="en-US" dirty="0">
                <a:solidFill>
                  <a:srgbClr val="141414"/>
                </a:solidFill>
                <a:effectLst/>
                <a:latin typeface="Helvetica" pitchFamily="2" charset="0"/>
              </a:rPr>
              <a:t> function, written on the right, is the standard test for </a:t>
            </a:r>
            <a:r>
              <a:rPr lang="en-US" dirty="0" err="1">
                <a:solidFill>
                  <a:srgbClr val="141414"/>
                </a:solidFill>
                <a:effectLst/>
                <a:latin typeface="Helvetica" pitchFamily="2" charset="0"/>
              </a:rPr>
              <a:t>Sobol</a:t>
            </a:r>
            <a:r>
              <a:rPr lang="en-US" dirty="0">
                <a:solidFill>
                  <a:srgbClr val="141414"/>
                </a:solidFill>
                <a:effectLst/>
                <a:latin typeface="Helvetica" pitchFamily="2" charset="0"/>
              </a:rPr>
              <a:t> implementations. Its first-order and</a:t>
            </a:r>
          </a:p>
          <a:p>
            <a:r>
              <a:rPr lang="en-US" dirty="0">
                <a:solidFill>
                  <a:srgbClr val="141414"/>
                </a:solidFill>
                <a:effectLst/>
                <a:latin typeface="Helvetica" pitchFamily="2" charset="0"/>
              </a:rPr>
              <a:t>total-effect indices are tabulated in </a:t>
            </a:r>
            <a:r>
              <a:rPr lang="en-US" dirty="0" err="1">
                <a:solidFill>
                  <a:srgbClr val="141414"/>
                </a:solidFill>
                <a:effectLst/>
                <a:latin typeface="Helvetica" pitchFamily="2" charset="0"/>
              </a:rPr>
              <a:t>Saltelli’s</a:t>
            </a:r>
            <a:r>
              <a:rPr lang="en-US" dirty="0">
                <a:solidFill>
                  <a:srgbClr val="141414"/>
                </a:solidFill>
                <a:effectLst/>
                <a:latin typeface="Helvetica" pitchFamily="2" charset="0"/>
              </a:rPr>
              <a:t> textbook.</a:t>
            </a:r>
          </a:p>
          <a:p>
            <a:r>
              <a:rPr lang="en-US" dirty="0">
                <a:solidFill>
                  <a:srgbClr val="141414"/>
                </a:solidFill>
                <a:effectLst/>
                <a:latin typeface="Helvetica" pitchFamily="2" charset="0"/>
              </a:rPr>
              <a:t>In the chart, the solid bars are my estimated indices and the hatched bars are the analytical truth. They sit right</a:t>
            </a:r>
          </a:p>
          <a:p>
            <a:r>
              <a:rPr lang="en-US" dirty="0">
                <a:solidFill>
                  <a:srgbClr val="141414"/>
                </a:solidFill>
                <a:effectLst/>
                <a:latin typeface="Helvetica" pitchFamily="2" charset="0"/>
              </a:rPr>
              <a:t>on top of each other. All six indices — three first-order and three total-effect — agree with the analytical values</a:t>
            </a:r>
          </a:p>
          <a:p>
            <a:r>
              <a:rPr lang="en-US" dirty="0">
                <a:solidFill>
                  <a:srgbClr val="141414"/>
                </a:solidFill>
                <a:effectLst/>
                <a:latin typeface="Helvetica" pitchFamily="2" charset="0"/>
              </a:rPr>
              <a:t>to within 0.003 at N equals 5 times 10⁵.</a:t>
            </a:r>
          </a:p>
          <a:p>
            <a:endParaRPr lang="en-US" b="1" dirty="0">
              <a:solidFill>
                <a:srgbClr val="474747"/>
              </a:solidFill>
              <a:effectLst/>
              <a:latin typeface="Carlito"/>
            </a:endParaRPr>
          </a:p>
          <a:p>
            <a:r>
              <a:rPr lang="en-US" dirty="0">
                <a:solidFill>
                  <a:srgbClr val="141414"/>
                </a:solidFill>
                <a:effectLst/>
                <a:latin typeface="Helvetica" pitchFamily="2" charset="0"/>
              </a:rPr>
              <a:t>The most diagnostic feature is x₃. Its first-order index is approximately zero, but its total-effect index is 0.24. That</a:t>
            </a:r>
          </a:p>
          <a:p>
            <a:r>
              <a:rPr lang="en-US" dirty="0">
                <a:solidFill>
                  <a:srgbClr val="141414"/>
                </a:solidFill>
                <a:effectLst/>
                <a:latin typeface="Helvetica" pitchFamily="2" charset="0"/>
              </a:rPr>
              <a:t>happens because x₃ has no direct effect — it only enters the function multiplied by sin(x₁), which is a pure</a:t>
            </a:r>
          </a:p>
          <a:p>
            <a:r>
              <a:rPr lang="en-US" dirty="0">
                <a:solidFill>
                  <a:srgbClr val="141414"/>
                </a:solidFill>
                <a:effectLst/>
                <a:latin typeface="Helvetica" pitchFamily="2" charset="0"/>
              </a:rPr>
              <a:t>interaction. The estimator correctly captures this — small Sᵢ, large Sᵢ — which is exactly the identifiability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fingerprint we’re going to use later for HGO.</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25</a:t>
            </a:fld>
            <a:endParaRPr lang="en-US"/>
          </a:p>
        </p:txBody>
      </p:sp>
    </p:spTree>
    <p:extLst>
      <p:ext uri="{BB962C8B-B14F-4D97-AF65-F5344CB8AC3E}">
        <p14:creationId xmlns:p14="http://schemas.microsoft.com/office/powerpoint/2010/main" val="1335908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The left panel shows the estimated first-order indices for HGO 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loading, plotted against N. Each</a:t>
            </a:r>
          </a:p>
          <a:p>
            <a:r>
              <a:rPr lang="en-US" dirty="0">
                <a:solidFill>
                  <a:srgbClr val="141414"/>
                </a:solidFill>
                <a:effectLst/>
                <a:latin typeface="Helvetica" pitchFamily="2" charset="0"/>
              </a:rPr>
              <a:t>point is the mean across ten independent random seeds, and the error bars are plus-or-minus one standard</a:t>
            </a:r>
          </a:p>
          <a:p>
            <a:r>
              <a:rPr lang="en-US" dirty="0">
                <a:solidFill>
                  <a:srgbClr val="141414"/>
                </a:solidFill>
                <a:effectLst/>
                <a:latin typeface="Helvetica" pitchFamily="2" charset="0"/>
              </a:rPr>
              <a:t>deviation across those seeds. As you move right — increasing N — the estimates converge and the error bars</a:t>
            </a:r>
          </a:p>
          <a:p>
            <a:r>
              <a:rPr lang="en-US" dirty="0">
                <a:solidFill>
                  <a:srgbClr val="141414"/>
                </a:solidFill>
                <a:effectLst/>
                <a:latin typeface="Helvetica" pitchFamily="2" charset="0"/>
              </a:rPr>
              <a:t>shrink.</a:t>
            </a:r>
          </a:p>
          <a:p>
            <a:endParaRPr lang="en-US" dirty="0">
              <a:solidFill>
                <a:srgbClr val="141414"/>
              </a:solidFill>
              <a:effectLst/>
              <a:latin typeface="Helvetica" pitchFamily="2" charset="0"/>
            </a:endParaRPr>
          </a:p>
          <a:p>
            <a:r>
              <a:rPr lang="en-US" dirty="0">
                <a:solidFill>
                  <a:srgbClr val="141414"/>
                </a:solidFill>
                <a:effectLst/>
                <a:latin typeface="Helvetica" pitchFamily="2" charset="0"/>
              </a:rPr>
              <a:t>The right panel shows the same data on a log-log scale: the standard deviation of Sᵢ versus N. The dashed black</a:t>
            </a:r>
          </a:p>
          <a:p>
            <a:r>
              <a:rPr lang="en-US" dirty="0">
                <a:solidFill>
                  <a:srgbClr val="141414"/>
                </a:solidFill>
                <a:effectLst/>
                <a:latin typeface="Helvetica" pitchFamily="2" charset="0"/>
              </a:rPr>
              <a:t>line is the theoretical 1 over square root of N reference. All four parameters decay parallel to this reference —</a:t>
            </a:r>
            <a:endParaRPr lang="en-US" dirty="0"/>
          </a:p>
          <a:p>
            <a:r>
              <a:rPr lang="en-US" dirty="0">
                <a:solidFill>
                  <a:srgbClr val="141414"/>
                </a:solidFill>
                <a:effectLst/>
                <a:latin typeface="Helvetica" pitchFamily="2" charset="0"/>
              </a:rPr>
              <a:t>textbook Monte Carlo behavior. That tells me the implementation is correct, and tells me how to choose N for</a:t>
            </a:r>
          </a:p>
          <a:p>
            <a:r>
              <a:rPr lang="en-US" dirty="0">
                <a:solidFill>
                  <a:srgbClr val="141414"/>
                </a:solidFill>
                <a:effectLst/>
                <a:latin typeface="Helvetica" pitchFamily="2" charset="0"/>
              </a:rPr>
              <a:t>production.</a:t>
            </a:r>
          </a:p>
          <a:p>
            <a:r>
              <a:rPr lang="en-US" dirty="0">
                <a:solidFill>
                  <a:srgbClr val="141414"/>
                </a:solidFill>
                <a:effectLst/>
                <a:latin typeface="Helvetica" pitchFamily="2" charset="0"/>
              </a:rPr>
              <a:t>At N equals 10⁶, the standard deviation of any Sᵢ is below 0.005, well below the cross-protocol differences I’m</a:t>
            </a:r>
          </a:p>
          <a:p>
            <a:r>
              <a:rPr lang="en-US" dirty="0">
                <a:solidFill>
                  <a:srgbClr val="141414"/>
                </a:solidFill>
                <a:effectLst/>
                <a:latin typeface="Helvetica" pitchFamily="2" charset="0"/>
              </a:rPr>
              <a:t>trying to resolve. So 10⁶ is the production sample size.</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26</a:t>
            </a:fld>
            <a:endParaRPr lang="en-US"/>
          </a:p>
        </p:txBody>
      </p:sp>
    </p:spTree>
    <p:extLst>
      <p:ext uri="{BB962C8B-B14F-4D97-AF65-F5344CB8AC3E}">
        <p14:creationId xmlns:p14="http://schemas.microsoft.com/office/powerpoint/2010/main" val="432198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solidFill>
                <a:srgbClr val="474747"/>
              </a:solidFill>
              <a:effectLst/>
              <a:latin typeface="Carlito"/>
            </a:endParaRPr>
          </a:p>
          <a:p>
            <a:r>
              <a:rPr lang="en-US" dirty="0">
                <a:solidFill>
                  <a:srgbClr val="141414"/>
                </a:solidFill>
                <a:effectLst/>
                <a:latin typeface="Helvetica" pitchFamily="2" charset="0"/>
              </a:rPr>
              <a:t>Left panel — first-order indices. Right panel — total-effect indices. In each panel, four bar groups for the four</a:t>
            </a:r>
          </a:p>
          <a:p>
            <a:r>
              <a:rPr lang="en-US" dirty="0">
                <a:solidFill>
                  <a:srgbClr val="141414"/>
                </a:solidFill>
                <a:effectLst/>
                <a:latin typeface="Helvetica" pitchFamily="2" charset="0"/>
              </a:rPr>
              <a:t>parameters c, k₁, k₂, </a:t>
            </a:r>
            <a:r>
              <a:rPr lang="el-GR" dirty="0">
                <a:solidFill>
                  <a:srgbClr val="141414"/>
                </a:solidFill>
                <a:effectLst/>
                <a:latin typeface="Helvetica" pitchFamily="2" charset="0"/>
              </a:rPr>
              <a:t>α. </a:t>
            </a:r>
            <a:r>
              <a:rPr lang="en-US" dirty="0">
                <a:solidFill>
                  <a:srgbClr val="141414"/>
                </a:solidFill>
                <a:effectLst/>
                <a:latin typeface="Helvetica" pitchFamily="2" charset="0"/>
              </a:rPr>
              <a:t>Within each group, four bars: blue for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green for 1:0.75 off-biaxial, orange for</a:t>
            </a:r>
          </a:p>
          <a:p>
            <a:r>
              <a:rPr lang="en-US" dirty="0">
                <a:solidFill>
                  <a:srgbClr val="141414"/>
                </a:solidFill>
                <a:effectLst/>
                <a:latin typeface="Helvetica" pitchFamily="2" charset="0"/>
              </a:rPr>
              <a:t>1:0.5 off-biaxial, and red for uniaxial. The thin error bars are 95 percent bootstrap confidence intervals from 200</a:t>
            </a:r>
          </a:p>
          <a:p>
            <a:r>
              <a:rPr lang="en-US" dirty="0">
                <a:solidFill>
                  <a:srgbClr val="141414"/>
                </a:solidFill>
                <a:effectLst/>
                <a:latin typeface="Helvetica" pitchFamily="2" charset="0"/>
              </a:rPr>
              <a:t>bootstrap resamples.</a:t>
            </a:r>
          </a:p>
          <a:p>
            <a:r>
              <a:rPr lang="en-US" dirty="0">
                <a:solidFill>
                  <a:srgbClr val="141414"/>
                </a:solidFill>
                <a:effectLst/>
                <a:latin typeface="Helvetica" pitchFamily="2" charset="0"/>
              </a:rPr>
              <a:t>Now, read across the parameters.</a:t>
            </a:r>
          </a:p>
          <a:p>
            <a:r>
              <a:rPr lang="en-US" dirty="0">
                <a:solidFill>
                  <a:srgbClr val="000000"/>
                </a:solidFill>
                <a:effectLst/>
                <a:latin typeface="Helvetica" pitchFamily="2" charset="0"/>
              </a:rPr>
              <a:t>• </a:t>
            </a:r>
            <a:r>
              <a:rPr lang="en-US" dirty="0">
                <a:solidFill>
                  <a:srgbClr val="141414"/>
                </a:solidFill>
                <a:effectLst/>
                <a:latin typeface="Helvetica" pitchFamily="2" charset="0"/>
              </a:rPr>
              <a:t>Look at c on the far left. 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loading, </a:t>
            </a:r>
            <a:r>
              <a:rPr lang="en-US" dirty="0" err="1">
                <a:solidFill>
                  <a:srgbClr val="141414"/>
                </a:solidFill>
                <a:effectLst/>
                <a:latin typeface="Helvetica" pitchFamily="2" charset="0"/>
              </a:rPr>
              <a:t>S_c</a:t>
            </a:r>
            <a:r>
              <a:rPr lang="en-US" dirty="0">
                <a:solidFill>
                  <a:srgbClr val="141414"/>
                </a:solidFill>
                <a:effectLst/>
                <a:latin typeface="Helvetica" pitchFamily="2" charset="0"/>
              </a:rPr>
              <a:t> is essentially zero — about 0.03. Under uniaxial</a:t>
            </a:r>
          </a:p>
          <a:p>
            <a:r>
              <a:rPr lang="en-US" dirty="0">
                <a:solidFill>
                  <a:srgbClr val="141414"/>
                </a:solidFill>
                <a:effectLst/>
                <a:latin typeface="Helvetica" pitchFamily="2" charset="0"/>
              </a:rPr>
              <a:t>loading, it jumps up to 0.28. So the matrix stiffness c is invisible if you only do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testing.</a:t>
            </a:r>
          </a:p>
          <a:p>
            <a:r>
              <a:rPr lang="en-US" dirty="0">
                <a:solidFill>
                  <a:srgbClr val="000000"/>
                </a:solidFill>
                <a:effectLst/>
                <a:latin typeface="Helvetica" pitchFamily="2" charset="0"/>
              </a:rPr>
              <a:t>• </a:t>
            </a:r>
            <a:r>
              <a:rPr lang="en-US" dirty="0">
                <a:solidFill>
                  <a:srgbClr val="141414"/>
                </a:solidFill>
                <a:effectLst/>
                <a:latin typeface="Helvetica" pitchFamily="2" charset="0"/>
              </a:rPr>
              <a:t>k₁ next. Robustly identifiable across all four protocols — this is the most well-behaved parameter. Sᵢ</a:t>
            </a:r>
          </a:p>
          <a:p>
            <a:r>
              <a:rPr lang="en-US" dirty="0">
                <a:solidFill>
                  <a:srgbClr val="141414"/>
                </a:solidFill>
                <a:effectLst/>
                <a:latin typeface="Helvetica" pitchFamily="2" charset="0"/>
              </a:rPr>
              <a:t>between 0.17 and 0.29 in every protocol.</a:t>
            </a:r>
          </a:p>
          <a:p>
            <a:r>
              <a:rPr lang="en-US" dirty="0">
                <a:solidFill>
                  <a:srgbClr val="000000"/>
                </a:solidFill>
                <a:effectLst/>
                <a:latin typeface="Helvetica" pitchFamily="2" charset="0"/>
              </a:rPr>
              <a:t>• </a:t>
            </a:r>
            <a:r>
              <a:rPr lang="en-US" dirty="0">
                <a:solidFill>
                  <a:srgbClr val="141414"/>
                </a:solidFill>
                <a:effectLst/>
                <a:latin typeface="Helvetica" pitchFamily="2" charset="0"/>
              </a:rPr>
              <a:t>k₂ — the fiber nonlinearity. Dominant 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at 0.39, but collapses to 0.03 under uniaxial. The</a:t>
            </a:r>
          </a:p>
          <a:p>
            <a:r>
              <a:rPr lang="en-US" dirty="0">
                <a:solidFill>
                  <a:srgbClr val="141414"/>
                </a:solidFill>
                <a:effectLst/>
                <a:latin typeface="Helvetica" pitchFamily="2" charset="0"/>
              </a:rPr>
              <a:t>opposite trend from c. So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is the natural test for k₂.</a:t>
            </a:r>
          </a:p>
          <a:p>
            <a:r>
              <a:rPr lang="en-US" dirty="0">
                <a:solidFill>
                  <a:srgbClr val="000000"/>
                </a:solidFill>
                <a:effectLst/>
                <a:latin typeface="Helvetica" pitchFamily="2" charset="0"/>
              </a:rPr>
              <a:t>• </a:t>
            </a:r>
            <a:r>
              <a:rPr lang="en-US" dirty="0">
                <a:solidFill>
                  <a:srgbClr val="141414"/>
                </a:solidFill>
                <a:effectLst/>
                <a:latin typeface="Helvetica" pitchFamily="2" charset="0"/>
              </a:rPr>
              <a:t>And finally </a:t>
            </a:r>
            <a:r>
              <a:rPr lang="el-GR" dirty="0">
                <a:solidFill>
                  <a:srgbClr val="141414"/>
                </a:solidFill>
                <a:effectLst/>
                <a:latin typeface="Helvetica" pitchFamily="2" charset="0"/>
              </a:rPr>
              <a:t>α — </a:t>
            </a:r>
            <a:r>
              <a:rPr lang="en-US" dirty="0">
                <a:solidFill>
                  <a:srgbClr val="141414"/>
                </a:solidFill>
                <a:effectLst/>
                <a:latin typeface="Helvetica" pitchFamily="2" charset="0"/>
              </a:rPr>
              <a:t>the parameter that motivated this entire project. Barely identifiable under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at</a:t>
            </a:r>
          </a:p>
          <a:p>
            <a:r>
              <a:rPr lang="en-US" dirty="0">
                <a:solidFill>
                  <a:srgbClr val="141414"/>
                </a:solidFill>
                <a:effectLst/>
                <a:latin typeface="Helvetica" pitchFamily="2" charset="0"/>
              </a:rPr>
              <a:t>0.08. But under uniaxial it climbs to 0.31, becoming one of the dominant parameters. This is the</a:t>
            </a:r>
          </a:p>
          <a:p>
            <a:r>
              <a:rPr lang="en-US" dirty="0">
                <a:solidFill>
                  <a:srgbClr val="141414"/>
                </a:solidFill>
                <a:effectLst/>
                <a:latin typeface="Helvetica" pitchFamily="2" charset="0"/>
              </a:rPr>
              <a:t>quantitative explanation for what I observed empirically in my thesis work.</a:t>
            </a:r>
          </a:p>
          <a:p>
            <a:r>
              <a:rPr lang="en-US" dirty="0">
                <a:solidFill>
                  <a:srgbClr val="141414"/>
                </a:solidFill>
                <a:effectLst/>
                <a:latin typeface="Helvetica" pitchFamily="2" charset="0"/>
              </a:rPr>
              <a:t>The take-home message is this: no single loading protocol identifies all four parameters.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is good for</a:t>
            </a:r>
          </a:p>
          <a:p>
            <a:r>
              <a:rPr lang="en-US" dirty="0">
                <a:solidFill>
                  <a:srgbClr val="141414"/>
                </a:solidFill>
                <a:effectLst/>
                <a:latin typeface="Helvetica" pitchFamily="2" charset="0"/>
              </a:rPr>
              <a:t>k₂ but blind to c and </a:t>
            </a:r>
            <a:r>
              <a:rPr lang="el-GR" dirty="0">
                <a:solidFill>
                  <a:srgbClr val="141414"/>
                </a:solidFill>
                <a:effectLst/>
                <a:latin typeface="Helvetica" pitchFamily="2" charset="0"/>
              </a:rPr>
              <a:t>α. </a:t>
            </a:r>
            <a:r>
              <a:rPr lang="en-US" dirty="0">
                <a:solidFill>
                  <a:srgbClr val="141414"/>
                </a:solidFill>
                <a:effectLst/>
                <a:latin typeface="Helvetica" pitchFamily="2" charset="0"/>
              </a:rPr>
              <a:t>Uniaxial is good for c and </a:t>
            </a:r>
            <a:r>
              <a:rPr lang="el-GR" dirty="0">
                <a:solidFill>
                  <a:srgbClr val="141414"/>
                </a:solidFill>
                <a:effectLst/>
                <a:latin typeface="Helvetica" pitchFamily="2" charset="0"/>
              </a:rPr>
              <a:t>α </a:t>
            </a:r>
            <a:r>
              <a:rPr lang="en-US" dirty="0">
                <a:solidFill>
                  <a:srgbClr val="141414"/>
                </a:solidFill>
                <a:effectLst/>
                <a:latin typeface="Helvetica" pitchFamily="2" charset="0"/>
              </a:rPr>
              <a:t>but blind to k₂. Multi-protocol fitting is necessary if you want</a:t>
            </a:r>
          </a:p>
          <a:p>
            <a:r>
              <a:rPr lang="en-US" dirty="0">
                <a:solidFill>
                  <a:srgbClr val="141414"/>
                </a:solidFill>
                <a:effectLst/>
                <a:latin typeface="Helvetica" pitchFamily="2" charset="0"/>
              </a:rPr>
              <a:t>a complete parameter set</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28</a:t>
            </a:fld>
            <a:endParaRPr lang="en-US"/>
          </a:p>
        </p:txBody>
      </p:sp>
    </p:spTree>
    <p:extLst>
      <p:ext uri="{BB962C8B-B14F-4D97-AF65-F5344CB8AC3E}">
        <p14:creationId xmlns:p14="http://schemas.microsoft.com/office/powerpoint/2010/main" val="18685766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While the previous slide compared protocols at one fixed maximum stretch, this one fixes the</a:t>
            </a:r>
          </a:p>
          <a:p>
            <a:r>
              <a:rPr lang="en-US" dirty="0">
                <a:solidFill>
                  <a:srgbClr val="141414"/>
                </a:solidFill>
                <a:effectLst/>
                <a:latin typeface="Helvetica" pitchFamily="2" charset="0"/>
              </a:rPr>
              <a:t>protocol — </a:t>
            </a:r>
            <a:r>
              <a:rPr lang="en-US" dirty="0" err="1">
                <a:solidFill>
                  <a:srgbClr val="141414"/>
                </a:solidFill>
                <a:effectLst/>
                <a:latin typeface="Helvetica" pitchFamily="2" charset="0"/>
              </a:rPr>
              <a:t>equibiaxial</a:t>
            </a:r>
            <a:r>
              <a:rPr lang="en-US" dirty="0">
                <a:solidFill>
                  <a:srgbClr val="141414"/>
                </a:solidFill>
                <a:effectLst/>
                <a:latin typeface="Helvetica" pitchFamily="2" charset="0"/>
              </a:rPr>
              <a:t> — and sweeps the maximum stretch.</a:t>
            </a:r>
          </a:p>
          <a:p>
            <a:endParaRPr lang="en-US" b="1" dirty="0">
              <a:solidFill>
                <a:srgbClr val="474747"/>
              </a:solidFill>
              <a:effectLst/>
              <a:latin typeface="Carlito"/>
            </a:endParaRPr>
          </a:p>
          <a:p>
            <a:r>
              <a:rPr lang="en-US" dirty="0">
                <a:solidFill>
                  <a:srgbClr val="141414"/>
                </a:solidFill>
                <a:effectLst/>
                <a:latin typeface="Helvetica" pitchFamily="2" charset="0"/>
              </a:rPr>
              <a:t>Left panel: first-order Sᵢ as a function of </a:t>
            </a:r>
            <a:r>
              <a:rPr lang="el-GR" dirty="0">
                <a:solidFill>
                  <a:srgbClr val="141414"/>
                </a:solidFill>
                <a:effectLst/>
                <a:latin typeface="Helvetica" pitchFamily="2" charset="0"/>
              </a:rPr>
              <a:t>λ_</a:t>
            </a:r>
            <a:r>
              <a:rPr lang="en-US" dirty="0">
                <a:solidFill>
                  <a:srgbClr val="141414"/>
                </a:solidFill>
                <a:effectLst/>
                <a:latin typeface="Helvetica" pitchFamily="2" charset="0"/>
              </a:rPr>
              <a:t>max. At </a:t>
            </a:r>
            <a:r>
              <a:rPr lang="el-GR" dirty="0">
                <a:solidFill>
                  <a:srgbClr val="141414"/>
                </a:solidFill>
                <a:effectLst/>
                <a:latin typeface="Helvetica" pitchFamily="2" charset="0"/>
              </a:rPr>
              <a:t>λ_</a:t>
            </a:r>
            <a:r>
              <a:rPr lang="en-US" dirty="0">
                <a:solidFill>
                  <a:srgbClr val="141414"/>
                </a:solidFill>
                <a:effectLst/>
                <a:latin typeface="Helvetica" pitchFamily="2" charset="0"/>
              </a:rPr>
              <a:t>max equals 1.05 — small stretch — c dominates with Sᵢ</a:t>
            </a:r>
          </a:p>
          <a:p>
            <a:r>
              <a:rPr lang="en-US" dirty="0">
                <a:solidFill>
                  <a:srgbClr val="141414"/>
                </a:solidFill>
                <a:effectLst/>
                <a:latin typeface="Helvetica" pitchFamily="2" charset="0"/>
              </a:rPr>
              <a:t>around 0.84. The fibers haven’t engaged yet, so you’re basically probing the matrix. As you push </a:t>
            </a:r>
            <a:r>
              <a:rPr lang="el-GR" dirty="0">
                <a:solidFill>
                  <a:srgbClr val="141414"/>
                </a:solidFill>
                <a:effectLst/>
                <a:latin typeface="Helvetica" pitchFamily="2" charset="0"/>
              </a:rPr>
              <a:t>λ_</a:t>
            </a:r>
            <a:r>
              <a:rPr lang="en-US" dirty="0">
                <a:solidFill>
                  <a:srgbClr val="141414"/>
                </a:solidFill>
                <a:effectLst/>
                <a:latin typeface="Helvetica" pitchFamily="2" charset="0"/>
              </a:rPr>
              <a:t>max up to</a:t>
            </a:r>
          </a:p>
          <a:p>
            <a:r>
              <a:rPr lang="en-US" dirty="0">
                <a:solidFill>
                  <a:srgbClr val="141414"/>
                </a:solidFill>
                <a:effectLst/>
                <a:latin typeface="Helvetica" pitchFamily="2" charset="0"/>
              </a:rPr>
              <a:t>1.30, c collapses to 0.03 and k₂ takes over with Sᵢ around 0.39.</a:t>
            </a:r>
          </a:p>
          <a:p>
            <a:endParaRPr lang="en-US" dirty="0"/>
          </a:p>
          <a:p>
            <a:r>
              <a:rPr lang="en-US" dirty="0">
                <a:solidFill>
                  <a:srgbClr val="141414"/>
                </a:solidFill>
                <a:effectLst/>
                <a:latin typeface="Helvetica" pitchFamily="2" charset="0"/>
              </a:rPr>
              <a:t>There’s a clean crossover around </a:t>
            </a:r>
            <a:r>
              <a:rPr lang="el-GR" dirty="0">
                <a:solidFill>
                  <a:srgbClr val="141414"/>
                </a:solidFill>
                <a:effectLst/>
                <a:latin typeface="Helvetica" pitchFamily="2" charset="0"/>
              </a:rPr>
              <a:t>λ_</a:t>
            </a:r>
            <a:r>
              <a:rPr lang="en-US" dirty="0">
                <a:solidFill>
                  <a:srgbClr val="141414"/>
                </a:solidFill>
                <a:effectLst/>
                <a:latin typeface="Helvetica" pitchFamily="2" charset="0"/>
              </a:rPr>
              <a:t>max equals 1.22. That’s the matrix-to-fiber transition, made visible by the</a:t>
            </a:r>
          </a:p>
          <a:p>
            <a:r>
              <a:rPr lang="en-US" dirty="0">
                <a:solidFill>
                  <a:srgbClr val="141414"/>
                </a:solidFill>
                <a:effectLst/>
                <a:latin typeface="Helvetica" pitchFamily="2" charset="0"/>
              </a:rPr>
              <a:t>sensitivity data. Below that, you’re in the matrix-dominated regime. Above, you’re in the fiber-dominated</a:t>
            </a:r>
          </a:p>
          <a:p>
            <a:r>
              <a:rPr lang="en-US" dirty="0">
                <a:solidFill>
                  <a:srgbClr val="141414"/>
                </a:solidFill>
                <a:effectLst/>
                <a:latin typeface="Helvetica" pitchFamily="2" charset="0"/>
              </a:rPr>
              <a:t>regime.</a:t>
            </a:r>
          </a:p>
          <a:p>
            <a:r>
              <a:rPr lang="en-US" dirty="0">
                <a:solidFill>
                  <a:srgbClr val="141414"/>
                </a:solidFill>
                <a:effectLst/>
                <a:latin typeface="Helvetica" pitchFamily="2" charset="0"/>
              </a:rPr>
              <a:t>The right panel shows the total-effect indices. Same story, with </a:t>
            </a:r>
            <a:r>
              <a:rPr lang="el-GR" dirty="0">
                <a:solidFill>
                  <a:srgbClr val="141414"/>
                </a:solidFill>
                <a:effectLst/>
                <a:latin typeface="Helvetica" pitchFamily="2" charset="0"/>
              </a:rPr>
              <a:t>α </a:t>
            </a:r>
            <a:r>
              <a:rPr lang="en-US" dirty="0">
                <a:solidFill>
                  <a:srgbClr val="141414"/>
                </a:solidFill>
                <a:effectLst/>
                <a:latin typeface="Helvetica" pitchFamily="2" charset="0"/>
              </a:rPr>
              <a:t>revealing some interaction-mediated</a:t>
            </a:r>
          </a:p>
          <a:p>
            <a:r>
              <a:rPr lang="en-US" dirty="0">
                <a:solidFill>
                  <a:srgbClr val="141414"/>
                </a:solidFill>
                <a:effectLst/>
                <a:latin typeface="Helvetica" pitchFamily="2" charset="0"/>
              </a:rPr>
              <a:t>contribution — its Sᵢ stays around 0.15 across </a:t>
            </a:r>
            <a:r>
              <a:rPr lang="el-GR" dirty="0">
                <a:solidFill>
                  <a:srgbClr val="141414"/>
                </a:solidFill>
                <a:effectLst/>
                <a:latin typeface="Helvetica" pitchFamily="2" charset="0"/>
              </a:rPr>
              <a:t>λ_</a:t>
            </a:r>
            <a:r>
              <a:rPr lang="en-US" dirty="0">
                <a:solidFill>
                  <a:srgbClr val="141414"/>
                </a:solidFill>
                <a:effectLst/>
                <a:latin typeface="Helvetica" pitchFamily="2" charset="0"/>
              </a:rPr>
              <a:t>max even though its Sᵢ is small. </a:t>
            </a:r>
            <a:r>
              <a:rPr lang="en-US" dirty="0">
                <a:solidFill>
                  <a:srgbClr val="141414"/>
                </a:solidFill>
                <a:effectLst/>
                <a:latin typeface="DejaVu Sans" panose="020B0603030804020204" pitchFamily="34" charset="0"/>
              </a:rPr>
              <a:t>ₜ</a:t>
            </a:r>
            <a:endParaRPr lang="en-US" dirty="0">
              <a:solidFill>
                <a:srgbClr val="141414"/>
              </a:solidFill>
              <a:effectLst/>
              <a:latin typeface="Helvetica" pitchFamily="2" charset="0"/>
            </a:endParaRPr>
          </a:p>
          <a:p>
            <a:r>
              <a:rPr lang="en-US" dirty="0">
                <a:solidFill>
                  <a:srgbClr val="141414"/>
                </a:solidFill>
                <a:effectLst/>
                <a:latin typeface="Helvetica" pitchFamily="2" charset="0"/>
              </a:rPr>
              <a:t>Practical implication: the stretch range you test controls which parameters you can identify. A test that only</a:t>
            </a:r>
          </a:p>
          <a:p>
            <a:r>
              <a:rPr lang="en-US" dirty="0">
                <a:solidFill>
                  <a:srgbClr val="141414"/>
                </a:solidFill>
                <a:effectLst/>
                <a:latin typeface="Helvetica" pitchFamily="2" charset="0"/>
              </a:rPr>
              <a:t>goes up to </a:t>
            </a:r>
            <a:r>
              <a:rPr lang="el-GR" dirty="0">
                <a:solidFill>
                  <a:srgbClr val="141414"/>
                </a:solidFill>
                <a:effectLst/>
                <a:latin typeface="Helvetica" pitchFamily="2" charset="0"/>
              </a:rPr>
              <a:t>λ </a:t>
            </a:r>
            <a:r>
              <a:rPr lang="en-US" dirty="0">
                <a:solidFill>
                  <a:srgbClr val="141414"/>
                </a:solidFill>
                <a:effectLst/>
                <a:latin typeface="Helvetica" pitchFamily="2" charset="0"/>
              </a:rPr>
              <a:t>around 1.10 will be effectively blind to fiber parameters.</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29</a:t>
            </a:fld>
            <a:endParaRPr lang="en-US"/>
          </a:p>
        </p:txBody>
      </p:sp>
    </p:spTree>
    <p:extLst>
      <p:ext uri="{BB962C8B-B14F-4D97-AF65-F5344CB8AC3E}">
        <p14:creationId xmlns:p14="http://schemas.microsoft.com/office/powerpoint/2010/main" val="20773622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141414"/>
                </a:solidFill>
                <a:effectLst/>
                <a:latin typeface="Helvetica" pitchFamily="2" charset="0"/>
              </a:rPr>
              <a:t>Strong scaling result on Nova. The left plot shows wall time on a log-log scale. The dashed black line is ideal</a:t>
            </a:r>
          </a:p>
          <a:p>
            <a:r>
              <a:rPr lang="en-US" dirty="0">
                <a:solidFill>
                  <a:srgbClr val="141414"/>
                </a:solidFill>
                <a:effectLst/>
                <a:latin typeface="Helvetica" pitchFamily="2" charset="0"/>
              </a:rPr>
              <a:t>scaling — perfect linear speedup. The blue curve with markers is the expected performance based on calibration</a:t>
            </a:r>
          </a:p>
          <a:p>
            <a:r>
              <a:rPr lang="en-US" dirty="0">
                <a:solidFill>
                  <a:srgbClr val="141414"/>
                </a:solidFill>
                <a:effectLst/>
                <a:latin typeface="Helvetica" pitchFamily="2" charset="0"/>
              </a:rPr>
              <a:t>runs. The agreement is tight: the blue is just barely above the ideal line.</a:t>
            </a:r>
          </a:p>
          <a:p>
            <a:endParaRPr lang="en-US" b="1" dirty="0">
              <a:solidFill>
                <a:srgbClr val="474747"/>
              </a:solidFill>
              <a:effectLst/>
              <a:latin typeface="Carlito"/>
            </a:endParaRPr>
          </a:p>
          <a:p>
            <a:r>
              <a:rPr lang="en-US" dirty="0">
                <a:solidFill>
                  <a:srgbClr val="141414"/>
                </a:solidFill>
                <a:effectLst/>
                <a:latin typeface="Helvetica" pitchFamily="2" charset="0"/>
              </a:rPr>
              <a:t>The right plot shows speedup on linear axes. Ideal speedup is the dashed diagonal. Expected speedup tracks at</a:t>
            </a:r>
          </a:p>
          <a:p>
            <a:r>
              <a:rPr lang="en-US" dirty="0">
                <a:solidFill>
                  <a:srgbClr val="141414"/>
                </a:solidFill>
                <a:effectLst/>
                <a:latin typeface="Helvetica" pitchFamily="2" charset="0"/>
              </a:rPr>
              <a:t>about 92 percent efficiency at sixteen cores, with a slight further fall-off at thirty-two cores.</a:t>
            </a:r>
          </a:p>
          <a:p>
            <a:r>
              <a:rPr lang="en-US" dirty="0">
                <a:solidFill>
                  <a:srgbClr val="141414"/>
                </a:solidFill>
                <a:effectLst/>
                <a:latin typeface="Helvetica" pitchFamily="2" charset="0"/>
              </a:rPr>
              <a:t>In concrete numbers: the full computation — N equals 10⁶ samples across all four loading protocols — drops</a:t>
            </a:r>
          </a:p>
          <a:p>
            <a:r>
              <a:rPr lang="en-US" dirty="0">
                <a:solidFill>
                  <a:srgbClr val="141414"/>
                </a:solidFill>
                <a:effectLst/>
                <a:latin typeface="Helvetica" pitchFamily="2" charset="0"/>
              </a:rPr>
              <a:t>from about 50 seconds on a single core to about 2 seconds on 32 cores. Near-linear scaling, exactly as the</a:t>
            </a:r>
          </a:p>
          <a:p>
            <a:r>
              <a:rPr lang="en-US" dirty="0">
                <a:solidFill>
                  <a:srgbClr val="141414"/>
                </a:solidFill>
                <a:effectLst/>
                <a:latin typeface="Helvetica" pitchFamily="2" charset="0"/>
              </a:rPr>
              <a:t>communication analysis a few slides back predicted. The minimal communication budget — one </a:t>
            </a:r>
            <a:r>
              <a:rPr lang="en-US" dirty="0" err="1">
                <a:solidFill>
                  <a:srgbClr val="141414"/>
                </a:solidFill>
                <a:effectLst/>
                <a:latin typeface="Helvetica" pitchFamily="2" charset="0"/>
              </a:rPr>
              <a:t>Bcast</a:t>
            </a:r>
            <a:r>
              <a:rPr lang="en-US" dirty="0">
                <a:solidFill>
                  <a:srgbClr val="141414"/>
                </a:solidFill>
                <a:effectLst/>
                <a:latin typeface="Helvetica" pitchFamily="2" charset="0"/>
              </a:rPr>
              <a:t> and one</a:t>
            </a:r>
          </a:p>
          <a:p>
            <a:r>
              <a:rPr lang="en-US" dirty="0">
                <a:solidFill>
                  <a:srgbClr val="141414"/>
                </a:solidFill>
                <a:effectLst/>
                <a:latin typeface="Helvetica" pitchFamily="2" charset="0"/>
              </a:rPr>
              <a:t>Gather — is what makes this possible.</a:t>
            </a:r>
          </a:p>
          <a:p>
            <a:endParaRPr lang="en-US" dirty="0"/>
          </a:p>
        </p:txBody>
      </p:sp>
      <p:sp>
        <p:nvSpPr>
          <p:cNvPr id="4" name="Slide Number Placeholder 3"/>
          <p:cNvSpPr>
            <a:spLocks noGrp="1"/>
          </p:cNvSpPr>
          <p:nvPr>
            <p:ph type="sldNum" sz="quarter" idx="5"/>
          </p:nvPr>
        </p:nvSpPr>
        <p:spPr/>
        <p:txBody>
          <a:bodyPr/>
          <a:lstStyle/>
          <a:p>
            <a:fld id="{9D1A41FB-0BC0-3348-8414-7F2833672A24}" type="slidenum">
              <a:rPr lang="en-US" smtClean="0"/>
              <a:t>30</a:t>
            </a:fld>
            <a:endParaRPr lang="en-US"/>
          </a:p>
        </p:txBody>
      </p:sp>
    </p:spTree>
    <p:extLst>
      <p:ext uri="{BB962C8B-B14F-4D97-AF65-F5344CB8AC3E}">
        <p14:creationId xmlns:p14="http://schemas.microsoft.com/office/powerpoint/2010/main" val="3026592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FED675FC-5B1B-7975-AA63-44323DE77FD7}"/>
              </a:ext>
            </a:extLst>
          </p:cNvPr>
          <p:cNvSpPr>
            <a:spLocks noGrp="1"/>
          </p:cNvSpPr>
          <p:nvPr>
            <p:ph type="dt" sz="half" idx="2"/>
          </p:nvPr>
        </p:nvSpPr>
        <p:spPr>
          <a:xfrm>
            <a:off x="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3EB624-BCBE-7041-8EDF-4F3B3C169249}" type="datetimeFigureOut">
              <a:rPr lang="en-US" smtClean="0"/>
              <a:t>5/4/26</a:t>
            </a:fld>
            <a:endParaRPr lang="en-US"/>
          </a:p>
        </p:txBody>
      </p:sp>
      <p:sp>
        <p:nvSpPr>
          <p:cNvPr id="8" name="Footer Placeholder 4">
            <a:extLst>
              <a:ext uri="{FF2B5EF4-FFF2-40B4-BE49-F238E27FC236}">
                <a16:creationId xmlns:a16="http://schemas.microsoft.com/office/drawing/2014/main" id="{D7A12D51-12B9-0E8D-7FF9-084237331305}"/>
              </a:ext>
            </a:extLst>
          </p:cNvPr>
          <p:cNvSpPr>
            <a:spLocks noGrp="1"/>
          </p:cNvSpPr>
          <p:nvPr>
            <p:ph type="ftr" sz="quarter" idx="3"/>
          </p:nvPr>
        </p:nvSpPr>
        <p:spPr>
          <a:xfrm>
            <a:off x="4038596" y="649287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Slide Number Placeholder 5">
            <a:extLst>
              <a:ext uri="{FF2B5EF4-FFF2-40B4-BE49-F238E27FC236}">
                <a16:creationId xmlns:a16="http://schemas.microsoft.com/office/drawing/2014/main" id="{BB72F623-9A42-5274-8047-9A7AD4B95A1A}"/>
              </a:ext>
            </a:extLst>
          </p:cNvPr>
          <p:cNvSpPr>
            <a:spLocks noGrp="1"/>
          </p:cNvSpPr>
          <p:nvPr>
            <p:ph type="sldNum" sz="quarter" idx="4"/>
          </p:nvPr>
        </p:nvSpPr>
        <p:spPr>
          <a:xfrm>
            <a:off x="9448792" y="649287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0CECE-AE85-6942-AE6B-78E8CF72365C}" type="slidenum">
              <a:rPr lang="en-US" smtClean="0"/>
              <a:t>‹#›</a:t>
            </a:fld>
            <a:endParaRPr lang="en-US"/>
          </a:p>
        </p:txBody>
      </p:sp>
      <p:sp>
        <p:nvSpPr>
          <p:cNvPr id="10" name="Rounded Rectangle 9">
            <a:extLst>
              <a:ext uri="{FF2B5EF4-FFF2-40B4-BE49-F238E27FC236}">
                <a16:creationId xmlns:a16="http://schemas.microsoft.com/office/drawing/2014/main" id="{4BB5EA31-0176-1A12-EAE6-FC16FCFAF4D9}"/>
              </a:ext>
            </a:extLst>
          </p:cNvPr>
          <p:cNvSpPr/>
          <p:nvPr userDrawn="1"/>
        </p:nvSpPr>
        <p:spPr>
          <a:xfrm>
            <a:off x="543335" y="740057"/>
            <a:ext cx="11105322" cy="1997727"/>
          </a:xfrm>
          <a:prstGeom prst="roundRect">
            <a:avLst/>
          </a:prstGeom>
          <a:solidFill>
            <a:srgbClr val="C00000"/>
          </a:solidFill>
          <a:ln>
            <a:noFill/>
          </a:ln>
          <a:effectLst>
            <a:outerShdw blurRad="50800" dist="50800" dir="5400000" sx="100431" sy="100431" algn="ctr" rotWithShape="0">
              <a:srgbClr val="000000">
                <a:alpha val="3622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D04D0A1A-AD3C-13DD-08A7-5F8CB0775D7B}"/>
              </a:ext>
            </a:extLst>
          </p:cNvPr>
          <p:cNvSpPr txBox="1"/>
          <p:nvPr userDrawn="1"/>
        </p:nvSpPr>
        <p:spPr>
          <a:xfrm>
            <a:off x="5188537" y="3198167"/>
            <a:ext cx="2069797"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Ranabir Saha</a:t>
            </a:r>
          </a:p>
        </p:txBody>
      </p:sp>
      <p:sp>
        <p:nvSpPr>
          <p:cNvPr id="12" name="TextBox 11">
            <a:extLst>
              <a:ext uri="{FF2B5EF4-FFF2-40B4-BE49-F238E27FC236}">
                <a16:creationId xmlns:a16="http://schemas.microsoft.com/office/drawing/2014/main" id="{B3732DC6-C42A-D3EF-E860-556FEB255C9D}"/>
              </a:ext>
            </a:extLst>
          </p:cNvPr>
          <p:cNvSpPr txBox="1"/>
          <p:nvPr userDrawn="1"/>
        </p:nvSpPr>
        <p:spPr>
          <a:xfrm>
            <a:off x="3467714" y="3753446"/>
            <a:ext cx="5511445" cy="1569660"/>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Graduate Research Assistant</a:t>
            </a:r>
          </a:p>
          <a:p>
            <a:pPr algn="ctr"/>
            <a:r>
              <a:rPr lang="en-US" sz="2400" dirty="0">
                <a:latin typeface="Arial" panose="020B0604020202020204" pitchFamily="34" charset="0"/>
                <a:cs typeface="Arial" panose="020B0604020202020204" pitchFamily="34" charset="0"/>
              </a:rPr>
              <a:t>Department of Mechanical Engineering</a:t>
            </a:r>
          </a:p>
          <a:p>
            <a:pPr algn="ctr"/>
            <a:r>
              <a:rPr lang="en-US" sz="2400" dirty="0">
                <a:latin typeface="Arial" panose="020B0604020202020204" pitchFamily="34" charset="0"/>
                <a:cs typeface="Arial" panose="020B0604020202020204" pitchFamily="34" charset="0"/>
              </a:rPr>
              <a:t>Iowa State University</a:t>
            </a:r>
          </a:p>
          <a:p>
            <a:pPr algn="ctr"/>
            <a:r>
              <a:rPr lang="en-US" sz="2400" i="1" dirty="0" err="1">
                <a:latin typeface="Arial" panose="020B0604020202020204" pitchFamily="34" charset="0"/>
                <a:cs typeface="Arial" panose="020B0604020202020204" pitchFamily="34" charset="0"/>
              </a:rPr>
              <a:t>ranabir@iastate.edu</a:t>
            </a:r>
            <a:endParaRPr lang="en-US" sz="2400" i="1"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E04F02FC-A4EF-1617-BAE8-5BC2B3A14D2C}"/>
              </a:ext>
            </a:extLst>
          </p:cNvPr>
          <p:cNvSpPr txBox="1"/>
          <p:nvPr userDrawn="1"/>
        </p:nvSpPr>
        <p:spPr>
          <a:xfrm>
            <a:off x="4700430" y="5469033"/>
            <a:ext cx="3046027"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12</a:t>
            </a:r>
            <a:r>
              <a:rPr lang="en-US" sz="2400" baseline="300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 November’ 2025</a:t>
            </a:r>
          </a:p>
        </p:txBody>
      </p:sp>
    </p:spTree>
    <p:extLst>
      <p:ext uri="{BB962C8B-B14F-4D97-AF65-F5344CB8AC3E}">
        <p14:creationId xmlns:p14="http://schemas.microsoft.com/office/powerpoint/2010/main" val="3642558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252D828-5E70-71BD-C9F8-5C86A3E5FC2B}"/>
              </a:ext>
            </a:extLst>
          </p:cNvPr>
          <p:cNvCxnSpPr/>
          <p:nvPr userDrawn="1"/>
        </p:nvCxnSpPr>
        <p:spPr>
          <a:xfrm>
            <a:off x="0" y="960630"/>
            <a:ext cx="7525407"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A229A0-70D8-FC5C-29B2-526FDD1770BE}"/>
              </a:ext>
            </a:extLst>
          </p:cNvPr>
          <p:cNvCxnSpPr/>
          <p:nvPr userDrawn="1"/>
        </p:nvCxnSpPr>
        <p:spPr>
          <a:xfrm>
            <a:off x="0" y="960630"/>
            <a:ext cx="7525407"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AB611DB5-B7F7-C87F-DB4D-C9CD1C14D8BD}"/>
              </a:ext>
            </a:extLst>
          </p:cNvPr>
          <p:cNvSpPr>
            <a:spLocks noGrp="1"/>
          </p:cNvSpPr>
          <p:nvPr>
            <p:ph type="title"/>
          </p:nvPr>
        </p:nvSpPr>
        <p:spPr>
          <a:xfrm>
            <a:off x="0" y="-1"/>
            <a:ext cx="12192000" cy="960519"/>
          </a:xfrm>
          <a:prstGeom prst="rect">
            <a:avLst/>
          </a:prstGeom>
        </p:spPr>
        <p:txBody>
          <a:bodyPr anchor="ctr"/>
          <a:lstStyle>
            <a:lvl1pPr algn="l">
              <a:defRPr sz="2800" b="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76758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A252D828-5E70-71BD-C9F8-5C86A3E5FC2B}"/>
              </a:ext>
            </a:extLst>
          </p:cNvPr>
          <p:cNvCxnSpPr/>
          <p:nvPr userDrawn="1"/>
        </p:nvCxnSpPr>
        <p:spPr>
          <a:xfrm>
            <a:off x="0" y="960630"/>
            <a:ext cx="7525407"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83FB10A-EE2D-6101-B96D-4E58A662C8D0}"/>
              </a:ext>
            </a:extLst>
          </p:cNvPr>
          <p:cNvSpPr txBox="1"/>
          <p:nvPr userDrawn="1"/>
        </p:nvSpPr>
        <p:spPr>
          <a:xfrm>
            <a:off x="0" y="6473306"/>
            <a:ext cx="12192000" cy="384694"/>
          </a:xfrm>
          <a:prstGeom prst="rect">
            <a:avLst/>
          </a:prstGeom>
          <a:solidFill>
            <a:srgbClr val="C00000"/>
          </a:solidFill>
        </p:spPr>
        <p:txBody>
          <a:bodyPr wrap="square" rtlCol="0">
            <a:spAutoFit/>
          </a:bodyPr>
          <a:lstStyle/>
          <a:p>
            <a:endParaRPr lang="en-US" dirty="0"/>
          </a:p>
        </p:txBody>
      </p:sp>
      <p:cxnSp>
        <p:nvCxnSpPr>
          <p:cNvPr id="9" name="Straight Connector 8">
            <a:extLst>
              <a:ext uri="{FF2B5EF4-FFF2-40B4-BE49-F238E27FC236}">
                <a16:creationId xmlns:a16="http://schemas.microsoft.com/office/drawing/2014/main" id="{3FA229A0-70D8-FC5C-29B2-526FDD1770BE}"/>
              </a:ext>
            </a:extLst>
          </p:cNvPr>
          <p:cNvCxnSpPr/>
          <p:nvPr userDrawn="1"/>
        </p:nvCxnSpPr>
        <p:spPr>
          <a:xfrm>
            <a:off x="0" y="960630"/>
            <a:ext cx="7525407" cy="0"/>
          </a:xfrm>
          <a:prstGeom prst="line">
            <a:avLst/>
          </a:prstGeom>
          <a:ln w="34925">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28F53D3-890F-E6D4-5130-0135A7CCF474}"/>
              </a:ext>
            </a:extLst>
          </p:cNvPr>
          <p:cNvSpPr txBox="1"/>
          <p:nvPr userDrawn="1"/>
        </p:nvSpPr>
        <p:spPr>
          <a:xfrm>
            <a:off x="0" y="6473306"/>
            <a:ext cx="12192000" cy="384694"/>
          </a:xfrm>
          <a:prstGeom prst="rect">
            <a:avLst/>
          </a:prstGeom>
          <a:solidFill>
            <a:srgbClr val="C00000"/>
          </a:solidFill>
        </p:spPr>
        <p:txBody>
          <a:bodyPr wrap="square" rtlCol="0">
            <a:spAutoFit/>
          </a:bodyPr>
          <a:lstStyle/>
          <a:p>
            <a:endParaRPr lang="en-US" dirty="0"/>
          </a:p>
        </p:txBody>
      </p:sp>
      <p:sp>
        <p:nvSpPr>
          <p:cNvPr id="11" name="Title 1">
            <a:extLst>
              <a:ext uri="{FF2B5EF4-FFF2-40B4-BE49-F238E27FC236}">
                <a16:creationId xmlns:a16="http://schemas.microsoft.com/office/drawing/2014/main" id="{AB611DB5-B7F7-C87F-DB4D-C9CD1C14D8BD}"/>
              </a:ext>
            </a:extLst>
          </p:cNvPr>
          <p:cNvSpPr>
            <a:spLocks noGrp="1"/>
          </p:cNvSpPr>
          <p:nvPr>
            <p:ph type="title"/>
          </p:nvPr>
        </p:nvSpPr>
        <p:spPr>
          <a:xfrm>
            <a:off x="0" y="-1"/>
            <a:ext cx="12192000" cy="960519"/>
          </a:xfrm>
          <a:prstGeom prst="rect">
            <a:avLst/>
          </a:prstGeom>
        </p:spPr>
        <p:txBody>
          <a:bodyPr anchor="ctr"/>
          <a:lstStyle>
            <a:lvl1pPr algn="l">
              <a:defRPr sz="2800" b="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67307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AB611DB5-B7F7-C87F-DB4D-C9CD1C14D8BD}"/>
              </a:ext>
            </a:extLst>
          </p:cNvPr>
          <p:cNvSpPr>
            <a:spLocks noGrp="1"/>
          </p:cNvSpPr>
          <p:nvPr>
            <p:ph type="title"/>
          </p:nvPr>
        </p:nvSpPr>
        <p:spPr>
          <a:xfrm>
            <a:off x="0" y="223519"/>
            <a:ext cx="12192000" cy="883921"/>
          </a:xfrm>
          <a:prstGeom prst="rect">
            <a:avLst/>
          </a:prstGeom>
        </p:spPr>
        <p:txBody>
          <a:bodyPr anchor="ctr"/>
          <a:lstStyle>
            <a:lvl1pPr algn="l">
              <a:defRPr sz="2800" b="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grpSp>
        <p:nvGrpSpPr>
          <p:cNvPr id="15" name="Group 14">
            <a:extLst>
              <a:ext uri="{FF2B5EF4-FFF2-40B4-BE49-F238E27FC236}">
                <a16:creationId xmlns:a16="http://schemas.microsoft.com/office/drawing/2014/main" id="{4B45FC81-5387-F817-A583-2B1DA635EAE7}"/>
              </a:ext>
            </a:extLst>
          </p:cNvPr>
          <p:cNvGrpSpPr/>
          <p:nvPr userDrawn="1"/>
        </p:nvGrpSpPr>
        <p:grpSpPr>
          <a:xfrm>
            <a:off x="0" y="-203200"/>
            <a:ext cx="12338326" cy="965200"/>
            <a:chOff x="0" y="-203200"/>
            <a:chExt cx="12338326" cy="965200"/>
          </a:xfrm>
        </p:grpSpPr>
        <p:sp>
          <p:nvSpPr>
            <p:cNvPr id="2" name="Rectangle 1">
              <a:extLst>
                <a:ext uri="{FF2B5EF4-FFF2-40B4-BE49-F238E27FC236}">
                  <a16:creationId xmlns:a16="http://schemas.microsoft.com/office/drawing/2014/main" id="{93D2B309-46F2-3D46-A3AD-9F24FF50E901}"/>
                </a:ext>
              </a:extLst>
            </p:cNvPr>
            <p:cNvSpPr/>
            <p:nvPr userDrawn="1"/>
          </p:nvSpPr>
          <p:spPr>
            <a:xfrm>
              <a:off x="0" y="1"/>
              <a:ext cx="12192000" cy="11176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9692095-D28E-44F5-6983-3D7E645DE22C}"/>
                </a:ext>
              </a:extLst>
            </p:cNvPr>
            <p:cNvSpPr/>
            <p:nvPr userDrawn="1"/>
          </p:nvSpPr>
          <p:spPr>
            <a:xfrm>
              <a:off x="11519452" y="0"/>
              <a:ext cx="672548" cy="5588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red and yellow logo&#10;&#10;Description automatically generated">
              <a:extLst>
                <a:ext uri="{FF2B5EF4-FFF2-40B4-BE49-F238E27FC236}">
                  <a16:creationId xmlns:a16="http://schemas.microsoft.com/office/drawing/2014/main" id="{7705247C-22AA-1F76-B339-13A7115DF121}"/>
                </a:ext>
              </a:extLst>
            </p:cNvPr>
            <p:cNvPicPr>
              <a:picLocks noChangeAspect="1"/>
            </p:cNvPicPr>
            <p:nvPr userDrawn="1"/>
          </p:nvPicPr>
          <p:blipFill>
            <a:blip r:embed="rId2"/>
            <a:stretch>
              <a:fillRect/>
            </a:stretch>
          </p:blipFill>
          <p:spPr>
            <a:xfrm>
              <a:off x="11373126" y="-203200"/>
              <a:ext cx="965200" cy="965200"/>
            </a:xfrm>
            <a:prstGeom prst="rect">
              <a:avLst/>
            </a:prstGeom>
          </p:spPr>
        </p:pic>
      </p:grpSp>
    </p:spTree>
    <p:extLst>
      <p:ext uri="{BB962C8B-B14F-4D97-AF65-F5344CB8AC3E}">
        <p14:creationId xmlns:p14="http://schemas.microsoft.com/office/powerpoint/2010/main" val="4011350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A7D1655F-3581-101A-AAAC-BFB609A293A1}"/>
              </a:ext>
            </a:extLst>
          </p:cNvPr>
          <p:cNvSpPr>
            <a:spLocks noGrp="1"/>
          </p:cNvSpPr>
          <p:nvPr>
            <p:ph type="dt" sz="half" idx="2"/>
          </p:nvPr>
        </p:nvSpPr>
        <p:spPr>
          <a:xfrm>
            <a:off x="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3EB624-BCBE-7041-8EDF-4F3B3C169249}" type="datetimeFigureOut">
              <a:rPr lang="en-US" smtClean="0"/>
              <a:t>5/4/26</a:t>
            </a:fld>
            <a:endParaRPr lang="en-US"/>
          </a:p>
        </p:txBody>
      </p:sp>
      <p:sp>
        <p:nvSpPr>
          <p:cNvPr id="8" name="Footer Placeholder 4">
            <a:extLst>
              <a:ext uri="{FF2B5EF4-FFF2-40B4-BE49-F238E27FC236}">
                <a16:creationId xmlns:a16="http://schemas.microsoft.com/office/drawing/2014/main" id="{378E6A48-D574-5AEC-8D6A-891C3B4AA2E5}"/>
              </a:ext>
            </a:extLst>
          </p:cNvPr>
          <p:cNvSpPr>
            <a:spLocks noGrp="1"/>
          </p:cNvSpPr>
          <p:nvPr>
            <p:ph type="ftr" sz="quarter" idx="3"/>
          </p:nvPr>
        </p:nvSpPr>
        <p:spPr>
          <a:xfrm>
            <a:off x="4038596" y="649287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Slide Number Placeholder 5">
            <a:extLst>
              <a:ext uri="{FF2B5EF4-FFF2-40B4-BE49-F238E27FC236}">
                <a16:creationId xmlns:a16="http://schemas.microsoft.com/office/drawing/2014/main" id="{B46F5511-2327-234F-EA64-00C68893C404}"/>
              </a:ext>
            </a:extLst>
          </p:cNvPr>
          <p:cNvSpPr>
            <a:spLocks noGrp="1"/>
          </p:cNvSpPr>
          <p:nvPr>
            <p:ph type="sldNum" sz="quarter" idx="4"/>
          </p:nvPr>
        </p:nvSpPr>
        <p:spPr>
          <a:xfrm>
            <a:off x="9448792" y="649287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0CECE-AE85-6942-AE6B-78E8CF72365C}" type="slidenum">
              <a:rPr lang="en-US" smtClean="0"/>
              <a:t>‹#›</a:t>
            </a:fld>
            <a:endParaRPr lang="en-US"/>
          </a:p>
        </p:txBody>
      </p:sp>
      <p:sp>
        <p:nvSpPr>
          <p:cNvPr id="10" name="TextBox 9">
            <a:extLst>
              <a:ext uri="{FF2B5EF4-FFF2-40B4-BE49-F238E27FC236}">
                <a16:creationId xmlns:a16="http://schemas.microsoft.com/office/drawing/2014/main" id="{2A619F0E-5308-7362-71A1-B1DA25D482D9}"/>
              </a:ext>
            </a:extLst>
          </p:cNvPr>
          <p:cNvSpPr txBox="1"/>
          <p:nvPr userDrawn="1"/>
        </p:nvSpPr>
        <p:spPr>
          <a:xfrm>
            <a:off x="5188537" y="2987985"/>
            <a:ext cx="2069797"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Ranabir Saha</a:t>
            </a:r>
          </a:p>
        </p:txBody>
      </p:sp>
      <p:sp>
        <p:nvSpPr>
          <p:cNvPr id="11" name="TextBox 10">
            <a:extLst>
              <a:ext uri="{FF2B5EF4-FFF2-40B4-BE49-F238E27FC236}">
                <a16:creationId xmlns:a16="http://schemas.microsoft.com/office/drawing/2014/main" id="{7FB00BFB-540F-4902-11A1-96CF1AF31E7C}"/>
              </a:ext>
            </a:extLst>
          </p:cNvPr>
          <p:cNvSpPr txBox="1"/>
          <p:nvPr userDrawn="1"/>
        </p:nvSpPr>
        <p:spPr>
          <a:xfrm>
            <a:off x="3467712" y="3674511"/>
            <a:ext cx="5511445" cy="1569660"/>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Graduate Research Assistant</a:t>
            </a:r>
          </a:p>
          <a:p>
            <a:pPr algn="ctr"/>
            <a:r>
              <a:rPr lang="en-US" sz="2400" dirty="0">
                <a:latin typeface="Arial" panose="020B0604020202020204" pitchFamily="34" charset="0"/>
                <a:cs typeface="Arial" panose="020B0604020202020204" pitchFamily="34" charset="0"/>
              </a:rPr>
              <a:t>Department of Mechanical Engineering</a:t>
            </a:r>
          </a:p>
          <a:p>
            <a:pPr algn="ctr"/>
            <a:r>
              <a:rPr lang="en-US" sz="2400" dirty="0">
                <a:latin typeface="Arial" panose="020B0604020202020204" pitchFamily="34" charset="0"/>
                <a:cs typeface="Arial" panose="020B0604020202020204" pitchFamily="34" charset="0"/>
              </a:rPr>
              <a:t>Iowa State University</a:t>
            </a:r>
          </a:p>
          <a:p>
            <a:pPr algn="ctr"/>
            <a:r>
              <a:rPr lang="en-US" sz="2400" i="1" dirty="0" err="1">
                <a:latin typeface="Arial" panose="020B0604020202020204" pitchFamily="34" charset="0"/>
                <a:cs typeface="Arial" panose="020B0604020202020204" pitchFamily="34" charset="0"/>
              </a:rPr>
              <a:t>ranabir@iastate.edu</a:t>
            </a:r>
            <a:endParaRPr lang="en-US" sz="2400" i="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31506B60-3491-05C8-1064-EDE08431A67B}"/>
              </a:ext>
            </a:extLst>
          </p:cNvPr>
          <p:cNvSpPr txBox="1"/>
          <p:nvPr userDrawn="1"/>
        </p:nvSpPr>
        <p:spPr>
          <a:xfrm>
            <a:off x="4863927" y="5406857"/>
            <a:ext cx="2719014"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10</a:t>
            </a:r>
            <a:r>
              <a:rPr lang="en-US" sz="2400" baseline="30000" dirty="0">
                <a:latin typeface="Arial" panose="020B0604020202020204" pitchFamily="34" charset="0"/>
                <a:cs typeface="Arial" panose="020B0604020202020204" pitchFamily="34" charset="0"/>
              </a:rPr>
              <a:t>th</a:t>
            </a:r>
            <a:r>
              <a:rPr lang="en-US" sz="2400" dirty="0">
                <a:latin typeface="Arial" panose="020B0604020202020204" pitchFamily="34" charset="0"/>
                <a:cs typeface="Arial" panose="020B0604020202020204" pitchFamily="34" charset="0"/>
              </a:rPr>
              <a:t> October’ 2025</a:t>
            </a:r>
          </a:p>
        </p:txBody>
      </p:sp>
      <p:cxnSp>
        <p:nvCxnSpPr>
          <p:cNvPr id="14" name="Straight Connector 13">
            <a:extLst>
              <a:ext uri="{FF2B5EF4-FFF2-40B4-BE49-F238E27FC236}">
                <a16:creationId xmlns:a16="http://schemas.microsoft.com/office/drawing/2014/main" id="{FC276783-1B24-AB65-571D-ED7913AA867A}"/>
              </a:ext>
            </a:extLst>
          </p:cNvPr>
          <p:cNvCxnSpPr/>
          <p:nvPr userDrawn="1"/>
        </p:nvCxnSpPr>
        <p:spPr>
          <a:xfrm>
            <a:off x="0" y="2743200"/>
            <a:ext cx="1219199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9949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tx1"/>
        </a:solidFill>
        <a:effectLst/>
      </p:bgPr>
    </p:bg>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43EEE9BA-AADD-41CB-37F4-0933CA28C929}"/>
              </a:ext>
            </a:extLst>
          </p:cNvPr>
          <p:cNvSpPr>
            <a:spLocks noGrp="1"/>
          </p:cNvSpPr>
          <p:nvPr>
            <p:ph type="dt" sz="half" idx="2"/>
          </p:nvPr>
        </p:nvSpPr>
        <p:spPr>
          <a:xfrm>
            <a:off x="0" y="6492875"/>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3EB624-BCBE-7041-8EDF-4F3B3C169249}" type="datetimeFigureOut">
              <a:rPr lang="en-US" smtClean="0"/>
              <a:t>5/4/26</a:t>
            </a:fld>
            <a:endParaRPr lang="en-US"/>
          </a:p>
        </p:txBody>
      </p:sp>
      <p:sp>
        <p:nvSpPr>
          <p:cNvPr id="9" name="Footer Placeholder 4">
            <a:extLst>
              <a:ext uri="{FF2B5EF4-FFF2-40B4-BE49-F238E27FC236}">
                <a16:creationId xmlns:a16="http://schemas.microsoft.com/office/drawing/2014/main" id="{AC9B4BFA-9DAA-9920-B0A1-696E407FE64F}"/>
              </a:ext>
            </a:extLst>
          </p:cNvPr>
          <p:cNvSpPr>
            <a:spLocks noGrp="1"/>
          </p:cNvSpPr>
          <p:nvPr>
            <p:ph type="ftr" sz="quarter" idx="3"/>
          </p:nvPr>
        </p:nvSpPr>
        <p:spPr>
          <a:xfrm>
            <a:off x="4038596" y="649287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 name="Slide Number Placeholder 5">
            <a:extLst>
              <a:ext uri="{FF2B5EF4-FFF2-40B4-BE49-F238E27FC236}">
                <a16:creationId xmlns:a16="http://schemas.microsoft.com/office/drawing/2014/main" id="{FE8F4F09-7CA7-AE62-03D5-FE33B3A70584}"/>
              </a:ext>
            </a:extLst>
          </p:cNvPr>
          <p:cNvSpPr>
            <a:spLocks noGrp="1"/>
          </p:cNvSpPr>
          <p:nvPr>
            <p:ph type="sldNum" sz="quarter" idx="4"/>
          </p:nvPr>
        </p:nvSpPr>
        <p:spPr>
          <a:xfrm>
            <a:off x="9448792" y="649287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0CECE-AE85-6942-AE6B-78E8CF72365C}" type="slidenum">
              <a:rPr lang="en-US" smtClean="0"/>
              <a:t>‹#›</a:t>
            </a:fld>
            <a:endParaRPr lang="en-US"/>
          </a:p>
        </p:txBody>
      </p:sp>
      <p:sp>
        <p:nvSpPr>
          <p:cNvPr id="11" name="TextBox 10">
            <a:extLst>
              <a:ext uri="{FF2B5EF4-FFF2-40B4-BE49-F238E27FC236}">
                <a16:creationId xmlns:a16="http://schemas.microsoft.com/office/drawing/2014/main" id="{52EC09AE-F865-ACAA-49FE-2E6BCBA041CA}"/>
              </a:ext>
            </a:extLst>
          </p:cNvPr>
          <p:cNvSpPr txBox="1"/>
          <p:nvPr userDrawn="1"/>
        </p:nvSpPr>
        <p:spPr>
          <a:xfrm>
            <a:off x="5188537" y="2987985"/>
            <a:ext cx="2069797" cy="461665"/>
          </a:xfrm>
          <a:prstGeom prst="rect">
            <a:avLst/>
          </a:prstGeom>
          <a:noFill/>
        </p:spPr>
        <p:txBody>
          <a:bodyPr wrap="none" rtlCol="0">
            <a:spAutoFit/>
          </a:bodyPr>
          <a:lstStyle/>
          <a:p>
            <a:pPr algn="ctr"/>
            <a:r>
              <a:rPr lang="en-US" sz="2400" dirty="0">
                <a:solidFill>
                  <a:schemeClr val="bg1"/>
                </a:solidFill>
                <a:latin typeface="Arial" panose="020B0604020202020204" pitchFamily="34" charset="0"/>
                <a:cs typeface="Arial" panose="020B0604020202020204" pitchFamily="34" charset="0"/>
              </a:rPr>
              <a:t>Ranabir Saha</a:t>
            </a:r>
          </a:p>
        </p:txBody>
      </p:sp>
      <p:sp>
        <p:nvSpPr>
          <p:cNvPr id="12" name="TextBox 11">
            <a:extLst>
              <a:ext uri="{FF2B5EF4-FFF2-40B4-BE49-F238E27FC236}">
                <a16:creationId xmlns:a16="http://schemas.microsoft.com/office/drawing/2014/main" id="{B26E6FAE-C6ED-E0EF-A728-656E47D658B1}"/>
              </a:ext>
            </a:extLst>
          </p:cNvPr>
          <p:cNvSpPr txBox="1"/>
          <p:nvPr userDrawn="1"/>
        </p:nvSpPr>
        <p:spPr>
          <a:xfrm>
            <a:off x="3467712" y="3674511"/>
            <a:ext cx="5511445" cy="1569660"/>
          </a:xfrm>
          <a:prstGeom prst="rect">
            <a:avLst/>
          </a:prstGeom>
          <a:noFill/>
        </p:spPr>
        <p:txBody>
          <a:bodyPr wrap="none" rtlCol="0">
            <a:spAutoFit/>
          </a:bodyPr>
          <a:lstStyle/>
          <a:p>
            <a:pPr algn="ctr"/>
            <a:r>
              <a:rPr lang="en-US" sz="2400" dirty="0">
                <a:solidFill>
                  <a:schemeClr val="bg1"/>
                </a:solidFill>
                <a:latin typeface="Arial" panose="020B0604020202020204" pitchFamily="34" charset="0"/>
                <a:cs typeface="Arial" panose="020B0604020202020204" pitchFamily="34" charset="0"/>
              </a:rPr>
              <a:t>Graduate Research Assistant</a:t>
            </a:r>
          </a:p>
          <a:p>
            <a:pPr algn="ctr"/>
            <a:r>
              <a:rPr lang="en-US" sz="2400" dirty="0">
                <a:solidFill>
                  <a:schemeClr val="bg1"/>
                </a:solidFill>
                <a:latin typeface="Arial" panose="020B0604020202020204" pitchFamily="34" charset="0"/>
                <a:cs typeface="Arial" panose="020B0604020202020204" pitchFamily="34" charset="0"/>
              </a:rPr>
              <a:t>Department of Mechanical Engineering</a:t>
            </a:r>
          </a:p>
          <a:p>
            <a:pPr algn="ctr"/>
            <a:r>
              <a:rPr lang="en-US" sz="2400" dirty="0">
                <a:solidFill>
                  <a:schemeClr val="bg1"/>
                </a:solidFill>
                <a:latin typeface="Arial" panose="020B0604020202020204" pitchFamily="34" charset="0"/>
                <a:cs typeface="Arial" panose="020B0604020202020204" pitchFamily="34" charset="0"/>
              </a:rPr>
              <a:t>Iowa State University</a:t>
            </a:r>
          </a:p>
          <a:p>
            <a:pPr algn="ctr"/>
            <a:r>
              <a:rPr lang="en-US" sz="2400" i="1" dirty="0" err="1">
                <a:solidFill>
                  <a:schemeClr val="bg1"/>
                </a:solidFill>
                <a:latin typeface="Arial" panose="020B0604020202020204" pitchFamily="34" charset="0"/>
                <a:cs typeface="Arial" panose="020B0604020202020204" pitchFamily="34" charset="0"/>
              </a:rPr>
              <a:t>ranabir@iastate.edu</a:t>
            </a:r>
            <a:endParaRPr lang="en-US" sz="2400" i="1" dirty="0">
              <a:solidFill>
                <a:schemeClr val="bg1"/>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04101B40-A388-C7D0-0CCC-D06649B0267B}"/>
              </a:ext>
            </a:extLst>
          </p:cNvPr>
          <p:cNvSpPr txBox="1"/>
          <p:nvPr userDrawn="1"/>
        </p:nvSpPr>
        <p:spPr>
          <a:xfrm>
            <a:off x="5211873" y="5406857"/>
            <a:ext cx="2023119" cy="461665"/>
          </a:xfrm>
          <a:prstGeom prst="rect">
            <a:avLst/>
          </a:prstGeom>
          <a:noFill/>
        </p:spPr>
        <p:txBody>
          <a:bodyPr wrap="none" rtlCol="0">
            <a:spAutoFit/>
          </a:bodyPr>
          <a:lstStyle/>
          <a:p>
            <a:pPr algn="ctr"/>
            <a:r>
              <a:rPr lang="en-US" sz="2400" dirty="0">
                <a:solidFill>
                  <a:schemeClr val="bg1"/>
                </a:solidFill>
                <a:latin typeface="Arial" panose="020B0604020202020204" pitchFamily="34" charset="0"/>
                <a:cs typeface="Arial" panose="020B0604020202020204" pitchFamily="34" charset="0"/>
              </a:rPr>
              <a:t>5</a:t>
            </a:r>
            <a:r>
              <a:rPr lang="en-US" sz="2400" baseline="30000" dirty="0">
                <a:solidFill>
                  <a:schemeClr val="bg1"/>
                </a:solidFill>
                <a:latin typeface="Arial" panose="020B0604020202020204" pitchFamily="34" charset="0"/>
                <a:cs typeface="Arial" panose="020B0604020202020204" pitchFamily="34" charset="0"/>
              </a:rPr>
              <a:t>th</a:t>
            </a:r>
            <a:r>
              <a:rPr lang="en-US" sz="2400" dirty="0">
                <a:solidFill>
                  <a:schemeClr val="bg1"/>
                </a:solidFill>
                <a:latin typeface="Arial" panose="020B0604020202020204" pitchFamily="34" charset="0"/>
                <a:cs typeface="Arial" panose="020B0604020202020204" pitchFamily="34" charset="0"/>
              </a:rPr>
              <a:t> May’ 2026</a:t>
            </a:r>
          </a:p>
        </p:txBody>
      </p:sp>
      <p:cxnSp>
        <p:nvCxnSpPr>
          <p:cNvPr id="14" name="Straight Connector 13">
            <a:extLst>
              <a:ext uri="{FF2B5EF4-FFF2-40B4-BE49-F238E27FC236}">
                <a16:creationId xmlns:a16="http://schemas.microsoft.com/office/drawing/2014/main" id="{63187689-58B8-D093-7AC7-2C453741F25B}"/>
              </a:ext>
            </a:extLst>
          </p:cNvPr>
          <p:cNvCxnSpPr/>
          <p:nvPr userDrawn="1"/>
        </p:nvCxnSpPr>
        <p:spPr>
          <a:xfrm>
            <a:off x="0" y="2743200"/>
            <a:ext cx="12191992" cy="0"/>
          </a:xfrm>
          <a:prstGeom prst="line">
            <a:avLst/>
          </a:prstGeom>
          <a:ln w="44450">
            <a:solidFill>
              <a:srgbClr val="C00000"/>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6EEBC1F-EAEF-310D-7B79-948B3D3D0526}"/>
              </a:ext>
            </a:extLst>
          </p:cNvPr>
          <p:cNvSpPr>
            <a:spLocks noGrp="1"/>
          </p:cNvSpPr>
          <p:nvPr>
            <p:ph type="title"/>
          </p:nvPr>
        </p:nvSpPr>
        <p:spPr>
          <a:xfrm>
            <a:off x="0" y="1363145"/>
            <a:ext cx="12192000" cy="914400"/>
          </a:xfrm>
          <a:prstGeom prst="rect">
            <a:avLst/>
          </a:prstGeom>
        </p:spPr>
        <p:txBody>
          <a:bodyPr anchor="ctr"/>
          <a:lstStyle>
            <a:lvl1pPr algn="ctr">
              <a:defRPr sz="2800" b="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98390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1"/>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5DDCA01F-00C7-B638-E9A9-64861663484B}"/>
              </a:ext>
            </a:extLst>
          </p:cNvPr>
          <p:cNvSpPr>
            <a:spLocks noGrp="1"/>
          </p:cNvSpPr>
          <p:nvPr>
            <p:ph type="title"/>
          </p:nvPr>
        </p:nvSpPr>
        <p:spPr>
          <a:xfrm>
            <a:off x="0" y="0"/>
            <a:ext cx="12192000" cy="914400"/>
          </a:xfrm>
          <a:prstGeom prst="rect">
            <a:avLst/>
          </a:prstGeom>
        </p:spPr>
        <p:txBody>
          <a:bodyPr anchor="ctr"/>
          <a:lstStyle>
            <a:lvl1pPr algn="l">
              <a:defRPr sz="2800" b="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85949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DD4AFD-2C8D-61E4-BE2C-AAC1867A37E6}"/>
              </a:ext>
            </a:extLst>
          </p:cNvPr>
          <p:cNvSpPr/>
          <p:nvPr userDrawn="1"/>
        </p:nvSpPr>
        <p:spPr>
          <a:xfrm>
            <a:off x="0" y="0"/>
            <a:ext cx="12192000" cy="584200"/>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red and yellow logo&#10;&#10;Description automatically generated">
            <a:extLst>
              <a:ext uri="{FF2B5EF4-FFF2-40B4-BE49-F238E27FC236}">
                <a16:creationId xmlns:a16="http://schemas.microsoft.com/office/drawing/2014/main" id="{7389388A-D1F6-4744-2DE9-1E422C235335}"/>
              </a:ext>
            </a:extLst>
          </p:cNvPr>
          <p:cNvPicPr>
            <a:picLocks noChangeAspect="1"/>
          </p:cNvPicPr>
          <p:nvPr userDrawn="1"/>
        </p:nvPicPr>
        <p:blipFill>
          <a:blip r:embed="rId2"/>
          <a:stretch>
            <a:fillRect/>
          </a:stretch>
        </p:blipFill>
        <p:spPr>
          <a:xfrm>
            <a:off x="11373126" y="-203200"/>
            <a:ext cx="965200" cy="965200"/>
          </a:xfrm>
          <a:prstGeom prst="rect">
            <a:avLst/>
          </a:prstGeom>
        </p:spPr>
      </p:pic>
      <p:sp>
        <p:nvSpPr>
          <p:cNvPr id="8" name="Title 1">
            <a:extLst>
              <a:ext uri="{FF2B5EF4-FFF2-40B4-BE49-F238E27FC236}">
                <a16:creationId xmlns:a16="http://schemas.microsoft.com/office/drawing/2014/main" id="{465BC0DB-B495-CC30-10D5-FFE86C003F1C}"/>
              </a:ext>
            </a:extLst>
          </p:cNvPr>
          <p:cNvSpPr>
            <a:spLocks noGrp="1"/>
          </p:cNvSpPr>
          <p:nvPr>
            <p:ph type="title"/>
          </p:nvPr>
        </p:nvSpPr>
        <p:spPr>
          <a:xfrm>
            <a:off x="0" y="3386"/>
            <a:ext cx="12192000" cy="580814"/>
          </a:xfrm>
          <a:prstGeom prst="rect">
            <a:avLst/>
          </a:prstGeom>
        </p:spPr>
        <p:txBody>
          <a:bodyPr anchor="ctr"/>
          <a:lstStyle>
            <a:lvl1pPr algn="l">
              <a:defRPr sz="2800" b="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08967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bg>
      <p:bgRef idx="1001">
        <a:schemeClr val="bg1"/>
      </p:bgRef>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65BC0DB-B495-CC30-10D5-FFE86C003F1C}"/>
              </a:ext>
            </a:extLst>
          </p:cNvPr>
          <p:cNvSpPr>
            <a:spLocks noGrp="1"/>
          </p:cNvSpPr>
          <p:nvPr>
            <p:ph type="title"/>
          </p:nvPr>
        </p:nvSpPr>
        <p:spPr>
          <a:xfrm>
            <a:off x="0" y="1693"/>
            <a:ext cx="12192000" cy="665572"/>
          </a:xfrm>
          <a:prstGeom prst="rect">
            <a:avLst/>
          </a:prstGeom>
          <a:solidFill>
            <a:srgbClr val="C00000"/>
          </a:solidFill>
        </p:spPr>
        <p:txBody>
          <a:bodyPr anchor="ctr"/>
          <a:lstStyle>
            <a:lvl1pPr algn="l">
              <a:defRPr sz="2800" b="0">
                <a:solidFill>
                  <a:schemeClr val="tx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pic>
        <p:nvPicPr>
          <p:cNvPr id="7" name="Picture 6" descr="A red and yellow logo&#10;&#10;Description automatically generated">
            <a:extLst>
              <a:ext uri="{FF2B5EF4-FFF2-40B4-BE49-F238E27FC236}">
                <a16:creationId xmlns:a16="http://schemas.microsoft.com/office/drawing/2014/main" id="{7389388A-D1F6-4744-2DE9-1E422C235335}"/>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10000" b="90000" l="10000" r="90000"/>
                    </a14:imgEffect>
                    <a14:imgEffect>
                      <a14:colorTemperature colorTemp="7200"/>
                    </a14:imgEffect>
                  </a14:imgLayer>
                </a14:imgProps>
              </a:ext>
            </a:extLst>
          </a:blip>
          <a:stretch>
            <a:fillRect/>
          </a:stretch>
        </p:blipFill>
        <p:spPr>
          <a:xfrm>
            <a:off x="11307223" y="-149311"/>
            <a:ext cx="965200" cy="965200"/>
          </a:xfrm>
          <a:prstGeom prst="rect">
            <a:avLst/>
          </a:prstGeom>
        </p:spPr>
      </p:pic>
    </p:spTree>
    <p:extLst>
      <p:ext uri="{BB962C8B-B14F-4D97-AF65-F5344CB8AC3E}">
        <p14:creationId xmlns:p14="http://schemas.microsoft.com/office/powerpoint/2010/main" val="3689835625"/>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24B5C8-8462-336F-8D6B-3155C25E4CE4}"/>
              </a:ext>
            </a:extLst>
          </p:cNvPr>
          <p:cNvSpPr>
            <a:spLocks noGrp="1"/>
          </p:cNvSpPr>
          <p:nvPr>
            <p:ph type="dt" sz="half" idx="10"/>
          </p:nvPr>
        </p:nvSpPr>
        <p:spPr/>
        <p:txBody>
          <a:bodyPr/>
          <a:lstStyle/>
          <a:p>
            <a:fld id="{5B8051E5-8953-4E40-83F4-8BE8AD48E887}" type="datetimeFigureOut">
              <a:rPr lang="en-US" smtClean="0"/>
              <a:t>5/4/26</a:t>
            </a:fld>
            <a:endParaRPr lang="en-US"/>
          </a:p>
        </p:txBody>
      </p:sp>
      <p:sp>
        <p:nvSpPr>
          <p:cNvPr id="3" name="Footer Placeholder 2">
            <a:extLst>
              <a:ext uri="{FF2B5EF4-FFF2-40B4-BE49-F238E27FC236}">
                <a16:creationId xmlns:a16="http://schemas.microsoft.com/office/drawing/2014/main" id="{828B0DE9-71A7-F2BE-75ED-799A773638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8EAFCA-451B-B914-2B94-A30A272A232C}"/>
              </a:ext>
            </a:extLst>
          </p:cNvPr>
          <p:cNvSpPr>
            <a:spLocks noGrp="1"/>
          </p:cNvSpPr>
          <p:nvPr>
            <p:ph type="sldNum" sz="quarter" idx="12"/>
          </p:nvPr>
        </p:nvSpPr>
        <p:spPr/>
        <p:txBody>
          <a:bodyPr/>
          <a:lstStyle/>
          <a:p>
            <a:fld id="{BC548A50-28EE-EE4C-9952-76C3AE54D7FD}" type="slidenum">
              <a:rPr lang="en-US" smtClean="0"/>
              <a:t>‹#›</a:t>
            </a:fld>
            <a:endParaRPr lang="en-US"/>
          </a:p>
        </p:txBody>
      </p:sp>
    </p:spTree>
    <p:extLst>
      <p:ext uri="{BB962C8B-B14F-4D97-AF65-F5344CB8AC3E}">
        <p14:creationId xmlns:p14="http://schemas.microsoft.com/office/powerpoint/2010/main" val="2905208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49BA0-65A2-A000-81EE-D115B5D347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571E31-FC69-C228-7CF3-37884436A1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83A300-B18B-D8B0-F500-7B0A1B9561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35978D-A1B5-D6E3-51F4-37D4290442BE}"/>
              </a:ext>
            </a:extLst>
          </p:cNvPr>
          <p:cNvSpPr>
            <a:spLocks noGrp="1"/>
          </p:cNvSpPr>
          <p:nvPr>
            <p:ph type="dt" sz="half" idx="10"/>
          </p:nvPr>
        </p:nvSpPr>
        <p:spPr/>
        <p:txBody>
          <a:bodyPr/>
          <a:lstStyle/>
          <a:p>
            <a:fld id="{5B8051E5-8953-4E40-83F4-8BE8AD48E887}" type="datetimeFigureOut">
              <a:rPr lang="en-US" smtClean="0"/>
              <a:t>5/4/26</a:t>
            </a:fld>
            <a:endParaRPr lang="en-US"/>
          </a:p>
        </p:txBody>
      </p:sp>
      <p:sp>
        <p:nvSpPr>
          <p:cNvPr id="6" name="Footer Placeholder 5">
            <a:extLst>
              <a:ext uri="{FF2B5EF4-FFF2-40B4-BE49-F238E27FC236}">
                <a16:creationId xmlns:a16="http://schemas.microsoft.com/office/drawing/2014/main" id="{D9B44C7A-DF54-D674-B6FA-9D431837C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84A735-29D1-8A33-D1A0-74BD1010D4EA}"/>
              </a:ext>
            </a:extLst>
          </p:cNvPr>
          <p:cNvSpPr>
            <a:spLocks noGrp="1"/>
          </p:cNvSpPr>
          <p:nvPr>
            <p:ph type="sldNum" sz="quarter" idx="12"/>
          </p:nvPr>
        </p:nvSpPr>
        <p:spPr/>
        <p:txBody>
          <a:bodyPr/>
          <a:lstStyle/>
          <a:p>
            <a:fld id="{BC548A50-28EE-EE4C-9952-76C3AE54D7FD}" type="slidenum">
              <a:rPr lang="en-US" smtClean="0"/>
              <a:t>‹#›</a:t>
            </a:fld>
            <a:endParaRPr lang="en-US"/>
          </a:p>
        </p:txBody>
      </p:sp>
    </p:spTree>
    <p:extLst>
      <p:ext uri="{BB962C8B-B14F-4D97-AF65-F5344CB8AC3E}">
        <p14:creationId xmlns:p14="http://schemas.microsoft.com/office/powerpoint/2010/main" val="18337669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0C433-0C6F-C036-2CFB-F326A8766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6671E3-19C6-0615-BA4A-5CE126828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F6DAA12-543B-E457-6076-B528DA927D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AD2DAB-8050-44BB-2413-5611794E4437}"/>
              </a:ext>
            </a:extLst>
          </p:cNvPr>
          <p:cNvSpPr>
            <a:spLocks noGrp="1"/>
          </p:cNvSpPr>
          <p:nvPr>
            <p:ph type="dt" sz="half" idx="10"/>
          </p:nvPr>
        </p:nvSpPr>
        <p:spPr/>
        <p:txBody>
          <a:bodyPr/>
          <a:lstStyle/>
          <a:p>
            <a:fld id="{5B8051E5-8953-4E40-83F4-8BE8AD48E887}" type="datetimeFigureOut">
              <a:rPr lang="en-US" smtClean="0"/>
              <a:t>5/4/26</a:t>
            </a:fld>
            <a:endParaRPr lang="en-US"/>
          </a:p>
        </p:txBody>
      </p:sp>
      <p:sp>
        <p:nvSpPr>
          <p:cNvPr id="6" name="Footer Placeholder 5">
            <a:extLst>
              <a:ext uri="{FF2B5EF4-FFF2-40B4-BE49-F238E27FC236}">
                <a16:creationId xmlns:a16="http://schemas.microsoft.com/office/drawing/2014/main" id="{68035B6A-AB30-1EB9-9EF1-B6C6B18E5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A4A4B6-AF12-3B9E-119E-B3D134DDF97C}"/>
              </a:ext>
            </a:extLst>
          </p:cNvPr>
          <p:cNvSpPr>
            <a:spLocks noGrp="1"/>
          </p:cNvSpPr>
          <p:nvPr>
            <p:ph type="sldNum" sz="quarter" idx="12"/>
          </p:nvPr>
        </p:nvSpPr>
        <p:spPr/>
        <p:txBody>
          <a:bodyPr/>
          <a:lstStyle/>
          <a:p>
            <a:fld id="{BC548A50-28EE-EE4C-9952-76C3AE54D7FD}" type="slidenum">
              <a:rPr lang="en-US" smtClean="0"/>
              <a:t>‹#›</a:t>
            </a:fld>
            <a:endParaRPr lang="en-US"/>
          </a:p>
        </p:txBody>
      </p:sp>
    </p:spTree>
    <p:extLst>
      <p:ext uri="{BB962C8B-B14F-4D97-AF65-F5344CB8AC3E}">
        <p14:creationId xmlns:p14="http://schemas.microsoft.com/office/powerpoint/2010/main" val="4226757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4B74-BA29-5E90-BBB3-5DAEFFB990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2BE785-C0BC-FA30-AFD8-2C4AB5CFC9B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FFDC1F-D1DA-52E1-49CC-78A6CCB3D82A}"/>
              </a:ext>
            </a:extLst>
          </p:cNvPr>
          <p:cNvSpPr>
            <a:spLocks noGrp="1"/>
          </p:cNvSpPr>
          <p:nvPr>
            <p:ph type="dt" sz="half" idx="10"/>
          </p:nvPr>
        </p:nvSpPr>
        <p:spPr/>
        <p:txBody>
          <a:bodyPr/>
          <a:lstStyle/>
          <a:p>
            <a:fld id="{5B8051E5-8953-4E40-83F4-8BE8AD48E887}" type="datetimeFigureOut">
              <a:rPr lang="en-US" smtClean="0"/>
              <a:t>5/4/26</a:t>
            </a:fld>
            <a:endParaRPr lang="en-US"/>
          </a:p>
        </p:txBody>
      </p:sp>
      <p:sp>
        <p:nvSpPr>
          <p:cNvPr id="5" name="Footer Placeholder 4">
            <a:extLst>
              <a:ext uri="{FF2B5EF4-FFF2-40B4-BE49-F238E27FC236}">
                <a16:creationId xmlns:a16="http://schemas.microsoft.com/office/drawing/2014/main" id="{148C69B1-EB7C-3C89-2C07-A8E117BD8A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5860AA-278A-E115-3C4D-EFD0BE7B1467}"/>
              </a:ext>
            </a:extLst>
          </p:cNvPr>
          <p:cNvSpPr>
            <a:spLocks noGrp="1"/>
          </p:cNvSpPr>
          <p:nvPr>
            <p:ph type="sldNum" sz="quarter" idx="12"/>
          </p:nvPr>
        </p:nvSpPr>
        <p:spPr/>
        <p:txBody>
          <a:bodyPr/>
          <a:lstStyle/>
          <a:p>
            <a:fld id="{BC548A50-28EE-EE4C-9952-76C3AE54D7FD}" type="slidenum">
              <a:rPr lang="en-US" smtClean="0"/>
              <a:t>‹#›</a:t>
            </a:fld>
            <a:endParaRPr lang="en-US"/>
          </a:p>
        </p:txBody>
      </p:sp>
    </p:spTree>
    <p:extLst>
      <p:ext uri="{BB962C8B-B14F-4D97-AF65-F5344CB8AC3E}">
        <p14:creationId xmlns:p14="http://schemas.microsoft.com/office/powerpoint/2010/main" val="4287058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5C1B05-45DB-BEDE-1042-3C5579F32F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DD7EE5-A3C9-1EEB-0246-F8CD83982E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98D82D-01B8-F96B-9BA7-198F10F3074C}"/>
              </a:ext>
            </a:extLst>
          </p:cNvPr>
          <p:cNvSpPr>
            <a:spLocks noGrp="1"/>
          </p:cNvSpPr>
          <p:nvPr>
            <p:ph type="dt" sz="half" idx="10"/>
          </p:nvPr>
        </p:nvSpPr>
        <p:spPr/>
        <p:txBody>
          <a:bodyPr/>
          <a:lstStyle/>
          <a:p>
            <a:fld id="{5B8051E5-8953-4E40-83F4-8BE8AD48E887}" type="datetimeFigureOut">
              <a:rPr lang="en-US" smtClean="0"/>
              <a:t>5/4/26</a:t>
            </a:fld>
            <a:endParaRPr lang="en-US"/>
          </a:p>
        </p:txBody>
      </p:sp>
      <p:sp>
        <p:nvSpPr>
          <p:cNvPr id="5" name="Footer Placeholder 4">
            <a:extLst>
              <a:ext uri="{FF2B5EF4-FFF2-40B4-BE49-F238E27FC236}">
                <a16:creationId xmlns:a16="http://schemas.microsoft.com/office/drawing/2014/main" id="{1E551D72-F4F7-9117-B476-59C0D59C5C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C3BBC-735A-ED5F-81DA-FC20FB1CBEA2}"/>
              </a:ext>
            </a:extLst>
          </p:cNvPr>
          <p:cNvSpPr>
            <a:spLocks noGrp="1"/>
          </p:cNvSpPr>
          <p:nvPr>
            <p:ph type="sldNum" sz="quarter" idx="12"/>
          </p:nvPr>
        </p:nvSpPr>
        <p:spPr/>
        <p:txBody>
          <a:bodyPr/>
          <a:lstStyle/>
          <a:p>
            <a:fld id="{BC548A50-28EE-EE4C-9952-76C3AE54D7FD}" type="slidenum">
              <a:rPr lang="en-US" smtClean="0"/>
              <a:t>‹#›</a:t>
            </a:fld>
            <a:endParaRPr lang="en-US"/>
          </a:p>
        </p:txBody>
      </p:sp>
    </p:spTree>
    <p:extLst>
      <p:ext uri="{BB962C8B-B14F-4D97-AF65-F5344CB8AC3E}">
        <p14:creationId xmlns:p14="http://schemas.microsoft.com/office/powerpoint/2010/main" val="228837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09BF4C-1A82-B7EE-9D41-555285639D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C03F9B-5218-ACC4-0067-B339634E8E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43214C-A9EA-B6BC-A5D7-E326696993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8051E5-8953-4E40-83F4-8BE8AD48E887}" type="datetimeFigureOut">
              <a:rPr lang="en-US" smtClean="0"/>
              <a:t>5/4/26</a:t>
            </a:fld>
            <a:endParaRPr lang="en-US"/>
          </a:p>
        </p:txBody>
      </p:sp>
      <p:sp>
        <p:nvSpPr>
          <p:cNvPr id="5" name="Footer Placeholder 4">
            <a:extLst>
              <a:ext uri="{FF2B5EF4-FFF2-40B4-BE49-F238E27FC236}">
                <a16:creationId xmlns:a16="http://schemas.microsoft.com/office/drawing/2014/main" id="{23D43F53-9776-5EDA-496A-9715354637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44EAFF-1297-94E6-EBC7-34519FA658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548A50-28EE-EE4C-9952-76C3AE54D7FD}" type="slidenum">
              <a:rPr lang="en-US" smtClean="0"/>
              <a:t>‹#›</a:t>
            </a:fld>
            <a:endParaRPr lang="en-US"/>
          </a:p>
        </p:txBody>
      </p:sp>
    </p:spTree>
    <p:extLst>
      <p:ext uri="{BB962C8B-B14F-4D97-AF65-F5344CB8AC3E}">
        <p14:creationId xmlns:p14="http://schemas.microsoft.com/office/powerpoint/2010/main" val="4070982479"/>
      </p:ext>
    </p:extLst>
  </p:cSld>
  <p:clrMap bg1="lt1" tx1="dk1" bg2="lt2" tx2="dk2" accent1="accent1" accent2="accent2" accent3="accent3" accent4="accent4" accent5="accent5" accent6="accent6" hlink="hlink" folHlink="folHlink"/>
  <p:sldLayoutIdLst>
    <p:sldLayoutId id="2147483650" r:id="rId1"/>
    <p:sldLayoutId id="2147483649" r:id="rId2"/>
    <p:sldLayoutId id="2147483660" r:id="rId3"/>
    <p:sldLayoutId id="2147483661" r:id="rId4"/>
    <p:sldLayoutId id="2147483651" r:id="rId5"/>
    <p:sldLayoutId id="2147483652" r:id="rId6"/>
    <p:sldLayoutId id="2147483653" r:id="rId7"/>
    <p:sldLayoutId id="2147483654" r:id="rId8"/>
    <p:sldLayoutId id="2147483662" r:id="rId9"/>
    <p:sldLayoutId id="2147483655" r:id="rId10"/>
    <p:sldLayoutId id="2147483656" r:id="rId11"/>
    <p:sldLayoutId id="2147483657" r:id="rId12"/>
    <p:sldLayoutId id="2147483658" r:id="rId13"/>
    <p:sldLayoutId id="214748365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9.xml"/><Relationship Id="rId5" Type="http://schemas.openxmlformats.org/officeDocument/2006/relationships/image" Target="../media/image60.png"/><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9.xml"/><Relationship Id="rId5" Type="http://schemas.openxmlformats.org/officeDocument/2006/relationships/image" Target="../media/image63.png"/><Relationship Id="rId4" Type="http://schemas.openxmlformats.org/officeDocument/2006/relationships/image" Target="../media/image62.png"/></Relationships>
</file>

<file path=ppt/slides/_rels/slide29.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image" Target="../media/image71.png"/><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708F56-6114-9BDF-61FD-695309822349}"/>
              </a:ext>
            </a:extLst>
          </p:cNvPr>
          <p:cNvSpPr txBox="1"/>
          <p:nvPr/>
        </p:nvSpPr>
        <p:spPr>
          <a:xfrm>
            <a:off x="609599" y="1202635"/>
            <a:ext cx="10972800" cy="830997"/>
          </a:xfrm>
          <a:prstGeom prst="rect">
            <a:avLst/>
          </a:prstGeom>
          <a:noFill/>
        </p:spPr>
        <p:txBody>
          <a:bodyPr wrap="square" rtlCol="0">
            <a:spAutoFit/>
          </a:bodyPr>
          <a:lstStyle/>
          <a:p>
            <a:pPr algn="ctr"/>
            <a:r>
              <a:rPr lang="en-US" sz="2400" dirty="0">
                <a:solidFill>
                  <a:schemeClr val="bg1"/>
                </a:solidFill>
              </a:rPr>
              <a:t>Parallel Global Sensitivity Analysis of a </a:t>
            </a:r>
            <a:r>
              <a:rPr lang="en-US" sz="2400" dirty="0" err="1">
                <a:solidFill>
                  <a:schemeClr val="bg1"/>
                </a:solidFill>
              </a:rPr>
              <a:t>Hyperelastic</a:t>
            </a:r>
            <a:r>
              <a:rPr lang="en-US" sz="2400" dirty="0">
                <a:solidFill>
                  <a:schemeClr val="bg1"/>
                </a:solidFill>
              </a:rPr>
              <a:t> Constitutive Model Under Biaxial Loading</a:t>
            </a:r>
          </a:p>
        </p:txBody>
      </p:sp>
      <p:sp>
        <p:nvSpPr>
          <p:cNvPr id="4" name="TextBox 3">
            <a:extLst>
              <a:ext uri="{FF2B5EF4-FFF2-40B4-BE49-F238E27FC236}">
                <a16:creationId xmlns:a16="http://schemas.microsoft.com/office/drawing/2014/main" id="{D162B6AF-29F6-DFE4-C0AE-3A99D90A00D0}"/>
              </a:ext>
            </a:extLst>
          </p:cNvPr>
          <p:cNvSpPr txBox="1"/>
          <p:nvPr/>
        </p:nvSpPr>
        <p:spPr>
          <a:xfrm>
            <a:off x="3915466" y="2226365"/>
            <a:ext cx="4361066" cy="369332"/>
          </a:xfrm>
          <a:prstGeom prst="rect">
            <a:avLst/>
          </a:prstGeom>
          <a:noFill/>
        </p:spPr>
        <p:txBody>
          <a:bodyPr wrap="none" rtlCol="0">
            <a:spAutoFit/>
          </a:bodyPr>
          <a:lstStyle/>
          <a:p>
            <a:r>
              <a:rPr lang="en-US" dirty="0">
                <a:solidFill>
                  <a:schemeClr val="bg1"/>
                </a:solidFill>
              </a:rPr>
              <a:t>MATH 5250: Numerical Analysis for HPC</a:t>
            </a:r>
          </a:p>
        </p:txBody>
      </p:sp>
    </p:spTree>
    <p:extLst>
      <p:ext uri="{BB962C8B-B14F-4D97-AF65-F5344CB8AC3E}">
        <p14:creationId xmlns:p14="http://schemas.microsoft.com/office/powerpoint/2010/main" val="40472786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EECBD-4410-CC3E-D6C5-20A50BD529B9}"/>
              </a:ext>
            </a:extLst>
          </p:cNvPr>
          <p:cNvSpPr>
            <a:spLocks noGrp="1"/>
          </p:cNvSpPr>
          <p:nvPr>
            <p:ph type="title"/>
          </p:nvPr>
        </p:nvSpPr>
        <p:spPr/>
        <p:txBody>
          <a:bodyPr/>
          <a:lstStyle/>
          <a:p>
            <a:r>
              <a:rPr lang="en-US" dirty="0"/>
              <a:t>Outline</a:t>
            </a:r>
          </a:p>
        </p:txBody>
      </p:sp>
      <p:sp>
        <p:nvSpPr>
          <p:cNvPr id="3" name="Oval 2">
            <a:extLst>
              <a:ext uri="{FF2B5EF4-FFF2-40B4-BE49-F238E27FC236}">
                <a16:creationId xmlns:a16="http://schemas.microsoft.com/office/drawing/2014/main" id="{FA43DF38-2E65-9D8E-8B82-460A05A1A182}"/>
              </a:ext>
            </a:extLst>
          </p:cNvPr>
          <p:cNvSpPr/>
          <p:nvPr/>
        </p:nvSpPr>
        <p:spPr>
          <a:xfrm>
            <a:off x="978694" y="964405"/>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1</a:t>
            </a:r>
          </a:p>
        </p:txBody>
      </p:sp>
      <p:sp>
        <p:nvSpPr>
          <p:cNvPr id="4" name="TextBox 3">
            <a:extLst>
              <a:ext uri="{FF2B5EF4-FFF2-40B4-BE49-F238E27FC236}">
                <a16:creationId xmlns:a16="http://schemas.microsoft.com/office/drawing/2014/main" id="{4FF48CF1-5D2E-B6D6-1BDB-AB5ED06F9427}"/>
              </a:ext>
            </a:extLst>
          </p:cNvPr>
          <p:cNvSpPr txBox="1"/>
          <p:nvPr/>
        </p:nvSpPr>
        <p:spPr>
          <a:xfrm>
            <a:off x="1405466" y="916899"/>
            <a:ext cx="1471878" cy="430887"/>
          </a:xfrm>
          <a:prstGeom prst="rect">
            <a:avLst/>
          </a:prstGeom>
          <a:noFill/>
        </p:spPr>
        <p:txBody>
          <a:bodyPr wrap="none" rtlCol="0">
            <a:spAutoFit/>
          </a:bodyPr>
          <a:lstStyle/>
          <a:p>
            <a:r>
              <a:rPr lang="en-US" sz="2200" dirty="0"/>
              <a:t>Motivation</a:t>
            </a:r>
          </a:p>
        </p:txBody>
      </p:sp>
      <p:sp>
        <p:nvSpPr>
          <p:cNvPr id="5" name="Oval 4">
            <a:extLst>
              <a:ext uri="{FF2B5EF4-FFF2-40B4-BE49-F238E27FC236}">
                <a16:creationId xmlns:a16="http://schemas.microsoft.com/office/drawing/2014/main" id="{D1A59202-613D-B196-EE4B-3A26B68F794B}"/>
              </a:ext>
            </a:extLst>
          </p:cNvPr>
          <p:cNvSpPr/>
          <p:nvPr/>
        </p:nvSpPr>
        <p:spPr>
          <a:xfrm>
            <a:off x="978694" y="1514738"/>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2</a:t>
            </a:r>
          </a:p>
        </p:txBody>
      </p:sp>
      <p:sp>
        <p:nvSpPr>
          <p:cNvPr id="6" name="TextBox 5">
            <a:extLst>
              <a:ext uri="{FF2B5EF4-FFF2-40B4-BE49-F238E27FC236}">
                <a16:creationId xmlns:a16="http://schemas.microsoft.com/office/drawing/2014/main" id="{55C47276-D8B7-9E5F-F187-45F1FD14E12D}"/>
              </a:ext>
            </a:extLst>
          </p:cNvPr>
          <p:cNvSpPr txBox="1"/>
          <p:nvPr/>
        </p:nvSpPr>
        <p:spPr>
          <a:xfrm>
            <a:off x="1405466" y="1467232"/>
            <a:ext cx="2507418" cy="430887"/>
          </a:xfrm>
          <a:prstGeom prst="rect">
            <a:avLst/>
          </a:prstGeom>
          <a:noFill/>
        </p:spPr>
        <p:txBody>
          <a:bodyPr wrap="none" rtlCol="0">
            <a:spAutoFit/>
          </a:bodyPr>
          <a:lstStyle/>
          <a:p>
            <a:r>
              <a:rPr lang="en-US" sz="2200" dirty="0"/>
              <a:t>Constitutive Model</a:t>
            </a:r>
          </a:p>
        </p:txBody>
      </p:sp>
      <p:sp>
        <p:nvSpPr>
          <p:cNvPr id="7" name="Oval 6">
            <a:extLst>
              <a:ext uri="{FF2B5EF4-FFF2-40B4-BE49-F238E27FC236}">
                <a16:creationId xmlns:a16="http://schemas.microsoft.com/office/drawing/2014/main" id="{F9B7F92F-90FF-7649-AC09-A18EB12F6020}"/>
              </a:ext>
            </a:extLst>
          </p:cNvPr>
          <p:cNvSpPr/>
          <p:nvPr/>
        </p:nvSpPr>
        <p:spPr>
          <a:xfrm>
            <a:off x="978694" y="2086198"/>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3</a:t>
            </a:r>
          </a:p>
        </p:txBody>
      </p:sp>
      <p:sp>
        <p:nvSpPr>
          <p:cNvPr id="8" name="TextBox 7">
            <a:extLst>
              <a:ext uri="{FF2B5EF4-FFF2-40B4-BE49-F238E27FC236}">
                <a16:creationId xmlns:a16="http://schemas.microsoft.com/office/drawing/2014/main" id="{F5AA12C8-0AF5-9FC6-B61E-9E8CA70F13A1}"/>
              </a:ext>
            </a:extLst>
          </p:cNvPr>
          <p:cNvSpPr txBox="1"/>
          <p:nvPr/>
        </p:nvSpPr>
        <p:spPr>
          <a:xfrm>
            <a:off x="1405466" y="2038692"/>
            <a:ext cx="2567178" cy="430887"/>
          </a:xfrm>
          <a:prstGeom prst="rect">
            <a:avLst/>
          </a:prstGeom>
          <a:noFill/>
        </p:spPr>
        <p:txBody>
          <a:bodyPr wrap="none" rtlCol="0">
            <a:spAutoFit/>
          </a:bodyPr>
          <a:lstStyle/>
          <a:p>
            <a:r>
              <a:rPr lang="en-US" sz="2200" dirty="0"/>
              <a:t>Sensitivity Analysis</a:t>
            </a:r>
          </a:p>
        </p:txBody>
      </p:sp>
      <p:sp>
        <p:nvSpPr>
          <p:cNvPr id="9" name="Oval 8">
            <a:extLst>
              <a:ext uri="{FF2B5EF4-FFF2-40B4-BE49-F238E27FC236}">
                <a16:creationId xmlns:a16="http://schemas.microsoft.com/office/drawing/2014/main" id="{953DDBD3-A139-1B7C-E863-5CCDE67042DA}"/>
              </a:ext>
            </a:extLst>
          </p:cNvPr>
          <p:cNvSpPr/>
          <p:nvPr/>
        </p:nvSpPr>
        <p:spPr>
          <a:xfrm>
            <a:off x="978694" y="2684037"/>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4</a:t>
            </a:r>
          </a:p>
        </p:txBody>
      </p:sp>
      <p:sp>
        <p:nvSpPr>
          <p:cNvPr id="10" name="TextBox 9">
            <a:extLst>
              <a:ext uri="{FF2B5EF4-FFF2-40B4-BE49-F238E27FC236}">
                <a16:creationId xmlns:a16="http://schemas.microsoft.com/office/drawing/2014/main" id="{72F0451F-B800-2CAF-C9F5-398848FEEA8C}"/>
              </a:ext>
            </a:extLst>
          </p:cNvPr>
          <p:cNvSpPr txBox="1"/>
          <p:nvPr/>
        </p:nvSpPr>
        <p:spPr>
          <a:xfrm>
            <a:off x="1405466" y="2636531"/>
            <a:ext cx="1941557" cy="430887"/>
          </a:xfrm>
          <a:prstGeom prst="rect">
            <a:avLst/>
          </a:prstGeom>
          <a:noFill/>
        </p:spPr>
        <p:txBody>
          <a:bodyPr wrap="none" rtlCol="0">
            <a:spAutoFit/>
          </a:bodyPr>
          <a:lstStyle/>
          <a:p>
            <a:r>
              <a:rPr lang="en-US" sz="2200" dirty="0"/>
              <a:t>Parallelization</a:t>
            </a:r>
          </a:p>
        </p:txBody>
      </p:sp>
      <p:sp>
        <p:nvSpPr>
          <p:cNvPr id="11" name="Oval 10">
            <a:extLst>
              <a:ext uri="{FF2B5EF4-FFF2-40B4-BE49-F238E27FC236}">
                <a16:creationId xmlns:a16="http://schemas.microsoft.com/office/drawing/2014/main" id="{1CD07F68-084C-B7FD-4DEA-3C41ED9387A0}"/>
              </a:ext>
            </a:extLst>
          </p:cNvPr>
          <p:cNvSpPr/>
          <p:nvPr/>
        </p:nvSpPr>
        <p:spPr>
          <a:xfrm>
            <a:off x="978694" y="3255497"/>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5</a:t>
            </a:r>
          </a:p>
        </p:txBody>
      </p:sp>
      <p:sp>
        <p:nvSpPr>
          <p:cNvPr id="12" name="TextBox 11">
            <a:extLst>
              <a:ext uri="{FF2B5EF4-FFF2-40B4-BE49-F238E27FC236}">
                <a16:creationId xmlns:a16="http://schemas.microsoft.com/office/drawing/2014/main" id="{BDFD0249-93D9-5430-897D-435ABE269E15}"/>
              </a:ext>
            </a:extLst>
          </p:cNvPr>
          <p:cNvSpPr txBox="1"/>
          <p:nvPr/>
        </p:nvSpPr>
        <p:spPr>
          <a:xfrm>
            <a:off x="1405466" y="3207991"/>
            <a:ext cx="1402820" cy="430887"/>
          </a:xfrm>
          <a:prstGeom prst="rect">
            <a:avLst/>
          </a:prstGeom>
          <a:noFill/>
        </p:spPr>
        <p:txBody>
          <a:bodyPr wrap="none" rtlCol="0">
            <a:spAutoFit/>
          </a:bodyPr>
          <a:lstStyle/>
          <a:p>
            <a:r>
              <a:rPr lang="en-US" sz="2200" dirty="0"/>
              <a:t>Validation</a:t>
            </a:r>
          </a:p>
        </p:txBody>
      </p:sp>
      <p:sp>
        <p:nvSpPr>
          <p:cNvPr id="13" name="Oval 12">
            <a:extLst>
              <a:ext uri="{FF2B5EF4-FFF2-40B4-BE49-F238E27FC236}">
                <a16:creationId xmlns:a16="http://schemas.microsoft.com/office/drawing/2014/main" id="{D7073F86-B381-9E7A-8815-1FC2E7E7DC15}"/>
              </a:ext>
            </a:extLst>
          </p:cNvPr>
          <p:cNvSpPr/>
          <p:nvPr/>
        </p:nvSpPr>
        <p:spPr>
          <a:xfrm>
            <a:off x="978694" y="3847208"/>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6</a:t>
            </a:r>
          </a:p>
        </p:txBody>
      </p:sp>
      <p:sp>
        <p:nvSpPr>
          <p:cNvPr id="14" name="TextBox 13">
            <a:extLst>
              <a:ext uri="{FF2B5EF4-FFF2-40B4-BE49-F238E27FC236}">
                <a16:creationId xmlns:a16="http://schemas.microsoft.com/office/drawing/2014/main" id="{D79AAF73-33BD-7B17-D505-1D5D69A2B125}"/>
              </a:ext>
            </a:extLst>
          </p:cNvPr>
          <p:cNvSpPr txBox="1"/>
          <p:nvPr/>
        </p:nvSpPr>
        <p:spPr>
          <a:xfrm>
            <a:off x="1405466" y="3799702"/>
            <a:ext cx="1125629" cy="430887"/>
          </a:xfrm>
          <a:prstGeom prst="rect">
            <a:avLst/>
          </a:prstGeom>
          <a:noFill/>
        </p:spPr>
        <p:txBody>
          <a:bodyPr wrap="none" rtlCol="0">
            <a:spAutoFit/>
          </a:bodyPr>
          <a:lstStyle/>
          <a:p>
            <a:r>
              <a:rPr lang="en-US" sz="2200" dirty="0"/>
              <a:t>Results</a:t>
            </a:r>
          </a:p>
        </p:txBody>
      </p:sp>
      <p:sp>
        <p:nvSpPr>
          <p:cNvPr id="15" name="Oval 14">
            <a:extLst>
              <a:ext uri="{FF2B5EF4-FFF2-40B4-BE49-F238E27FC236}">
                <a16:creationId xmlns:a16="http://schemas.microsoft.com/office/drawing/2014/main" id="{E5936B19-D3A6-699E-8BC6-FB932C4198FE}"/>
              </a:ext>
            </a:extLst>
          </p:cNvPr>
          <p:cNvSpPr/>
          <p:nvPr/>
        </p:nvSpPr>
        <p:spPr>
          <a:xfrm>
            <a:off x="978694" y="4438919"/>
            <a:ext cx="274320" cy="27432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t>7</a:t>
            </a:r>
          </a:p>
        </p:txBody>
      </p:sp>
      <p:sp>
        <p:nvSpPr>
          <p:cNvPr id="16" name="TextBox 15">
            <a:extLst>
              <a:ext uri="{FF2B5EF4-FFF2-40B4-BE49-F238E27FC236}">
                <a16:creationId xmlns:a16="http://schemas.microsoft.com/office/drawing/2014/main" id="{52CDEC87-557A-5136-CA4E-7A90D515A878}"/>
              </a:ext>
            </a:extLst>
          </p:cNvPr>
          <p:cNvSpPr txBox="1"/>
          <p:nvPr/>
        </p:nvSpPr>
        <p:spPr>
          <a:xfrm>
            <a:off x="1405466" y="4391413"/>
            <a:ext cx="1393330" cy="430887"/>
          </a:xfrm>
          <a:prstGeom prst="rect">
            <a:avLst/>
          </a:prstGeom>
          <a:noFill/>
        </p:spPr>
        <p:txBody>
          <a:bodyPr wrap="none" rtlCol="0">
            <a:spAutoFit/>
          </a:bodyPr>
          <a:lstStyle/>
          <a:p>
            <a:r>
              <a:rPr lang="en-US" sz="2200" dirty="0"/>
              <a:t>Summary</a:t>
            </a:r>
          </a:p>
        </p:txBody>
      </p:sp>
      <p:sp>
        <p:nvSpPr>
          <p:cNvPr id="17" name="TextBox 16">
            <a:extLst>
              <a:ext uri="{FF2B5EF4-FFF2-40B4-BE49-F238E27FC236}">
                <a16:creationId xmlns:a16="http://schemas.microsoft.com/office/drawing/2014/main" id="{ACFE6FC7-9BBE-3926-726C-D52035482A0E}"/>
              </a:ext>
            </a:extLst>
          </p:cNvPr>
          <p:cNvSpPr txBox="1"/>
          <p:nvPr/>
        </p:nvSpPr>
        <p:spPr>
          <a:xfrm>
            <a:off x="6096000" y="978454"/>
            <a:ext cx="3018775" cy="369332"/>
          </a:xfrm>
          <a:prstGeom prst="rect">
            <a:avLst/>
          </a:prstGeom>
          <a:noFill/>
        </p:spPr>
        <p:txBody>
          <a:bodyPr wrap="none" rtlCol="0">
            <a:spAutoFit/>
          </a:bodyPr>
          <a:lstStyle/>
          <a:p>
            <a:r>
              <a:rPr lang="en-US" dirty="0">
                <a:solidFill>
                  <a:schemeClr val="tx2">
                    <a:lumMod val="75000"/>
                  </a:schemeClr>
                </a:solidFill>
              </a:rPr>
              <a:t>the question &amp; its relevance</a:t>
            </a:r>
          </a:p>
        </p:txBody>
      </p:sp>
      <p:sp>
        <p:nvSpPr>
          <p:cNvPr id="18" name="TextBox 17">
            <a:extLst>
              <a:ext uri="{FF2B5EF4-FFF2-40B4-BE49-F238E27FC236}">
                <a16:creationId xmlns:a16="http://schemas.microsoft.com/office/drawing/2014/main" id="{02F84BB5-3446-09A1-CE9B-531C55B37571}"/>
              </a:ext>
            </a:extLst>
          </p:cNvPr>
          <p:cNvSpPr txBox="1"/>
          <p:nvPr/>
        </p:nvSpPr>
        <p:spPr>
          <a:xfrm>
            <a:off x="6096000" y="1497512"/>
            <a:ext cx="3762568" cy="369332"/>
          </a:xfrm>
          <a:prstGeom prst="rect">
            <a:avLst/>
          </a:prstGeom>
          <a:noFill/>
        </p:spPr>
        <p:txBody>
          <a:bodyPr wrap="none" rtlCol="0">
            <a:spAutoFit/>
          </a:bodyPr>
          <a:lstStyle/>
          <a:p>
            <a:r>
              <a:rPr lang="en-US" dirty="0">
                <a:solidFill>
                  <a:schemeClr val="tx2">
                    <a:lumMod val="75000"/>
                  </a:schemeClr>
                </a:solidFill>
              </a:rPr>
              <a:t>what HGO is and why fibers matter</a:t>
            </a:r>
          </a:p>
        </p:txBody>
      </p:sp>
      <p:sp>
        <p:nvSpPr>
          <p:cNvPr id="19" name="TextBox 18">
            <a:extLst>
              <a:ext uri="{FF2B5EF4-FFF2-40B4-BE49-F238E27FC236}">
                <a16:creationId xmlns:a16="http://schemas.microsoft.com/office/drawing/2014/main" id="{0DD9E481-865E-5E67-D468-55DB2F04AAD4}"/>
              </a:ext>
            </a:extLst>
          </p:cNvPr>
          <p:cNvSpPr txBox="1"/>
          <p:nvPr/>
        </p:nvSpPr>
        <p:spPr>
          <a:xfrm>
            <a:off x="6096000" y="2072570"/>
            <a:ext cx="3694281" cy="369332"/>
          </a:xfrm>
          <a:prstGeom prst="rect">
            <a:avLst/>
          </a:prstGeom>
          <a:noFill/>
        </p:spPr>
        <p:txBody>
          <a:bodyPr wrap="none" rtlCol="0">
            <a:spAutoFit/>
          </a:bodyPr>
          <a:lstStyle/>
          <a:p>
            <a:r>
              <a:rPr lang="en-US" dirty="0" err="1">
                <a:solidFill>
                  <a:schemeClr val="tx2">
                    <a:lumMod val="75000"/>
                  </a:schemeClr>
                </a:solidFill>
              </a:rPr>
              <a:t>Sobol</a:t>
            </a:r>
            <a:r>
              <a:rPr lang="en-US" dirty="0">
                <a:solidFill>
                  <a:schemeClr val="tx2">
                    <a:lumMod val="75000"/>
                  </a:schemeClr>
                </a:solidFill>
              </a:rPr>
              <a:t> indices &amp; </a:t>
            </a:r>
            <a:r>
              <a:rPr lang="en-US" dirty="0" err="1">
                <a:solidFill>
                  <a:schemeClr val="tx2">
                    <a:lumMod val="75000"/>
                  </a:schemeClr>
                </a:solidFill>
              </a:rPr>
              <a:t>Saltelli’s</a:t>
            </a:r>
            <a:r>
              <a:rPr lang="en-US" dirty="0">
                <a:solidFill>
                  <a:schemeClr val="tx2">
                    <a:lumMod val="75000"/>
                  </a:schemeClr>
                </a:solidFill>
              </a:rPr>
              <a:t> estimator</a:t>
            </a:r>
          </a:p>
        </p:txBody>
      </p:sp>
      <p:sp>
        <p:nvSpPr>
          <p:cNvPr id="20" name="TextBox 19">
            <a:extLst>
              <a:ext uri="{FF2B5EF4-FFF2-40B4-BE49-F238E27FC236}">
                <a16:creationId xmlns:a16="http://schemas.microsoft.com/office/drawing/2014/main" id="{7E7005FD-A288-9286-D928-19B9BE2DFC73}"/>
              </a:ext>
            </a:extLst>
          </p:cNvPr>
          <p:cNvSpPr txBox="1"/>
          <p:nvPr/>
        </p:nvSpPr>
        <p:spPr>
          <a:xfrm>
            <a:off x="6096000" y="2663328"/>
            <a:ext cx="2508059" cy="369332"/>
          </a:xfrm>
          <a:prstGeom prst="rect">
            <a:avLst/>
          </a:prstGeom>
          <a:noFill/>
        </p:spPr>
        <p:txBody>
          <a:bodyPr wrap="none" rtlCol="0">
            <a:spAutoFit/>
          </a:bodyPr>
          <a:lstStyle/>
          <a:p>
            <a:r>
              <a:rPr lang="en-US" dirty="0">
                <a:solidFill>
                  <a:schemeClr val="tx2">
                    <a:lumMod val="75000"/>
                  </a:schemeClr>
                </a:solidFill>
              </a:rPr>
              <a:t>MPI + OpenMP design</a:t>
            </a:r>
          </a:p>
        </p:txBody>
      </p:sp>
      <p:sp>
        <p:nvSpPr>
          <p:cNvPr id="21" name="TextBox 20">
            <a:extLst>
              <a:ext uri="{FF2B5EF4-FFF2-40B4-BE49-F238E27FC236}">
                <a16:creationId xmlns:a16="http://schemas.microsoft.com/office/drawing/2014/main" id="{A171D0DC-398C-2188-522D-DD78A7F29925}"/>
              </a:ext>
            </a:extLst>
          </p:cNvPr>
          <p:cNvSpPr txBox="1"/>
          <p:nvPr/>
        </p:nvSpPr>
        <p:spPr>
          <a:xfrm>
            <a:off x="6096000" y="3269546"/>
            <a:ext cx="4275529" cy="369332"/>
          </a:xfrm>
          <a:prstGeom prst="rect">
            <a:avLst/>
          </a:prstGeom>
          <a:noFill/>
        </p:spPr>
        <p:txBody>
          <a:bodyPr wrap="none" rtlCol="0">
            <a:spAutoFit/>
          </a:bodyPr>
          <a:lstStyle/>
          <a:p>
            <a:r>
              <a:rPr lang="en-US" dirty="0" err="1">
                <a:solidFill>
                  <a:schemeClr val="tx2">
                    <a:lumMod val="75000"/>
                  </a:schemeClr>
                </a:solidFill>
              </a:rPr>
              <a:t>Ishigami</a:t>
            </a:r>
            <a:r>
              <a:rPr lang="en-US" dirty="0">
                <a:solidFill>
                  <a:schemeClr val="tx2">
                    <a:lumMod val="75000"/>
                  </a:schemeClr>
                </a:solidFill>
              </a:rPr>
              <a:t> benchmark &amp; MC convergence</a:t>
            </a:r>
          </a:p>
        </p:txBody>
      </p:sp>
      <p:sp>
        <p:nvSpPr>
          <p:cNvPr id="22" name="TextBox 21">
            <a:extLst>
              <a:ext uri="{FF2B5EF4-FFF2-40B4-BE49-F238E27FC236}">
                <a16:creationId xmlns:a16="http://schemas.microsoft.com/office/drawing/2014/main" id="{4F6975EB-B1E9-7432-8677-96E76878D1DF}"/>
              </a:ext>
            </a:extLst>
          </p:cNvPr>
          <p:cNvSpPr txBox="1"/>
          <p:nvPr/>
        </p:nvSpPr>
        <p:spPr>
          <a:xfrm>
            <a:off x="6096000" y="3828382"/>
            <a:ext cx="3935693" cy="369332"/>
          </a:xfrm>
          <a:prstGeom prst="rect">
            <a:avLst/>
          </a:prstGeom>
          <a:noFill/>
        </p:spPr>
        <p:txBody>
          <a:bodyPr wrap="none" rtlCol="0">
            <a:spAutoFit/>
          </a:bodyPr>
          <a:lstStyle/>
          <a:p>
            <a:r>
              <a:rPr lang="en-US" dirty="0">
                <a:solidFill>
                  <a:schemeClr val="tx2">
                    <a:lumMod val="75000"/>
                  </a:schemeClr>
                </a:solidFill>
              </a:rPr>
              <a:t>cross-protocol identifiability + scaling</a:t>
            </a:r>
          </a:p>
        </p:txBody>
      </p:sp>
      <p:sp>
        <p:nvSpPr>
          <p:cNvPr id="23" name="TextBox 22">
            <a:extLst>
              <a:ext uri="{FF2B5EF4-FFF2-40B4-BE49-F238E27FC236}">
                <a16:creationId xmlns:a16="http://schemas.microsoft.com/office/drawing/2014/main" id="{3E5355A6-8E15-3206-B99B-B3E97054093C}"/>
              </a:ext>
            </a:extLst>
          </p:cNvPr>
          <p:cNvSpPr txBox="1"/>
          <p:nvPr/>
        </p:nvSpPr>
        <p:spPr>
          <a:xfrm>
            <a:off x="6096000" y="4422190"/>
            <a:ext cx="2403222" cy="369332"/>
          </a:xfrm>
          <a:prstGeom prst="rect">
            <a:avLst/>
          </a:prstGeom>
          <a:noFill/>
        </p:spPr>
        <p:txBody>
          <a:bodyPr wrap="none" rtlCol="0">
            <a:spAutoFit/>
          </a:bodyPr>
          <a:lstStyle/>
          <a:p>
            <a:r>
              <a:rPr lang="en-US" dirty="0">
                <a:solidFill>
                  <a:schemeClr val="tx2">
                    <a:lumMod val="75000"/>
                  </a:schemeClr>
                </a:solidFill>
              </a:rPr>
              <a:t>findings &amp; future work</a:t>
            </a:r>
          </a:p>
        </p:txBody>
      </p:sp>
    </p:spTree>
    <p:extLst>
      <p:ext uri="{BB962C8B-B14F-4D97-AF65-F5344CB8AC3E}">
        <p14:creationId xmlns:p14="http://schemas.microsoft.com/office/powerpoint/2010/main" val="4235518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1</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2492990" cy="646331"/>
          </a:xfrm>
          <a:prstGeom prst="rect">
            <a:avLst/>
          </a:prstGeom>
          <a:noFill/>
        </p:spPr>
        <p:txBody>
          <a:bodyPr wrap="none" rtlCol="0">
            <a:spAutoFit/>
          </a:bodyPr>
          <a:lstStyle/>
          <a:p>
            <a:r>
              <a:rPr lang="en-US" sz="3600" b="1" dirty="0">
                <a:solidFill>
                  <a:schemeClr val="bg1"/>
                </a:solidFill>
              </a:rPr>
              <a:t>Motivation</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6721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97C3B23-58DD-584B-1135-98ADF5AD6562}"/>
              </a:ext>
            </a:extLst>
          </p:cNvPr>
          <p:cNvSpPr/>
          <p:nvPr/>
        </p:nvSpPr>
        <p:spPr>
          <a:xfrm>
            <a:off x="8725072" y="1589484"/>
            <a:ext cx="3308336" cy="3679032"/>
          </a:xfrm>
          <a:prstGeom prst="rect">
            <a:avLst/>
          </a:prstGeom>
          <a:solidFill>
            <a:srgbClr val="002060">
              <a:alpha val="3193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BFEAE3-6A01-C06B-DF30-897D6618995E}"/>
              </a:ext>
            </a:extLst>
          </p:cNvPr>
          <p:cNvSpPr>
            <a:spLocks noGrp="1"/>
          </p:cNvSpPr>
          <p:nvPr>
            <p:ph type="title"/>
          </p:nvPr>
        </p:nvSpPr>
        <p:spPr/>
        <p:txBody>
          <a:bodyPr/>
          <a:lstStyle/>
          <a:p>
            <a:r>
              <a:rPr lang="en-US" dirty="0"/>
              <a:t>Soft Tissue Mechanics: why we need models</a:t>
            </a:r>
          </a:p>
        </p:txBody>
      </p:sp>
      <p:sp>
        <p:nvSpPr>
          <p:cNvPr id="3" name="TextBox 2">
            <a:extLst>
              <a:ext uri="{FF2B5EF4-FFF2-40B4-BE49-F238E27FC236}">
                <a16:creationId xmlns:a16="http://schemas.microsoft.com/office/drawing/2014/main" id="{EEB8C1FA-999C-3F98-5458-BF007FE0E788}"/>
              </a:ext>
            </a:extLst>
          </p:cNvPr>
          <p:cNvSpPr txBox="1"/>
          <p:nvPr/>
        </p:nvSpPr>
        <p:spPr>
          <a:xfrm>
            <a:off x="95078" y="1057991"/>
            <a:ext cx="8079970" cy="64633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Cardiovascular tissues (aorta, pulmonary artery, vein walls) deform nonlinearly under physiological loading</a:t>
            </a:r>
          </a:p>
        </p:txBody>
      </p:sp>
      <p:sp>
        <p:nvSpPr>
          <p:cNvPr id="5" name="TextBox 4">
            <a:extLst>
              <a:ext uri="{FF2B5EF4-FFF2-40B4-BE49-F238E27FC236}">
                <a16:creationId xmlns:a16="http://schemas.microsoft.com/office/drawing/2014/main" id="{05E5E134-9790-8264-654C-25AE17D6C500}"/>
              </a:ext>
            </a:extLst>
          </p:cNvPr>
          <p:cNvSpPr txBox="1"/>
          <p:nvPr/>
        </p:nvSpPr>
        <p:spPr>
          <a:xfrm>
            <a:off x="95078" y="2079555"/>
            <a:ext cx="8079970" cy="64633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Predicting how they deform is essential for: surgical planning, stent design, aneurysm risk assessment, drug delivery modeling</a:t>
            </a:r>
          </a:p>
        </p:txBody>
      </p:sp>
      <p:sp>
        <p:nvSpPr>
          <p:cNvPr id="6" name="TextBox 5">
            <a:extLst>
              <a:ext uri="{FF2B5EF4-FFF2-40B4-BE49-F238E27FC236}">
                <a16:creationId xmlns:a16="http://schemas.microsoft.com/office/drawing/2014/main" id="{ECA91095-47C8-6756-327F-1BB87F2EA79C}"/>
              </a:ext>
            </a:extLst>
          </p:cNvPr>
          <p:cNvSpPr txBox="1"/>
          <p:nvPr/>
        </p:nvSpPr>
        <p:spPr>
          <a:xfrm>
            <a:off x="95078" y="3101119"/>
            <a:ext cx="8079970" cy="64633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This requires constitutive models – mathematical functions mapping deformation to stress</a:t>
            </a:r>
          </a:p>
        </p:txBody>
      </p:sp>
      <p:sp>
        <p:nvSpPr>
          <p:cNvPr id="7" name="TextBox 6">
            <a:extLst>
              <a:ext uri="{FF2B5EF4-FFF2-40B4-BE49-F238E27FC236}">
                <a16:creationId xmlns:a16="http://schemas.microsoft.com/office/drawing/2014/main" id="{F576A2DE-E85C-BCA0-8F5D-D47B1F1A68CD}"/>
              </a:ext>
            </a:extLst>
          </p:cNvPr>
          <p:cNvSpPr txBox="1"/>
          <p:nvPr/>
        </p:nvSpPr>
        <p:spPr>
          <a:xfrm>
            <a:off x="95078" y="4122683"/>
            <a:ext cx="8079970" cy="64633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To use a constitutive model, we must calibrate its parameters from experimental data</a:t>
            </a:r>
          </a:p>
        </p:txBody>
      </p:sp>
      <p:sp>
        <p:nvSpPr>
          <p:cNvPr id="8" name="TextBox 7">
            <a:extLst>
              <a:ext uri="{FF2B5EF4-FFF2-40B4-BE49-F238E27FC236}">
                <a16:creationId xmlns:a16="http://schemas.microsoft.com/office/drawing/2014/main" id="{1F6C70E5-67C7-AD48-2791-AA442145D995}"/>
              </a:ext>
            </a:extLst>
          </p:cNvPr>
          <p:cNvSpPr txBox="1"/>
          <p:nvPr/>
        </p:nvSpPr>
        <p:spPr>
          <a:xfrm>
            <a:off x="8874571" y="1778210"/>
            <a:ext cx="1274708" cy="369332"/>
          </a:xfrm>
          <a:prstGeom prst="rect">
            <a:avLst/>
          </a:prstGeom>
          <a:noFill/>
        </p:spPr>
        <p:txBody>
          <a:bodyPr wrap="none" rtlCol="0">
            <a:spAutoFit/>
          </a:bodyPr>
          <a:lstStyle/>
          <a:p>
            <a:r>
              <a:rPr lang="en-US" b="1" dirty="0">
                <a:solidFill>
                  <a:srgbClr val="0070C0"/>
                </a:solidFill>
              </a:rPr>
              <a:t>The data?</a:t>
            </a:r>
          </a:p>
        </p:txBody>
      </p:sp>
      <p:sp>
        <p:nvSpPr>
          <p:cNvPr id="9" name="TextBox 8">
            <a:extLst>
              <a:ext uri="{FF2B5EF4-FFF2-40B4-BE49-F238E27FC236}">
                <a16:creationId xmlns:a16="http://schemas.microsoft.com/office/drawing/2014/main" id="{FA2E6841-2151-C900-DF8A-DD750B309A0E}"/>
              </a:ext>
            </a:extLst>
          </p:cNvPr>
          <p:cNvSpPr txBox="1"/>
          <p:nvPr/>
        </p:nvSpPr>
        <p:spPr>
          <a:xfrm>
            <a:off x="8874571" y="3633534"/>
            <a:ext cx="1479892" cy="369332"/>
          </a:xfrm>
          <a:prstGeom prst="rect">
            <a:avLst/>
          </a:prstGeom>
          <a:noFill/>
        </p:spPr>
        <p:txBody>
          <a:bodyPr wrap="none" rtlCol="0">
            <a:spAutoFit/>
          </a:bodyPr>
          <a:lstStyle/>
          <a:p>
            <a:r>
              <a:rPr lang="en-US" b="1" dirty="0">
                <a:solidFill>
                  <a:schemeClr val="accent2"/>
                </a:solidFill>
              </a:rPr>
              <a:t>The model?</a:t>
            </a:r>
          </a:p>
        </p:txBody>
      </p:sp>
      <p:sp>
        <p:nvSpPr>
          <p:cNvPr id="10" name="TextBox 9">
            <a:extLst>
              <a:ext uri="{FF2B5EF4-FFF2-40B4-BE49-F238E27FC236}">
                <a16:creationId xmlns:a16="http://schemas.microsoft.com/office/drawing/2014/main" id="{A9116E9A-E48C-CF3F-67A3-D0D436165920}"/>
              </a:ext>
            </a:extLst>
          </p:cNvPr>
          <p:cNvSpPr txBox="1"/>
          <p:nvPr/>
        </p:nvSpPr>
        <p:spPr>
          <a:xfrm>
            <a:off x="8874571" y="2197373"/>
            <a:ext cx="3158837" cy="923330"/>
          </a:xfrm>
          <a:prstGeom prst="rect">
            <a:avLst/>
          </a:prstGeom>
          <a:noFill/>
        </p:spPr>
        <p:txBody>
          <a:bodyPr wrap="square" rtlCol="0">
            <a:spAutoFit/>
          </a:bodyPr>
          <a:lstStyle/>
          <a:p>
            <a:r>
              <a:rPr lang="en-US" dirty="0"/>
              <a:t>Stress-strain curves from biaxial mechanical testing on tissue specimens</a:t>
            </a:r>
          </a:p>
        </p:txBody>
      </p:sp>
      <p:sp>
        <p:nvSpPr>
          <p:cNvPr id="11" name="TextBox 10">
            <a:extLst>
              <a:ext uri="{FF2B5EF4-FFF2-40B4-BE49-F238E27FC236}">
                <a16:creationId xmlns:a16="http://schemas.microsoft.com/office/drawing/2014/main" id="{80BF43DD-618C-05CB-1D3B-682056724134}"/>
              </a:ext>
            </a:extLst>
          </p:cNvPr>
          <p:cNvSpPr txBox="1"/>
          <p:nvPr/>
        </p:nvSpPr>
        <p:spPr>
          <a:xfrm>
            <a:off x="8874571" y="4052696"/>
            <a:ext cx="3222351" cy="923330"/>
          </a:xfrm>
          <a:prstGeom prst="rect">
            <a:avLst/>
          </a:prstGeom>
          <a:noFill/>
        </p:spPr>
        <p:txBody>
          <a:bodyPr wrap="square" rtlCol="0">
            <a:spAutoFit/>
          </a:bodyPr>
          <a:lstStyle/>
          <a:p>
            <a:r>
              <a:rPr lang="en-US" dirty="0"/>
              <a:t>Holzapfel-Gasser-Ogden (HGO) – the de-facto standard for soft tissues</a:t>
            </a:r>
          </a:p>
        </p:txBody>
      </p:sp>
    </p:spTree>
    <p:extLst>
      <p:ext uri="{BB962C8B-B14F-4D97-AF65-F5344CB8AC3E}">
        <p14:creationId xmlns:p14="http://schemas.microsoft.com/office/powerpoint/2010/main" val="391222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C8F1-8FBE-5667-2A22-4290A4E03580}"/>
              </a:ext>
            </a:extLst>
          </p:cNvPr>
          <p:cNvSpPr>
            <a:spLocks noGrp="1"/>
          </p:cNvSpPr>
          <p:nvPr>
            <p:ph type="title"/>
          </p:nvPr>
        </p:nvSpPr>
        <p:spPr/>
        <p:txBody>
          <a:bodyPr/>
          <a:lstStyle/>
          <a:p>
            <a:r>
              <a:rPr lang="en-US" dirty="0"/>
              <a:t>The Planar Biaxial Mechanical Test</a:t>
            </a:r>
          </a:p>
        </p:txBody>
      </p:sp>
      <p:grpSp>
        <p:nvGrpSpPr>
          <p:cNvPr id="34" name="Group 33">
            <a:extLst>
              <a:ext uri="{FF2B5EF4-FFF2-40B4-BE49-F238E27FC236}">
                <a16:creationId xmlns:a16="http://schemas.microsoft.com/office/drawing/2014/main" id="{B39A5FB0-E308-7871-67F4-122FCC698ADE}"/>
              </a:ext>
            </a:extLst>
          </p:cNvPr>
          <p:cNvGrpSpPr/>
          <p:nvPr/>
        </p:nvGrpSpPr>
        <p:grpSpPr>
          <a:xfrm>
            <a:off x="1480358" y="2119744"/>
            <a:ext cx="2534430" cy="2580844"/>
            <a:chOff x="1480358" y="2119744"/>
            <a:chExt cx="1923010" cy="1936089"/>
          </a:xfrm>
        </p:grpSpPr>
        <p:sp>
          <p:nvSpPr>
            <p:cNvPr id="3" name="Rounded Rectangle 2">
              <a:extLst>
                <a:ext uri="{FF2B5EF4-FFF2-40B4-BE49-F238E27FC236}">
                  <a16:creationId xmlns:a16="http://schemas.microsoft.com/office/drawing/2014/main" id="{42066514-A29A-A7E8-656E-FC1CB4B62F44}"/>
                </a:ext>
              </a:extLst>
            </p:cNvPr>
            <p:cNvSpPr/>
            <p:nvPr/>
          </p:nvSpPr>
          <p:spPr>
            <a:xfrm>
              <a:off x="1893223" y="2547072"/>
              <a:ext cx="1097280" cy="1097280"/>
            </a:xfrm>
            <a:prstGeom prst="roundRect">
              <a:avLst/>
            </a:prstGeom>
            <a:solidFill>
              <a:schemeClr val="accent2">
                <a:lumMod val="60000"/>
                <a:lumOff val="40000"/>
              </a:schemeClr>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83E90463-560A-208F-1C56-CF391C98182F}"/>
                </a:ext>
              </a:extLst>
            </p:cNvPr>
            <p:cNvCxnSpPr>
              <a:cxnSpLocks/>
            </p:cNvCxnSpPr>
            <p:nvPr/>
          </p:nvCxnSpPr>
          <p:spPr>
            <a:xfrm flipV="1">
              <a:off x="2111433" y="2119745"/>
              <a:ext cx="0" cy="41148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15040DD-EF54-7E6F-56D0-5C7DF7DF23A1}"/>
                </a:ext>
              </a:extLst>
            </p:cNvPr>
            <p:cNvCxnSpPr>
              <a:cxnSpLocks/>
            </p:cNvCxnSpPr>
            <p:nvPr/>
          </p:nvCxnSpPr>
          <p:spPr>
            <a:xfrm flipV="1">
              <a:off x="2280458" y="2119745"/>
              <a:ext cx="0" cy="41148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6E4D84A-6EDC-072A-ACDE-3DFE9420C0C5}"/>
                </a:ext>
              </a:extLst>
            </p:cNvPr>
            <p:cNvCxnSpPr>
              <a:cxnSpLocks/>
            </p:cNvCxnSpPr>
            <p:nvPr/>
          </p:nvCxnSpPr>
          <p:spPr>
            <a:xfrm flipV="1">
              <a:off x="2444634" y="2119745"/>
              <a:ext cx="0" cy="41148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8740D5C-0ED4-48D4-B454-9D9BE71D8643}"/>
                </a:ext>
              </a:extLst>
            </p:cNvPr>
            <p:cNvCxnSpPr>
              <a:cxnSpLocks/>
            </p:cNvCxnSpPr>
            <p:nvPr/>
          </p:nvCxnSpPr>
          <p:spPr>
            <a:xfrm flipV="1">
              <a:off x="2613660" y="2119744"/>
              <a:ext cx="0" cy="41148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7475B14-C099-9E27-CCF1-0A1CEA3C5E10}"/>
                </a:ext>
              </a:extLst>
            </p:cNvPr>
            <p:cNvCxnSpPr>
              <a:cxnSpLocks/>
            </p:cNvCxnSpPr>
            <p:nvPr/>
          </p:nvCxnSpPr>
          <p:spPr>
            <a:xfrm flipV="1">
              <a:off x="2766060" y="2119744"/>
              <a:ext cx="0" cy="41148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FDCC661-4979-3874-8B7B-98772FB77976}"/>
                </a:ext>
              </a:extLst>
            </p:cNvPr>
            <p:cNvCxnSpPr>
              <a:cxnSpLocks/>
            </p:cNvCxnSpPr>
            <p:nvPr/>
          </p:nvCxnSpPr>
          <p:spPr>
            <a:xfrm flipV="1">
              <a:off x="2111433" y="3644353"/>
              <a:ext cx="0" cy="41148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10D455-0650-3212-847F-BC98775BC920}"/>
                </a:ext>
              </a:extLst>
            </p:cNvPr>
            <p:cNvCxnSpPr>
              <a:cxnSpLocks/>
            </p:cNvCxnSpPr>
            <p:nvPr/>
          </p:nvCxnSpPr>
          <p:spPr>
            <a:xfrm flipV="1">
              <a:off x="2280458" y="3644353"/>
              <a:ext cx="0" cy="41148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590FA2D-6C23-8171-913A-2EC78F772546}"/>
                </a:ext>
              </a:extLst>
            </p:cNvPr>
            <p:cNvCxnSpPr>
              <a:cxnSpLocks/>
            </p:cNvCxnSpPr>
            <p:nvPr/>
          </p:nvCxnSpPr>
          <p:spPr>
            <a:xfrm flipV="1">
              <a:off x="2444634" y="3644353"/>
              <a:ext cx="0" cy="41148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8AF92BD0-F0EA-766D-8ECE-E6AD92BB2A1D}"/>
                </a:ext>
              </a:extLst>
            </p:cNvPr>
            <p:cNvCxnSpPr>
              <a:cxnSpLocks/>
            </p:cNvCxnSpPr>
            <p:nvPr/>
          </p:nvCxnSpPr>
          <p:spPr>
            <a:xfrm flipV="1">
              <a:off x="2613660" y="3644352"/>
              <a:ext cx="0" cy="41148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5D5B5F-99BE-F7A6-57C4-530AA2A07587}"/>
                </a:ext>
              </a:extLst>
            </p:cNvPr>
            <p:cNvCxnSpPr>
              <a:cxnSpLocks/>
            </p:cNvCxnSpPr>
            <p:nvPr/>
          </p:nvCxnSpPr>
          <p:spPr>
            <a:xfrm flipV="1">
              <a:off x="2766060" y="3644352"/>
              <a:ext cx="0" cy="41148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9CCCF74-7080-076F-CF4F-974A9484D2C4}"/>
                </a:ext>
              </a:extLst>
            </p:cNvPr>
            <p:cNvCxnSpPr>
              <a:cxnSpLocks/>
            </p:cNvCxnSpPr>
            <p:nvPr/>
          </p:nvCxnSpPr>
          <p:spPr>
            <a:xfrm>
              <a:off x="2990503" y="2754889"/>
              <a:ext cx="412865" cy="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A81935B-70C8-7D1C-57EA-28DA63C56895}"/>
                </a:ext>
              </a:extLst>
            </p:cNvPr>
            <p:cNvCxnSpPr>
              <a:cxnSpLocks/>
            </p:cNvCxnSpPr>
            <p:nvPr/>
          </p:nvCxnSpPr>
          <p:spPr>
            <a:xfrm>
              <a:off x="2990503" y="2923915"/>
              <a:ext cx="412865" cy="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F4A0474-177E-CFE2-DCCC-7F89E31CDDD6}"/>
                </a:ext>
              </a:extLst>
            </p:cNvPr>
            <p:cNvCxnSpPr>
              <a:cxnSpLocks/>
            </p:cNvCxnSpPr>
            <p:nvPr/>
          </p:nvCxnSpPr>
          <p:spPr>
            <a:xfrm>
              <a:off x="2990502" y="3104632"/>
              <a:ext cx="412865" cy="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B88FEC0-612C-5EE1-F29B-8B029663F783}"/>
                </a:ext>
              </a:extLst>
            </p:cNvPr>
            <p:cNvCxnSpPr>
              <a:cxnSpLocks/>
            </p:cNvCxnSpPr>
            <p:nvPr/>
          </p:nvCxnSpPr>
          <p:spPr>
            <a:xfrm>
              <a:off x="2990503" y="3292446"/>
              <a:ext cx="412865" cy="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2CCE2C-02A7-EA77-436C-F3F90CF75FD3}"/>
                </a:ext>
              </a:extLst>
            </p:cNvPr>
            <p:cNvCxnSpPr>
              <a:cxnSpLocks/>
            </p:cNvCxnSpPr>
            <p:nvPr/>
          </p:nvCxnSpPr>
          <p:spPr>
            <a:xfrm>
              <a:off x="2990502" y="3473163"/>
              <a:ext cx="412865" cy="0"/>
            </a:xfrm>
            <a:prstGeom prst="line">
              <a:avLst/>
            </a:prstGeom>
            <a:ln w="19050">
              <a:solidFill>
                <a:srgbClr val="0070C0"/>
              </a:solidFill>
              <a:tailEnd type="ova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7F06A01-1BEB-9B1A-182B-3DA7F82CF17F}"/>
                </a:ext>
              </a:extLst>
            </p:cNvPr>
            <p:cNvCxnSpPr>
              <a:cxnSpLocks/>
            </p:cNvCxnSpPr>
            <p:nvPr/>
          </p:nvCxnSpPr>
          <p:spPr>
            <a:xfrm>
              <a:off x="1480359" y="2754889"/>
              <a:ext cx="412865" cy="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F9B419C-25B8-CE13-B339-AD76FAB7A424}"/>
                </a:ext>
              </a:extLst>
            </p:cNvPr>
            <p:cNvCxnSpPr>
              <a:cxnSpLocks/>
            </p:cNvCxnSpPr>
            <p:nvPr/>
          </p:nvCxnSpPr>
          <p:spPr>
            <a:xfrm>
              <a:off x="1480359" y="2923915"/>
              <a:ext cx="412865" cy="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700C6F6-8334-7A9A-A02A-9BE7726A83E2}"/>
                </a:ext>
              </a:extLst>
            </p:cNvPr>
            <p:cNvCxnSpPr>
              <a:cxnSpLocks/>
            </p:cNvCxnSpPr>
            <p:nvPr/>
          </p:nvCxnSpPr>
          <p:spPr>
            <a:xfrm>
              <a:off x="1480358" y="3104632"/>
              <a:ext cx="412865" cy="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4FE2F47-115F-62C4-188C-D71579669B2B}"/>
                </a:ext>
              </a:extLst>
            </p:cNvPr>
            <p:cNvCxnSpPr>
              <a:cxnSpLocks/>
            </p:cNvCxnSpPr>
            <p:nvPr/>
          </p:nvCxnSpPr>
          <p:spPr>
            <a:xfrm>
              <a:off x="1480359" y="3292446"/>
              <a:ext cx="412865" cy="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4E7D564-958F-247A-9A71-78652EF7E17B}"/>
                </a:ext>
              </a:extLst>
            </p:cNvPr>
            <p:cNvCxnSpPr>
              <a:cxnSpLocks/>
            </p:cNvCxnSpPr>
            <p:nvPr/>
          </p:nvCxnSpPr>
          <p:spPr>
            <a:xfrm>
              <a:off x="1480358" y="3473163"/>
              <a:ext cx="412865" cy="0"/>
            </a:xfrm>
            <a:prstGeom prst="line">
              <a:avLst/>
            </a:prstGeom>
            <a:ln w="19050">
              <a:solidFill>
                <a:srgbClr val="0070C0"/>
              </a:solidFill>
              <a:headEnd type="oval"/>
              <a:tailEnd type="none"/>
            </a:ln>
          </p:spPr>
          <p:style>
            <a:lnRef idx="1">
              <a:schemeClr val="accent1"/>
            </a:lnRef>
            <a:fillRef idx="0">
              <a:schemeClr val="accent1"/>
            </a:fillRef>
            <a:effectRef idx="0">
              <a:schemeClr val="accent1"/>
            </a:effectRef>
            <a:fontRef idx="minor">
              <a:schemeClr val="tx1"/>
            </a:fontRef>
          </p:style>
        </p:cxnSp>
      </p:grpSp>
      <p:sp>
        <p:nvSpPr>
          <p:cNvPr id="33" name="TextBox 32">
            <a:extLst>
              <a:ext uri="{FF2B5EF4-FFF2-40B4-BE49-F238E27FC236}">
                <a16:creationId xmlns:a16="http://schemas.microsoft.com/office/drawing/2014/main" id="{23BC9E12-AE51-7E97-E7E5-6BB18E41C47A}"/>
              </a:ext>
            </a:extLst>
          </p:cNvPr>
          <p:cNvSpPr txBox="1"/>
          <p:nvPr/>
        </p:nvSpPr>
        <p:spPr>
          <a:xfrm>
            <a:off x="2055753" y="3097560"/>
            <a:ext cx="1446160" cy="646331"/>
          </a:xfrm>
          <a:prstGeom prst="rect">
            <a:avLst/>
          </a:prstGeom>
          <a:noFill/>
        </p:spPr>
        <p:txBody>
          <a:bodyPr wrap="square" rtlCol="0">
            <a:spAutoFit/>
          </a:bodyPr>
          <a:lstStyle/>
          <a:p>
            <a:pPr algn="ctr"/>
            <a:r>
              <a:rPr lang="en-US" b="1" dirty="0">
                <a:solidFill>
                  <a:srgbClr val="7030A0"/>
                </a:solidFill>
              </a:rPr>
              <a:t>tissue specimen</a:t>
            </a:r>
          </a:p>
        </p:txBody>
      </p:sp>
      <p:cxnSp>
        <p:nvCxnSpPr>
          <p:cNvPr id="36" name="Straight Arrow Connector 35">
            <a:extLst>
              <a:ext uri="{FF2B5EF4-FFF2-40B4-BE49-F238E27FC236}">
                <a16:creationId xmlns:a16="http://schemas.microsoft.com/office/drawing/2014/main" id="{033FF9B2-11F1-E9FC-599E-0D3FC4E53E3A}"/>
              </a:ext>
            </a:extLst>
          </p:cNvPr>
          <p:cNvCxnSpPr/>
          <p:nvPr/>
        </p:nvCxnSpPr>
        <p:spPr>
          <a:xfrm flipV="1">
            <a:off x="2746402" y="1614357"/>
            <a:ext cx="0" cy="36576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8598A14D-3864-215A-004B-8C3147EDE508}"/>
              </a:ext>
            </a:extLst>
          </p:cNvPr>
          <p:cNvCxnSpPr>
            <a:cxnSpLocks/>
          </p:cNvCxnSpPr>
          <p:nvPr/>
        </p:nvCxnSpPr>
        <p:spPr>
          <a:xfrm>
            <a:off x="2746402" y="4861338"/>
            <a:ext cx="1170" cy="36576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5B41645-6FDC-CA25-118A-61202112AFD3}"/>
              </a:ext>
            </a:extLst>
          </p:cNvPr>
          <p:cNvCxnSpPr>
            <a:cxnSpLocks/>
          </p:cNvCxnSpPr>
          <p:nvPr/>
        </p:nvCxnSpPr>
        <p:spPr>
          <a:xfrm>
            <a:off x="4162336" y="3429000"/>
            <a:ext cx="365760"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5CD5AD4-CDEA-EAB3-DBA2-DDD50D5196CE}"/>
              </a:ext>
            </a:extLst>
          </p:cNvPr>
          <p:cNvCxnSpPr>
            <a:cxnSpLocks/>
          </p:cNvCxnSpPr>
          <p:nvPr/>
        </p:nvCxnSpPr>
        <p:spPr>
          <a:xfrm flipH="1">
            <a:off x="989213" y="3429000"/>
            <a:ext cx="365760" cy="0"/>
          </a:xfrm>
          <a:prstGeom prst="straightConnector1">
            <a:avLst/>
          </a:prstGeom>
          <a:ln w="476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C7674B2-F57E-9CF1-A55A-9F93046D5171}"/>
                  </a:ext>
                </a:extLst>
              </p:cNvPr>
              <p:cNvSpPr txBox="1"/>
              <p:nvPr/>
            </p:nvSpPr>
            <p:spPr>
              <a:xfrm>
                <a:off x="4528096" y="3236060"/>
                <a:ext cx="7754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p:txBody>
          </p:sp>
        </mc:Choice>
        <mc:Fallback xmlns="">
          <p:sp>
            <p:nvSpPr>
              <p:cNvPr id="43" name="TextBox 42">
                <a:extLst>
                  <a:ext uri="{FF2B5EF4-FFF2-40B4-BE49-F238E27FC236}">
                    <a16:creationId xmlns:a16="http://schemas.microsoft.com/office/drawing/2014/main" id="{0C7674B2-F57E-9CF1-A55A-9F93046D5171}"/>
                  </a:ext>
                </a:extLst>
              </p:cNvPr>
              <p:cNvSpPr txBox="1">
                <a:spLocks noRot="1" noChangeAspect="1" noMove="1" noResize="1" noEditPoints="1" noAdjustHandles="1" noChangeArrowheads="1" noChangeShapeType="1" noTextEdit="1"/>
              </p:cNvSpPr>
              <p:nvPr/>
            </p:nvSpPr>
            <p:spPr>
              <a:xfrm>
                <a:off x="4528096" y="3236060"/>
                <a:ext cx="775404" cy="369332"/>
              </a:xfrm>
              <a:prstGeom prst="rect">
                <a:avLst/>
              </a:prstGeom>
              <a:blipFill>
                <a:blip r:embed="rId3"/>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C16ECF5-A56C-8854-ADCF-6146EAC08C8D}"/>
                  </a:ext>
                </a:extLst>
              </p:cNvPr>
              <p:cNvSpPr txBox="1"/>
              <p:nvPr/>
            </p:nvSpPr>
            <p:spPr>
              <a:xfrm>
                <a:off x="2358700" y="1175211"/>
                <a:ext cx="7860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p:txBody>
          </p:sp>
        </mc:Choice>
        <mc:Fallback xmlns="">
          <p:sp>
            <p:nvSpPr>
              <p:cNvPr id="44" name="TextBox 43">
                <a:extLst>
                  <a:ext uri="{FF2B5EF4-FFF2-40B4-BE49-F238E27FC236}">
                    <a16:creationId xmlns:a16="http://schemas.microsoft.com/office/drawing/2014/main" id="{3C16ECF5-A56C-8854-ADCF-6146EAC08C8D}"/>
                  </a:ext>
                </a:extLst>
              </p:cNvPr>
              <p:cNvSpPr txBox="1">
                <a:spLocks noRot="1" noChangeAspect="1" noMove="1" noResize="1" noEditPoints="1" noAdjustHandles="1" noChangeArrowheads="1" noChangeShapeType="1" noTextEdit="1"/>
              </p:cNvSpPr>
              <p:nvPr/>
            </p:nvSpPr>
            <p:spPr>
              <a:xfrm>
                <a:off x="2358700" y="1175211"/>
                <a:ext cx="786049"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C81CA68-E6F8-9F5F-E1B8-A36E832E5E3A}"/>
                  </a:ext>
                </a:extLst>
              </p:cNvPr>
              <p:cNvSpPr txBox="1"/>
              <p:nvPr/>
            </p:nvSpPr>
            <p:spPr>
              <a:xfrm>
                <a:off x="309915" y="3236060"/>
                <a:ext cx="77540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Sub>
                    </m:oMath>
                  </m:oMathPara>
                </a14:m>
                <a:endParaRPr lang="en-US" dirty="0"/>
              </a:p>
            </p:txBody>
          </p:sp>
        </mc:Choice>
        <mc:Fallback xmlns="">
          <p:sp>
            <p:nvSpPr>
              <p:cNvPr id="45" name="TextBox 44">
                <a:extLst>
                  <a:ext uri="{FF2B5EF4-FFF2-40B4-BE49-F238E27FC236}">
                    <a16:creationId xmlns:a16="http://schemas.microsoft.com/office/drawing/2014/main" id="{7C81CA68-E6F8-9F5F-E1B8-A36E832E5E3A}"/>
                  </a:ext>
                </a:extLst>
              </p:cNvPr>
              <p:cNvSpPr txBox="1">
                <a:spLocks noRot="1" noChangeAspect="1" noMove="1" noResize="1" noEditPoints="1" noAdjustHandles="1" noChangeArrowheads="1" noChangeShapeType="1" noTextEdit="1"/>
              </p:cNvSpPr>
              <p:nvPr/>
            </p:nvSpPr>
            <p:spPr>
              <a:xfrm>
                <a:off x="309915" y="3236060"/>
                <a:ext cx="775404" cy="369332"/>
              </a:xfrm>
              <a:prstGeom prst="rect">
                <a:avLst/>
              </a:prstGeom>
              <a:blipFill>
                <a:blip r:embed="rId5"/>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DE5433E-C85A-F0EA-5B9C-259903CD80CA}"/>
                  </a:ext>
                </a:extLst>
              </p:cNvPr>
              <p:cNvSpPr txBox="1"/>
              <p:nvPr/>
            </p:nvSpPr>
            <p:spPr>
              <a:xfrm>
                <a:off x="2353377" y="5203182"/>
                <a:ext cx="78604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2</m:t>
                          </m:r>
                        </m:sub>
                      </m:sSub>
                    </m:oMath>
                  </m:oMathPara>
                </a14:m>
                <a:endParaRPr lang="en-US" dirty="0"/>
              </a:p>
            </p:txBody>
          </p:sp>
        </mc:Choice>
        <mc:Fallback xmlns="">
          <p:sp>
            <p:nvSpPr>
              <p:cNvPr id="46" name="TextBox 45">
                <a:extLst>
                  <a:ext uri="{FF2B5EF4-FFF2-40B4-BE49-F238E27FC236}">
                    <a16:creationId xmlns:a16="http://schemas.microsoft.com/office/drawing/2014/main" id="{0DE5433E-C85A-F0EA-5B9C-259903CD80CA}"/>
                  </a:ext>
                </a:extLst>
              </p:cNvPr>
              <p:cNvSpPr txBox="1">
                <a:spLocks noRot="1" noChangeAspect="1" noMove="1" noResize="1" noEditPoints="1" noAdjustHandles="1" noChangeArrowheads="1" noChangeShapeType="1" noTextEdit="1"/>
              </p:cNvSpPr>
              <p:nvPr/>
            </p:nvSpPr>
            <p:spPr>
              <a:xfrm>
                <a:off x="2353377" y="5203182"/>
                <a:ext cx="786049" cy="369332"/>
              </a:xfrm>
              <a:prstGeom prst="rect">
                <a:avLst/>
              </a:prstGeom>
              <a:blipFill>
                <a:blip r:embed="rId6"/>
                <a:stretch>
                  <a:fillRect b="-3333"/>
                </a:stretch>
              </a:blipFill>
            </p:spPr>
            <p:txBody>
              <a:bodyPr/>
              <a:lstStyle/>
              <a:p>
                <a:r>
                  <a:rPr lang="en-US">
                    <a:noFill/>
                  </a:rPr>
                  <a:t> </a:t>
                </a:r>
              </a:p>
            </p:txBody>
          </p:sp>
        </mc:Fallback>
      </mc:AlternateContent>
      <p:cxnSp>
        <p:nvCxnSpPr>
          <p:cNvPr id="48" name="Straight Arrow Connector 47">
            <a:extLst>
              <a:ext uri="{FF2B5EF4-FFF2-40B4-BE49-F238E27FC236}">
                <a16:creationId xmlns:a16="http://schemas.microsoft.com/office/drawing/2014/main" id="{4564E0B1-2B1C-EF5C-6CFF-403609C9600B}"/>
              </a:ext>
            </a:extLst>
          </p:cNvPr>
          <p:cNvCxnSpPr/>
          <p:nvPr/>
        </p:nvCxnSpPr>
        <p:spPr>
          <a:xfrm>
            <a:off x="885814" y="5387848"/>
            <a:ext cx="411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7D51469-964C-AA74-8417-843B894050C9}"/>
              </a:ext>
            </a:extLst>
          </p:cNvPr>
          <p:cNvCxnSpPr>
            <a:cxnSpLocks/>
          </p:cNvCxnSpPr>
          <p:nvPr/>
        </p:nvCxnSpPr>
        <p:spPr>
          <a:xfrm flipV="1">
            <a:off x="825731" y="4843105"/>
            <a:ext cx="0"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1D42525-91E8-5A7E-1ED1-AA9555DAE3D2}"/>
                  </a:ext>
                </a:extLst>
              </p:cNvPr>
              <p:cNvSpPr txBox="1"/>
              <p:nvPr/>
            </p:nvSpPr>
            <p:spPr>
              <a:xfrm>
                <a:off x="1303815" y="5196070"/>
                <a:ext cx="47198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m:oMathPara>
                </a14:m>
                <a:endParaRPr lang="en-US" dirty="0"/>
              </a:p>
            </p:txBody>
          </p:sp>
        </mc:Choice>
        <mc:Fallback xmlns="">
          <p:sp>
            <p:nvSpPr>
              <p:cNvPr id="51" name="TextBox 50">
                <a:extLst>
                  <a:ext uri="{FF2B5EF4-FFF2-40B4-BE49-F238E27FC236}">
                    <a16:creationId xmlns:a16="http://schemas.microsoft.com/office/drawing/2014/main" id="{91D42525-91E8-5A7E-1ED1-AA9555DAE3D2}"/>
                  </a:ext>
                </a:extLst>
              </p:cNvPr>
              <p:cNvSpPr txBox="1">
                <a:spLocks noRot="1" noChangeAspect="1" noMove="1" noResize="1" noEditPoints="1" noAdjustHandles="1" noChangeArrowheads="1" noChangeShapeType="1" noTextEdit="1"/>
              </p:cNvSpPr>
              <p:nvPr/>
            </p:nvSpPr>
            <p:spPr>
              <a:xfrm>
                <a:off x="1303815" y="5196070"/>
                <a:ext cx="471988"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85D3FD8-0BD1-838E-3F54-23CD047380A7}"/>
                  </a:ext>
                </a:extLst>
              </p:cNvPr>
              <p:cNvSpPr txBox="1"/>
              <p:nvPr/>
            </p:nvSpPr>
            <p:spPr>
              <a:xfrm>
                <a:off x="613331" y="4400149"/>
                <a:ext cx="47731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m:oMathPara>
                </a14:m>
                <a:endParaRPr lang="en-US" dirty="0"/>
              </a:p>
            </p:txBody>
          </p:sp>
        </mc:Choice>
        <mc:Fallback xmlns="">
          <p:sp>
            <p:nvSpPr>
              <p:cNvPr id="52" name="TextBox 51">
                <a:extLst>
                  <a:ext uri="{FF2B5EF4-FFF2-40B4-BE49-F238E27FC236}">
                    <a16:creationId xmlns:a16="http://schemas.microsoft.com/office/drawing/2014/main" id="{E85D3FD8-0BD1-838E-3F54-23CD047380A7}"/>
                  </a:ext>
                </a:extLst>
              </p:cNvPr>
              <p:cNvSpPr txBox="1">
                <a:spLocks noRot="1" noChangeAspect="1" noMove="1" noResize="1" noEditPoints="1" noAdjustHandles="1" noChangeArrowheads="1" noChangeShapeType="1" noTextEdit="1"/>
              </p:cNvSpPr>
              <p:nvPr/>
            </p:nvSpPr>
            <p:spPr>
              <a:xfrm>
                <a:off x="613331" y="4400149"/>
                <a:ext cx="477310" cy="369332"/>
              </a:xfrm>
              <a:prstGeom prst="rect">
                <a:avLst/>
              </a:prstGeom>
              <a:blipFill>
                <a:blip r:embed="rId8"/>
                <a:stretch>
                  <a:fillRect/>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062F6518-2CE1-232A-6A16-1613247C74AF}"/>
              </a:ext>
            </a:extLst>
          </p:cNvPr>
          <p:cNvSpPr txBox="1"/>
          <p:nvPr/>
        </p:nvSpPr>
        <p:spPr>
          <a:xfrm>
            <a:off x="5898760" y="1397664"/>
            <a:ext cx="1608133" cy="369332"/>
          </a:xfrm>
          <a:prstGeom prst="rect">
            <a:avLst/>
          </a:prstGeom>
          <a:noFill/>
        </p:spPr>
        <p:txBody>
          <a:bodyPr wrap="none" rtlCol="0">
            <a:spAutoFit/>
          </a:bodyPr>
          <a:lstStyle/>
          <a:p>
            <a:r>
              <a:rPr lang="en-US" b="1" dirty="0">
                <a:solidFill>
                  <a:srgbClr val="00B0F0"/>
                </a:solidFill>
              </a:rPr>
              <a:t>How it works</a:t>
            </a:r>
          </a:p>
        </p:txBody>
      </p: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45F4E77C-C237-CA84-C52B-E3C7682BCC82}"/>
                  </a:ext>
                </a:extLst>
              </p:cNvPr>
              <p:cNvSpPr txBox="1"/>
              <p:nvPr/>
            </p:nvSpPr>
            <p:spPr>
              <a:xfrm>
                <a:off x="5898760" y="1928651"/>
                <a:ext cx="6293235" cy="1815199"/>
              </a:xfrm>
              <a:prstGeom prst="rect">
                <a:avLst/>
              </a:prstGeom>
              <a:noFill/>
            </p:spPr>
            <p:txBody>
              <a:bodyPr wrap="square" rtlCol="0">
                <a:spAutoFit/>
              </a:bodyPr>
              <a:lstStyle/>
              <a:p>
                <a:pPr marL="285750" indent="-285750">
                  <a:buFont typeface="Arial" panose="020B0604020202020204" pitchFamily="34" charset="0"/>
                  <a:buChar char="•"/>
                </a:pPr>
                <a:r>
                  <a:rPr lang="en-US" dirty="0"/>
                  <a:t>Square tissue specimen with hooks/sutures on all four sides</a:t>
                </a:r>
              </a:p>
              <a:p>
                <a:pPr marL="285750" indent="-285750">
                  <a:buFont typeface="Arial" panose="020B0604020202020204" pitchFamily="34" charset="0"/>
                  <a:buChar char="•"/>
                </a:pPr>
                <a:r>
                  <a:rPr lang="en-US" dirty="0"/>
                  <a:t>Independent forces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2</m:t>
                        </m:r>
                      </m:sub>
                    </m:sSub>
                  </m:oMath>
                </a14:m>
                <a:r>
                  <a:rPr lang="en-US" dirty="0"/>
                  <a:t> apply controlled  stretches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2</m:t>
                        </m:r>
                      </m:sub>
                    </m:sSub>
                  </m:oMath>
                </a14:m>
                <a:r>
                  <a:rPr lang="en-US" dirty="0"/>
                  <a:t> </a:t>
                </a:r>
              </a:p>
              <a:p>
                <a:pPr marL="285750" indent="-285750">
                  <a:buFont typeface="Arial" panose="020B0604020202020204" pitchFamily="34" charset="0"/>
                  <a:buChar char="•"/>
                </a:pPr>
                <a:r>
                  <a:rPr lang="en-US" dirty="0"/>
                  <a:t>Measure stresses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11</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22</m:t>
                        </m:r>
                      </m:sub>
                    </m:sSub>
                  </m:oMath>
                </a14:m>
                <a:r>
                  <a:rPr lang="en-US" dirty="0"/>
                  <a:t> as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 ramps up</a:t>
                </a:r>
              </a:p>
              <a:p>
                <a:pPr marL="285750" indent="-285750">
                  <a:buFont typeface="Arial" panose="020B0604020202020204" pitchFamily="34" charset="0"/>
                  <a:buChar char="•"/>
                </a:pPr>
                <a:r>
                  <a:rPr lang="en-US" dirty="0"/>
                  <a:t>Vary the ratio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1</m:t>
                        </m:r>
                      </m:sub>
                    </m:sSub>
                  </m:oMath>
                </a14:m>
                <a:r>
                  <a:rPr lang="en-US" dirty="0"/>
                  <a:t>	different loading protocols</a:t>
                </a:r>
              </a:p>
            </p:txBody>
          </p:sp>
        </mc:Choice>
        <mc:Fallback>
          <p:sp>
            <p:nvSpPr>
              <p:cNvPr id="54" name="TextBox 53">
                <a:extLst>
                  <a:ext uri="{FF2B5EF4-FFF2-40B4-BE49-F238E27FC236}">
                    <a16:creationId xmlns:a16="http://schemas.microsoft.com/office/drawing/2014/main" id="{45F4E77C-C237-CA84-C52B-E3C7682BCC82}"/>
                  </a:ext>
                </a:extLst>
              </p:cNvPr>
              <p:cNvSpPr txBox="1">
                <a:spLocks noRot="1" noChangeAspect="1" noMove="1" noResize="1" noEditPoints="1" noAdjustHandles="1" noChangeArrowheads="1" noChangeShapeType="1" noTextEdit="1"/>
              </p:cNvSpPr>
              <p:nvPr/>
            </p:nvSpPr>
            <p:spPr>
              <a:xfrm>
                <a:off x="5898760" y="1928651"/>
                <a:ext cx="6293235" cy="1815199"/>
              </a:xfrm>
              <a:prstGeom prst="rect">
                <a:avLst/>
              </a:prstGeom>
              <a:blipFill>
                <a:blip r:embed="rId9"/>
                <a:stretch>
                  <a:fillRect l="-604" t="-1389" b="-1389"/>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38CF6B1F-2C57-0F31-0304-CB66EC73DA66}"/>
              </a:ext>
            </a:extLst>
          </p:cNvPr>
          <p:cNvSpPr txBox="1"/>
          <p:nvPr/>
        </p:nvSpPr>
        <p:spPr>
          <a:xfrm>
            <a:off x="5898760" y="4231252"/>
            <a:ext cx="4737194" cy="369332"/>
          </a:xfrm>
          <a:prstGeom prst="rect">
            <a:avLst/>
          </a:prstGeom>
          <a:noFill/>
        </p:spPr>
        <p:txBody>
          <a:bodyPr wrap="none" rtlCol="0">
            <a:spAutoFit/>
          </a:bodyPr>
          <a:lstStyle/>
          <a:p>
            <a:r>
              <a:rPr lang="en-US" b="1" dirty="0">
                <a:solidFill>
                  <a:srgbClr val="00B0F0"/>
                </a:solidFill>
              </a:rPr>
              <a:t>Loading protocols this project considers:</a:t>
            </a:r>
          </a:p>
        </p:txBody>
      </p:sp>
      <p:sp>
        <p:nvSpPr>
          <p:cNvPr id="56" name="TextBox 55">
            <a:extLst>
              <a:ext uri="{FF2B5EF4-FFF2-40B4-BE49-F238E27FC236}">
                <a16:creationId xmlns:a16="http://schemas.microsoft.com/office/drawing/2014/main" id="{252E5016-310F-6BA7-7C07-8DFC28EAA2DC}"/>
              </a:ext>
            </a:extLst>
          </p:cNvPr>
          <p:cNvSpPr txBox="1"/>
          <p:nvPr/>
        </p:nvSpPr>
        <p:spPr>
          <a:xfrm>
            <a:off x="5898760" y="4765433"/>
            <a:ext cx="3008196" cy="923330"/>
          </a:xfrm>
          <a:prstGeom prst="rect">
            <a:avLst/>
          </a:prstGeom>
          <a:noFill/>
        </p:spPr>
        <p:txBody>
          <a:bodyPr wrap="none" rtlCol="0">
            <a:spAutoFit/>
          </a:bodyPr>
          <a:lstStyle/>
          <a:p>
            <a:pPr marL="285750" indent="-285750">
              <a:buFont typeface="Arial" panose="020B0604020202020204" pitchFamily="34" charset="0"/>
              <a:buChar char="•"/>
            </a:pPr>
            <a:r>
              <a:rPr lang="en-US" dirty="0" err="1"/>
              <a:t>Equibiaxial</a:t>
            </a:r>
            <a:r>
              <a:rPr lang="en-US" dirty="0"/>
              <a:t> (1:1)</a:t>
            </a:r>
          </a:p>
          <a:p>
            <a:pPr marL="285750" indent="-285750">
              <a:buFont typeface="Arial" panose="020B0604020202020204" pitchFamily="34" charset="0"/>
              <a:buChar char="•"/>
            </a:pPr>
            <a:r>
              <a:rPr lang="en-US" dirty="0"/>
              <a:t>Off-biaxial (1:0.75, 1:0.5)</a:t>
            </a:r>
          </a:p>
          <a:p>
            <a:pPr marL="285750" indent="-285750">
              <a:buFont typeface="Arial" panose="020B0604020202020204" pitchFamily="34" charset="0"/>
              <a:buChar char="•"/>
            </a:pPr>
            <a:r>
              <a:rPr lang="en-US" dirty="0"/>
              <a:t>Uniaxial</a:t>
            </a:r>
          </a:p>
        </p:txBody>
      </p:sp>
      <p:cxnSp>
        <p:nvCxnSpPr>
          <p:cNvPr id="58" name="Straight Arrow Connector 57">
            <a:extLst>
              <a:ext uri="{FF2B5EF4-FFF2-40B4-BE49-F238E27FC236}">
                <a16:creationId xmlns:a16="http://schemas.microsoft.com/office/drawing/2014/main" id="{C7BDAA4F-25C8-8B23-CA8B-D2777F3E9C87}"/>
              </a:ext>
            </a:extLst>
          </p:cNvPr>
          <p:cNvCxnSpPr/>
          <p:nvPr/>
        </p:nvCxnSpPr>
        <p:spPr>
          <a:xfrm>
            <a:off x="8309395" y="3494689"/>
            <a:ext cx="345158"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6343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D92280-6073-DB4D-82F9-D02344745B16}"/>
              </a:ext>
            </a:extLst>
          </p:cNvPr>
          <p:cNvSpPr/>
          <p:nvPr/>
        </p:nvSpPr>
        <p:spPr>
          <a:xfrm>
            <a:off x="6255444" y="1278731"/>
            <a:ext cx="5793582" cy="3943350"/>
          </a:xfrm>
          <a:prstGeom prst="rect">
            <a:avLst/>
          </a:prstGeom>
          <a:solidFill>
            <a:schemeClr val="accent2">
              <a:lumMod val="60000"/>
              <a:lumOff val="40000"/>
              <a:alpha val="11910"/>
            </a:schemeClr>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E5D4FBE-9CCE-A77F-B2ED-79E325161549}"/>
              </a:ext>
            </a:extLst>
          </p:cNvPr>
          <p:cNvSpPr/>
          <p:nvPr/>
        </p:nvSpPr>
        <p:spPr>
          <a:xfrm>
            <a:off x="86046" y="1278731"/>
            <a:ext cx="5793582" cy="3943350"/>
          </a:xfrm>
          <a:prstGeom prst="rect">
            <a:avLst/>
          </a:prstGeom>
          <a:solidFill>
            <a:srgbClr val="002060">
              <a:alpha val="21659"/>
            </a:srgbClr>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43EBEA-256A-8613-2BB2-2AE361948E59}"/>
              </a:ext>
            </a:extLst>
          </p:cNvPr>
          <p:cNvSpPr>
            <a:spLocks noGrp="1"/>
          </p:cNvSpPr>
          <p:nvPr>
            <p:ph type="title"/>
          </p:nvPr>
        </p:nvSpPr>
        <p:spPr/>
        <p:txBody>
          <a:bodyPr/>
          <a:lstStyle/>
          <a:p>
            <a:r>
              <a:rPr lang="en-US" dirty="0"/>
              <a:t>The Research Gap</a:t>
            </a:r>
          </a:p>
        </p:txBody>
      </p:sp>
      <p:sp>
        <p:nvSpPr>
          <p:cNvPr id="3" name="TextBox 2">
            <a:extLst>
              <a:ext uri="{FF2B5EF4-FFF2-40B4-BE49-F238E27FC236}">
                <a16:creationId xmlns:a16="http://schemas.microsoft.com/office/drawing/2014/main" id="{F43F3765-91CD-99FE-C96B-B7748C45C37D}"/>
              </a:ext>
            </a:extLst>
          </p:cNvPr>
          <p:cNvSpPr txBox="1"/>
          <p:nvPr/>
        </p:nvSpPr>
        <p:spPr>
          <a:xfrm>
            <a:off x="86046" y="1415225"/>
            <a:ext cx="2146742" cy="369332"/>
          </a:xfrm>
          <a:prstGeom prst="rect">
            <a:avLst/>
          </a:prstGeom>
          <a:noFill/>
        </p:spPr>
        <p:txBody>
          <a:bodyPr wrap="none" rtlCol="0">
            <a:spAutoFit/>
          </a:bodyPr>
          <a:lstStyle/>
          <a:p>
            <a:r>
              <a:rPr lang="en-US" b="1" dirty="0">
                <a:solidFill>
                  <a:srgbClr val="00B0F0"/>
                </a:solidFill>
              </a:rPr>
              <a:t>Standard Practice</a:t>
            </a:r>
          </a:p>
        </p:txBody>
      </p:sp>
      <p:sp>
        <p:nvSpPr>
          <p:cNvPr id="4" name="TextBox 3">
            <a:extLst>
              <a:ext uri="{FF2B5EF4-FFF2-40B4-BE49-F238E27FC236}">
                <a16:creationId xmlns:a16="http://schemas.microsoft.com/office/drawing/2014/main" id="{2F321223-C574-A052-353E-5ECC1EFE0BB2}"/>
              </a:ext>
            </a:extLst>
          </p:cNvPr>
          <p:cNvSpPr txBox="1"/>
          <p:nvPr/>
        </p:nvSpPr>
        <p:spPr>
          <a:xfrm>
            <a:off x="86046" y="2136337"/>
            <a:ext cx="5793582" cy="2585323"/>
          </a:xfrm>
          <a:prstGeom prst="rect">
            <a:avLst/>
          </a:prstGeom>
          <a:noFill/>
        </p:spPr>
        <p:txBody>
          <a:bodyPr wrap="square" rtlCol="0">
            <a:spAutoFit/>
          </a:bodyPr>
          <a:lstStyle/>
          <a:p>
            <a:pPr marL="285750" indent="-285750">
              <a:buFont typeface="Wingdings" pitchFamily="2" charset="2"/>
              <a:buChar char="§"/>
            </a:pPr>
            <a:r>
              <a:rPr lang="en-US" dirty="0"/>
              <a:t>Fit HGO to biaxial data with nonlinear least squares</a:t>
            </a:r>
          </a:p>
          <a:p>
            <a:pPr marL="285750" indent="-285750">
              <a:buFont typeface="Wingdings" pitchFamily="2" charset="2"/>
              <a:buChar char="§"/>
            </a:pPr>
            <a:endParaRPr lang="en-US" dirty="0"/>
          </a:p>
          <a:p>
            <a:pPr marL="285750" indent="-285750">
              <a:buFont typeface="Wingdings" pitchFamily="2" charset="2"/>
              <a:buChar char="§"/>
            </a:pPr>
            <a:r>
              <a:rPr lang="en-US" dirty="0"/>
              <a:t>Report parameter point estimates plus a confidence interval from the Hessian at the optimum</a:t>
            </a:r>
          </a:p>
          <a:p>
            <a:pPr marL="285750" indent="-285750">
              <a:buFont typeface="Wingdings" pitchFamily="2" charset="2"/>
              <a:buChar char="§"/>
            </a:pPr>
            <a:endParaRPr lang="en-US" dirty="0"/>
          </a:p>
          <a:p>
            <a:pPr marL="285750" indent="-285750">
              <a:buFont typeface="Wingdings" pitchFamily="2" charset="2"/>
              <a:buChar char="§"/>
            </a:pPr>
            <a:r>
              <a:rPr lang="en-US" dirty="0"/>
              <a:t>Treat each parameter independently</a:t>
            </a:r>
          </a:p>
          <a:p>
            <a:pPr marL="285750" indent="-285750">
              <a:buFont typeface="Wingdings" pitchFamily="2" charset="2"/>
              <a:buChar char="§"/>
            </a:pPr>
            <a:endParaRPr lang="en-US" dirty="0"/>
          </a:p>
          <a:p>
            <a:pPr marL="285750" indent="-285750">
              <a:buFont typeface="Wingdings" pitchFamily="2" charset="2"/>
              <a:buChar char="§"/>
            </a:pPr>
            <a:r>
              <a:rPr lang="en-US" dirty="0"/>
              <a:t>Local view of identifiability – only valid in a small neighborhood of the optimum</a:t>
            </a:r>
          </a:p>
        </p:txBody>
      </p:sp>
      <p:sp>
        <p:nvSpPr>
          <p:cNvPr id="5" name="TextBox 4">
            <a:extLst>
              <a:ext uri="{FF2B5EF4-FFF2-40B4-BE49-F238E27FC236}">
                <a16:creationId xmlns:a16="http://schemas.microsoft.com/office/drawing/2014/main" id="{39A0A46B-A349-4466-9681-D3874DA88424}"/>
              </a:ext>
            </a:extLst>
          </p:cNvPr>
          <p:cNvSpPr txBox="1"/>
          <p:nvPr/>
        </p:nvSpPr>
        <p:spPr>
          <a:xfrm>
            <a:off x="6312372" y="1383692"/>
            <a:ext cx="2582758" cy="369332"/>
          </a:xfrm>
          <a:prstGeom prst="rect">
            <a:avLst/>
          </a:prstGeom>
          <a:noFill/>
        </p:spPr>
        <p:txBody>
          <a:bodyPr wrap="none" rtlCol="0">
            <a:spAutoFit/>
          </a:bodyPr>
          <a:lstStyle/>
          <a:p>
            <a:r>
              <a:rPr lang="en-US" b="1" dirty="0">
                <a:solidFill>
                  <a:schemeClr val="accent2"/>
                </a:solidFill>
              </a:rPr>
              <a:t>The Missing Question</a:t>
            </a:r>
          </a:p>
        </p:txBody>
      </p:sp>
      <p:sp>
        <p:nvSpPr>
          <p:cNvPr id="6" name="TextBox 5">
            <a:extLst>
              <a:ext uri="{FF2B5EF4-FFF2-40B4-BE49-F238E27FC236}">
                <a16:creationId xmlns:a16="http://schemas.microsoft.com/office/drawing/2014/main" id="{5859D037-BB85-76A6-4C66-07D3CD2B051A}"/>
              </a:ext>
            </a:extLst>
          </p:cNvPr>
          <p:cNvSpPr txBox="1"/>
          <p:nvPr/>
        </p:nvSpPr>
        <p:spPr>
          <a:xfrm>
            <a:off x="6224588" y="1997837"/>
            <a:ext cx="5824438" cy="2862322"/>
          </a:xfrm>
          <a:prstGeom prst="rect">
            <a:avLst/>
          </a:prstGeom>
          <a:noFill/>
        </p:spPr>
        <p:txBody>
          <a:bodyPr wrap="square" rtlCol="0">
            <a:spAutoFit/>
          </a:bodyPr>
          <a:lstStyle/>
          <a:p>
            <a:pPr marL="285750" indent="-285750" algn="just">
              <a:buFont typeface="Wingdings" pitchFamily="2" charset="2"/>
              <a:buChar char="§"/>
            </a:pPr>
            <a:r>
              <a:rPr lang="en-US" dirty="0"/>
              <a:t>Across the full physiologically plausible parameter range, how much does each parameter actually influence the stress response under a given loading protocol?</a:t>
            </a:r>
          </a:p>
          <a:p>
            <a:pPr marL="285750" indent="-285750" algn="just">
              <a:buFont typeface="Wingdings" pitchFamily="2" charset="2"/>
              <a:buChar char="§"/>
            </a:pPr>
            <a:endParaRPr lang="en-US" dirty="0"/>
          </a:p>
          <a:p>
            <a:pPr marL="285750" indent="-285750" algn="just">
              <a:buFont typeface="Wingdings" pitchFamily="2" charset="2"/>
              <a:buChar char="§"/>
            </a:pPr>
            <a:r>
              <a:rPr lang="en-US" dirty="0"/>
              <a:t>Global view of identifiability – independent of any particular fit</a:t>
            </a:r>
          </a:p>
          <a:p>
            <a:pPr marL="285750" indent="-285750" algn="just">
              <a:buFont typeface="Wingdings" pitchFamily="2" charset="2"/>
              <a:buChar char="§"/>
            </a:pPr>
            <a:endParaRPr lang="en-US" dirty="0"/>
          </a:p>
          <a:p>
            <a:pPr marL="285750" indent="-285750" algn="just">
              <a:buFont typeface="Wingdings" pitchFamily="2" charset="2"/>
              <a:buChar char="§"/>
            </a:pPr>
            <a:r>
              <a:rPr lang="en-US" dirty="0"/>
              <a:t>Tells us which protocols genuinely identify which parameters </a:t>
            </a:r>
          </a:p>
        </p:txBody>
      </p:sp>
      <p:sp>
        <p:nvSpPr>
          <p:cNvPr id="9" name="TextBox 8">
            <a:extLst>
              <a:ext uri="{FF2B5EF4-FFF2-40B4-BE49-F238E27FC236}">
                <a16:creationId xmlns:a16="http://schemas.microsoft.com/office/drawing/2014/main" id="{C2AF3B40-1C9E-8B2D-A243-FE67A3F3C6C3}"/>
              </a:ext>
            </a:extLst>
          </p:cNvPr>
          <p:cNvSpPr txBox="1"/>
          <p:nvPr/>
        </p:nvSpPr>
        <p:spPr>
          <a:xfrm>
            <a:off x="3611986" y="5710355"/>
            <a:ext cx="4968027" cy="369332"/>
          </a:xfrm>
          <a:prstGeom prst="rect">
            <a:avLst/>
          </a:prstGeom>
          <a:noFill/>
        </p:spPr>
        <p:txBody>
          <a:bodyPr wrap="none" rtlCol="0">
            <a:spAutoFit/>
          </a:bodyPr>
          <a:lstStyle/>
          <a:p>
            <a:r>
              <a:rPr lang="en-US" dirty="0"/>
              <a:t>This is what global sensitivity analysis answers</a:t>
            </a:r>
          </a:p>
        </p:txBody>
      </p:sp>
    </p:spTree>
    <p:extLst>
      <p:ext uri="{BB962C8B-B14F-4D97-AF65-F5344CB8AC3E}">
        <p14:creationId xmlns:p14="http://schemas.microsoft.com/office/powerpoint/2010/main" val="2284128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1511B-EC00-C916-E913-E81535081AA8}"/>
              </a:ext>
            </a:extLst>
          </p:cNvPr>
          <p:cNvSpPr>
            <a:spLocks noGrp="1"/>
          </p:cNvSpPr>
          <p:nvPr>
            <p:ph type="title"/>
          </p:nvPr>
        </p:nvSpPr>
        <p:spPr/>
        <p:txBody>
          <a:bodyPr/>
          <a:lstStyle/>
          <a:p>
            <a:r>
              <a:rPr lang="en-US" dirty="0"/>
              <a:t>Why this matters for my own research</a:t>
            </a:r>
          </a:p>
        </p:txBody>
      </p:sp>
      <p:sp>
        <p:nvSpPr>
          <p:cNvPr id="4" name="TextBox 3">
            <a:extLst>
              <a:ext uri="{FF2B5EF4-FFF2-40B4-BE49-F238E27FC236}">
                <a16:creationId xmlns:a16="http://schemas.microsoft.com/office/drawing/2014/main" id="{04D20A08-616E-5AC3-23B5-9811111D5301}"/>
              </a:ext>
            </a:extLst>
          </p:cNvPr>
          <p:cNvSpPr txBox="1"/>
          <p:nvPr/>
        </p:nvSpPr>
        <p:spPr>
          <a:xfrm>
            <a:off x="193202" y="1028334"/>
            <a:ext cx="4596130" cy="369332"/>
          </a:xfrm>
          <a:prstGeom prst="rect">
            <a:avLst/>
          </a:prstGeom>
          <a:noFill/>
        </p:spPr>
        <p:txBody>
          <a:bodyPr wrap="none" rtlCol="0">
            <a:spAutoFit/>
          </a:bodyPr>
          <a:lstStyle/>
          <a:p>
            <a:r>
              <a:rPr lang="en-US" b="1" dirty="0">
                <a:solidFill>
                  <a:schemeClr val="accent4"/>
                </a:solidFill>
              </a:rPr>
              <a:t>Empirical observation from my research</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BB8DE89-0D6D-4339-4D15-37580B3ECA90}"/>
                  </a:ext>
                </a:extLst>
              </p:cNvPr>
              <p:cNvSpPr txBox="1"/>
              <p:nvPr/>
            </p:nvSpPr>
            <p:spPr>
              <a:xfrm>
                <a:off x="193202" y="1571352"/>
                <a:ext cx="11998798" cy="646331"/>
              </a:xfrm>
              <a:prstGeom prst="rect">
                <a:avLst/>
              </a:prstGeom>
              <a:noFill/>
            </p:spPr>
            <p:txBody>
              <a:bodyPr wrap="square" rtlCol="0">
                <a:spAutoFit/>
              </a:bodyPr>
              <a:lstStyle/>
              <a:p>
                <a:r>
                  <a:rPr lang="en-US" dirty="0"/>
                  <a:t>When I fit the HGO model to </a:t>
                </a:r>
                <a:r>
                  <a:rPr lang="en-US" dirty="0" err="1"/>
                  <a:t>equibiaxial</a:t>
                </a:r>
                <a:r>
                  <a:rPr lang="en-US" dirty="0"/>
                  <a:t> biaxial-test data, </a:t>
                </a:r>
                <a:r>
                  <a:rPr lang="en-US" dirty="0">
                    <a:solidFill>
                      <a:schemeClr val="accent2"/>
                    </a:solidFill>
                  </a:rPr>
                  <a:t>the fiber angle </a:t>
                </a:r>
                <a14:m>
                  <m:oMath xmlns:m="http://schemas.openxmlformats.org/officeDocument/2006/math">
                    <m:r>
                      <a:rPr lang="en-US" i="1" smtClean="0">
                        <a:solidFill>
                          <a:schemeClr val="accent2"/>
                        </a:solidFill>
                        <a:latin typeface="Cambria Math" panose="02040503050406030204" pitchFamily="18" charset="0"/>
                        <a:ea typeface="Cambria Math" panose="02040503050406030204" pitchFamily="18" charset="0"/>
                      </a:rPr>
                      <m:t>𝛼</m:t>
                    </m:r>
                  </m:oMath>
                </a14:m>
                <a:r>
                  <a:rPr lang="en-US" dirty="0">
                    <a:solidFill>
                      <a:schemeClr val="accent2"/>
                    </a:solidFill>
                  </a:rPr>
                  <a:t> was not recoverable</a:t>
                </a:r>
                <a:r>
                  <a:rPr lang="en-US" dirty="0"/>
                  <a:t>. Different fit runs returned wildly different </a:t>
                </a:r>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US" dirty="0"/>
                  <a:t> values, all with similar fit quality. The inverse problem appeared rank-deficient. Why?</a:t>
                </a:r>
              </a:p>
            </p:txBody>
          </p:sp>
        </mc:Choice>
        <mc:Fallback xmlns="">
          <p:sp>
            <p:nvSpPr>
              <p:cNvPr id="5" name="TextBox 4">
                <a:extLst>
                  <a:ext uri="{FF2B5EF4-FFF2-40B4-BE49-F238E27FC236}">
                    <a16:creationId xmlns:a16="http://schemas.microsoft.com/office/drawing/2014/main" id="{CBB8DE89-0D6D-4339-4D15-37580B3ECA90}"/>
                  </a:ext>
                </a:extLst>
              </p:cNvPr>
              <p:cNvSpPr txBox="1">
                <a:spLocks noRot="1" noChangeAspect="1" noMove="1" noResize="1" noEditPoints="1" noAdjustHandles="1" noChangeArrowheads="1" noChangeShapeType="1" noTextEdit="1"/>
              </p:cNvSpPr>
              <p:nvPr/>
            </p:nvSpPr>
            <p:spPr>
              <a:xfrm>
                <a:off x="193202" y="1571352"/>
                <a:ext cx="11998798" cy="646331"/>
              </a:xfrm>
              <a:prstGeom prst="rect">
                <a:avLst/>
              </a:prstGeom>
              <a:blipFill>
                <a:blip r:embed="rId3"/>
                <a:stretch>
                  <a:fillRect l="-423" t="-3846" b="-1346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DF5AEFA-AFE5-D478-B834-EC9D9D11F9E7}"/>
              </a:ext>
            </a:extLst>
          </p:cNvPr>
          <p:cNvSpPr txBox="1"/>
          <p:nvPr/>
        </p:nvSpPr>
        <p:spPr>
          <a:xfrm>
            <a:off x="193202" y="3244334"/>
            <a:ext cx="2958887" cy="369332"/>
          </a:xfrm>
          <a:prstGeom prst="rect">
            <a:avLst/>
          </a:prstGeom>
          <a:noFill/>
        </p:spPr>
        <p:txBody>
          <a:bodyPr wrap="none" rtlCol="0">
            <a:spAutoFit/>
          </a:bodyPr>
          <a:lstStyle/>
          <a:p>
            <a:r>
              <a:rPr lang="en-US" b="1" dirty="0">
                <a:solidFill>
                  <a:schemeClr val="accent4"/>
                </a:solidFill>
              </a:rPr>
              <a:t>This project’s hypothesis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995C53-65B1-FDD9-16EB-291965F119F3}"/>
                  </a:ext>
                </a:extLst>
              </p:cNvPr>
              <p:cNvSpPr txBox="1"/>
              <p:nvPr/>
            </p:nvSpPr>
            <p:spPr>
              <a:xfrm>
                <a:off x="193202" y="3821907"/>
                <a:ext cx="11238013" cy="1477328"/>
              </a:xfrm>
              <a:prstGeom prst="rect">
                <a:avLst/>
              </a:prstGeom>
              <a:noFill/>
            </p:spPr>
            <p:txBody>
              <a:bodyPr wrap="none" rtlCol="0">
                <a:spAutoFit/>
              </a:bodyPr>
              <a:lstStyle/>
              <a:p>
                <a:pPr marL="285750" indent="-285750">
                  <a:buFont typeface="Courier New" panose="02070309020205020404" pitchFamily="49" charset="0"/>
                  <a:buChar char="o"/>
                </a:pPr>
                <a:r>
                  <a:rPr lang="en-US" dirty="0"/>
                  <a:t>Variance-based sensitivity analysis will quantitatively explain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𝛼</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𝑠</m:t>
                    </m:r>
                  </m:oMath>
                </a14:m>
                <a:r>
                  <a:rPr lang="en-US" dirty="0"/>
                  <a:t> rank deficiency under </a:t>
                </a:r>
                <a:r>
                  <a:rPr lang="en-US" dirty="0" err="1"/>
                  <a:t>equibiaxial</a:t>
                </a:r>
                <a:r>
                  <a:rPr lang="en-US" dirty="0"/>
                  <a:t> loading</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Other loading protocols (off-biaxial, uniaxial) should activate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more strongly – making it identifiable</a:t>
                </a:r>
              </a:p>
              <a:p>
                <a:pPr marL="285750" indent="-285750">
                  <a:buFont typeface="Courier New" panose="02070309020205020404" pitchFamily="49" charset="0"/>
                  <a:buChar char="o"/>
                </a:pPr>
                <a:endParaRPr lang="en-US" dirty="0"/>
              </a:p>
              <a:p>
                <a:pPr marL="285750" indent="-285750">
                  <a:buFont typeface="Courier New" panose="02070309020205020404" pitchFamily="49" charset="0"/>
                  <a:buChar char="o"/>
                </a:pPr>
                <a:r>
                  <a:rPr lang="en-US" dirty="0"/>
                  <a:t>Output: a quantitative protocol-design figure for cardiovascular biomechanics experimentalists</a:t>
                </a:r>
              </a:p>
            </p:txBody>
          </p:sp>
        </mc:Choice>
        <mc:Fallback xmlns="">
          <p:sp>
            <p:nvSpPr>
              <p:cNvPr id="7" name="TextBox 6">
                <a:extLst>
                  <a:ext uri="{FF2B5EF4-FFF2-40B4-BE49-F238E27FC236}">
                    <a16:creationId xmlns:a16="http://schemas.microsoft.com/office/drawing/2014/main" id="{6C995C53-65B1-FDD9-16EB-291965F119F3}"/>
                  </a:ext>
                </a:extLst>
              </p:cNvPr>
              <p:cNvSpPr txBox="1">
                <a:spLocks noRot="1" noChangeAspect="1" noMove="1" noResize="1" noEditPoints="1" noAdjustHandles="1" noChangeArrowheads="1" noChangeShapeType="1" noTextEdit="1"/>
              </p:cNvSpPr>
              <p:nvPr/>
            </p:nvSpPr>
            <p:spPr>
              <a:xfrm>
                <a:off x="193202" y="3821907"/>
                <a:ext cx="11238013" cy="1477328"/>
              </a:xfrm>
              <a:prstGeom prst="rect">
                <a:avLst/>
              </a:prstGeom>
              <a:blipFill>
                <a:blip r:embed="rId4"/>
                <a:stretch>
                  <a:fillRect l="-339" t="-1695" b="-5085"/>
                </a:stretch>
              </a:blipFill>
            </p:spPr>
            <p:txBody>
              <a:bodyPr/>
              <a:lstStyle/>
              <a:p>
                <a:r>
                  <a:rPr lang="en-US">
                    <a:noFill/>
                  </a:rPr>
                  <a:t> </a:t>
                </a:r>
              </a:p>
            </p:txBody>
          </p:sp>
        </mc:Fallback>
      </mc:AlternateContent>
    </p:spTree>
    <p:extLst>
      <p:ext uri="{BB962C8B-B14F-4D97-AF65-F5344CB8AC3E}">
        <p14:creationId xmlns:p14="http://schemas.microsoft.com/office/powerpoint/2010/main" val="4036118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2</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6442789" cy="646331"/>
          </a:xfrm>
          <a:prstGeom prst="rect">
            <a:avLst/>
          </a:prstGeom>
          <a:noFill/>
        </p:spPr>
        <p:txBody>
          <a:bodyPr wrap="none" rtlCol="0">
            <a:spAutoFit/>
          </a:bodyPr>
          <a:lstStyle/>
          <a:p>
            <a:r>
              <a:rPr lang="en-US" sz="3600" b="1" dirty="0">
                <a:solidFill>
                  <a:schemeClr val="bg1"/>
                </a:solidFill>
              </a:rPr>
              <a:t>The HGO Constitutive Model</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2253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1E393D2-55C3-D831-61D2-CD9EFBAFF50A}"/>
              </a:ext>
            </a:extLst>
          </p:cNvPr>
          <p:cNvSpPr/>
          <p:nvPr/>
        </p:nvSpPr>
        <p:spPr>
          <a:xfrm>
            <a:off x="3096726" y="2411636"/>
            <a:ext cx="6393656" cy="1364456"/>
          </a:xfrm>
          <a:prstGeom prst="rect">
            <a:avLst/>
          </a:prstGeom>
          <a:solidFill>
            <a:schemeClr val="tx1">
              <a:alpha val="18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63945-5A13-954F-B074-ACDA6F00EE34}"/>
              </a:ext>
            </a:extLst>
          </p:cNvPr>
          <p:cNvSpPr>
            <a:spLocks noGrp="1"/>
          </p:cNvSpPr>
          <p:nvPr>
            <p:ph type="title"/>
          </p:nvPr>
        </p:nvSpPr>
        <p:spPr/>
        <p:txBody>
          <a:bodyPr/>
          <a:lstStyle/>
          <a:p>
            <a:r>
              <a:rPr lang="en-US" dirty="0" err="1"/>
              <a:t>Hyperelasticity</a:t>
            </a:r>
            <a:r>
              <a:rPr lang="en-US" dirty="0"/>
              <a:t> of Soft-Tissue Material</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70E2FC5-8FB7-D243-7582-DFF39592D230}"/>
                  </a:ext>
                </a:extLst>
              </p:cNvPr>
              <p:cNvSpPr txBox="1"/>
              <p:nvPr/>
            </p:nvSpPr>
            <p:spPr>
              <a:xfrm>
                <a:off x="0" y="1045775"/>
                <a:ext cx="12192000" cy="646331"/>
              </a:xfrm>
              <a:prstGeom prst="rect">
                <a:avLst/>
              </a:prstGeom>
              <a:noFill/>
            </p:spPr>
            <p:txBody>
              <a:bodyPr wrap="square" rtlCol="0">
                <a:spAutoFit/>
              </a:bodyPr>
              <a:lstStyle/>
              <a:p>
                <a:r>
                  <a:rPr lang="en-US" dirty="0"/>
                  <a:t>A </a:t>
                </a:r>
                <a:r>
                  <a:rPr lang="en-US" dirty="0" err="1"/>
                  <a:t>hyperelastic</a:t>
                </a:r>
                <a:r>
                  <a:rPr lang="en-US" dirty="0"/>
                  <a:t> material is fully described by a scalar strain-energy function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𝐹</m:t>
                    </m:r>
                  </m:oMath>
                </a14:m>
                <a:r>
                  <a:rPr lang="en-US" dirty="0"/>
                  <a:t> is the deformation gradient. Stress is obtained by differentiating </a:t>
                </a:r>
                <a14:m>
                  <m:oMath xmlns:m="http://schemas.openxmlformats.org/officeDocument/2006/math">
                    <m:r>
                      <m:rPr>
                        <m:sty m:val="p"/>
                      </m:rPr>
                      <a:rPr lang="el-GR" i="1">
                        <a:latin typeface="Cambria Math" panose="02040503050406030204" pitchFamily="18" charset="0"/>
                        <a:ea typeface="Cambria Math" panose="02040503050406030204" pitchFamily="18" charset="0"/>
                      </a:rPr>
                      <m:t>Ψ</m:t>
                    </m:r>
                  </m:oMath>
                </a14:m>
                <a:r>
                  <a:rPr lang="en-US" dirty="0"/>
                  <a:t> – no path dependence, no history</a:t>
                </a:r>
              </a:p>
            </p:txBody>
          </p:sp>
        </mc:Choice>
        <mc:Fallback xmlns="">
          <p:sp>
            <p:nvSpPr>
              <p:cNvPr id="3" name="TextBox 2">
                <a:extLst>
                  <a:ext uri="{FF2B5EF4-FFF2-40B4-BE49-F238E27FC236}">
                    <a16:creationId xmlns:a16="http://schemas.microsoft.com/office/drawing/2014/main" id="{C70E2FC5-8FB7-D243-7582-DFF39592D230}"/>
                  </a:ext>
                </a:extLst>
              </p:cNvPr>
              <p:cNvSpPr txBox="1">
                <a:spLocks noRot="1" noChangeAspect="1" noMove="1" noResize="1" noEditPoints="1" noAdjustHandles="1" noChangeArrowheads="1" noChangeShapeType="1" noTextEdit="1"/>
              </p:cNvSpPr>
              <p:nvPr/>
            </p:nvSpPr>
            <p:spPr>
              <a:xfrm>
                <a:off x="0" y="1045775"/>
                <a:ext cx="12192000" cy="646331"/>
              </a:xfrm>
              <a:prstGeom prst="rect">
                <a:avLst/>
              </a:prstGeom>
              <a:blipFill>
                <a:blip r:embed="rId3"/>
                <a:stretch>
                  <a:fillRect l="-416" t="-3846" b="-13462"/>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6249BB3-45CE-E67E-8319-3E95D463762F}"/>
              </a:ext>
            </a:extLst>
          </p:cNvPr>
          <p:cNvSpPr txBox="1"/>
          <p:nvPr/>
        </p:nvSpPr>
        <p:spPr>
          <a:xfrm>
            <a:off x="3683773" y="2657475"/>
            <a:ext cx="1774845" cy="369332"/>
          </a:xfrm>
          <a:prstGeom prst="rect">
            <a:avLst/>
          </a:prstGeom>
          <a:noFill/>
        </p:spPr>
        <p:txBody>
          <a:bodyPr wrap="none" rtlCol="0">
            <a:spAutoFit/>
          </a:bodyPr>
          <a:lstStyle/>
          <a:p>
            <a:r>
              <a:rPr lang="en-US" dirty="0"/>
              <a:t>Cauchy stress: </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48FDAD5-5C55-87F7-4A2B-C85EC8C5626C}"/>
                  </a:ext>
                </a:extLst>
              </p:cNvPr>
              <p:cNvSpPr txBox="1"/>
              <p:nvPr/>
            </p:nvSpPr>
            <p:spPr>
              <a:xfrm>
                <a:off x="6293554" y="2531594"/>
                <a:ext cx="2172582" cy="5622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𝐽</m:t>
                              </m:r>
                            </m:den>
                          </m:f>
                        </m:e>
                      </m:d>
                      <m:r>
                        <a:rPr lang="en-US" b="0" i="1" smtClean="0">
                          <a:latin typeface="Cambria Math" panose="02040503050406030204" pitchFamily="18" charset="0"/>
                          <a:ea typeface="Cambria Math" panose="02040503050406030204" pitchFamily="18" charset="0"/>
                        </a:rPr>
                        <m:t>𝐹</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f>
                            <m:fPr>
                              <m:type m:val="skw"/>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Ψ</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𝐹</m:t>
                              </m:r>
                            </m:den>
                          </m:f>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𝑇</m:t>
                          </m:r>
                        </m:sup>
                      </m:sSup>
                    </m:oMath>
                  </m:oMathPara>
                </a14:m>
                <a:endParaRPr lang="en-US" dirty="0"/>
              </a:p>
            </p:txBody>
          </p:sp>
        </mc:Choice>
        <mc:Fallback xmlns="">
          <p:sp>
            <p:nvSpPr>
              <p:cNvPr id="5" name="TextBox 4">
                <a:extLst>
                  <a:ext uri="{FF2B5EF4-FFF2-40B4-BE49-F238E27FC236}">
                    <a16:creationId xmlns:a16="http://schemas.microsoft.com/office/drawing/2014/main" id="{448FDAD5-5C55-87F7-4A2B-C85EC8C5626C}"/>
                  </a:ext>
                </a:extLst>
              </p:cNvPr>
              <p:cNvSpPr txBox="1">
                <a:spLocks noRot="1" noChangeAspect="1" noMove="1" noResize="1" noEditPoints="1" noAdjustHandles="1" noChangeArrowheads="1" noChangeShapeType="1" noTextEdit="1"/>
              </p:cNvSpPr>
              <p:nvPr/>
            </p:nvSpPr>
            <p:spPr>
              <a:xfrm>
                <a:off x="6293554" y="2531594"/>
                <a:ext cx="2172582" cy="562270"/>
              </a:xfrm>
              <a:prstGeom prst="rect">
                <a:avLst/>
              </a:prstGeom>
              <a:blipFill>
                <a:blip r:embed="rId4"/>
                <a:stretch>
                  <a:fillRect t="-82222" b="-13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198323-DFE2-AB81-D785-0625976AC003}"/>
                  </a:ext>
                </a:extLst>
              </p:cNvPr>
              <p:cNvSpPr txBox="1"/>
              <p:nvPr/>
            </p:nvSpPr>
            <p:spPr>
              <a:xfrm>
                <a:off x="3725864" y="3172897"/>
                <a:ext cx="4740272" cy="369332"/>
              </a:xfrm>
              <a:prstGeom prst="rect">
                <a:avLst/>
              </a:prstGeom>
              <a:noFill/>
            </p:spPr>
            <p:txBody>
              <a:bodyPr wrap="none" rtlCol="0">
                <a:spAutoFit/>
              </a:bodyPr>
              <a:lstStyle/>
              <a:p>
                <a:r>
                  <a:rPr lang="en-US" dirty="0"/>
                  <a:t>(incompressible plane stress:  </a:t>
                </a:r>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33</m:t>
                        </m:r>
                      </m:sub>
                    </m:sSub>
                    <m:r>
                      <a:rPr lang="en-US" b="0" i="1" smtClean="0">
                        <a:latin typeface="Cambria Math" panose="02040503050406030204" pitchFamily="18" charset="0"/>
                      </a:rPr>
                      <m:t>=0</m:t>
                    </m:r>
                  </m:oMath>
                </a14:m>
                <a:r>
                  <a:rPr lang="en-US" dirty="0"/>
                  <a:t>)</a:t>
                </a:r>
              </a:p>
            </p:txBody>
          </p:sp>
        </mc:Choice>
        <mc:Fallback xmlns="">
          <p:sp>
            <p:nvSpPr>
              <p:cNvPr id="6" name="TextBox 5">
                <a:extLst>
                  <a:ext uri="{FF2B5EF4-FFF2-40B4-BE49-F238E27FC236}">
                    <a16:creationId xmlns:a16="http://schemas.microsoft.com/office/drawing/2014/main" id="{36198323-DFE2-AB81-D785-0625976AC003}"/>
                  </a:ext>
                </a:extLst>
              </p:cNvPr>
              <p:cNvSpPr txBox="1">
                <a:spLocks noRot="1" noChangeAspect="1" noMove="1" noResize="1" noEditPoints="1" noAdjustHandles="1" noChangeArrowheads="1" noChangeShapeType="1" noTextEdit="1"/>
              </p:cNvSpPr>
              <p:nvPr/>
            </p:nvSpPr>
            <p:spPr>
              <a:xfrm>
                <a:off x="3725864" y="3172897"/>
                <a:ext cx="4740272" cy="369332"/>
              </a:xfrm>
              <a:prstGeom prst="rect">
                <a:avLst/>
              </a:prstGeom>
              <a:blipFill>
                <a:blip r:embed="rId5"/>
                <a:stretch>
                  <a:fillRect l="-1070" t="-6667" r="-2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2AA30DB-FB09-BA41-E8AA-168FD370392C}"/>
                  </a:ext>
                </a:extLst>
              </p:cNvPr>
              <p:cNvSpPr txBox="1"/>
              <p:nvPr/>
            </p:nvSpPr>
            <p:spPr>
              <a:xfrm>
                <a:off x="100013" y="4207668"/>
                <a:ext cx="8244565" cy="1477328"/>
              </a:xfrm>
              <a:prstGeom prst="rect">
                <a:avLst/>
              </a:prstGeom>
              <a:noFill/>
            </p:spPr>
            <p:txBody>
              <a:bodyPr wrap="none" rtlCol="0">
                <a:spAutoFit/>
              </a:bodyPr>
              <a:lstStyle/>
              <a:p>
                <a:pPr marL="285750" indent="-285750">
                  <a:buFont typeface="Arial" panose="020B0604020202020204" pitchFamily="34" charset="0"/>
                  <a:buChar char="•"/>
                </a:pPr>
                <a:r>
                  <a:rPr lang="en-US" dirty="0"/>
                  <a:t>Choosing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Ψ</m:t>
                    </m:r>
                  </m:oMath>
                </a14:m>
                <a:r>
                  <a:rPr lang="en-US" dirty="0"/>
                  <a:t> = choice of constitutive model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Different soft tissues motivate different forms of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Ψ</m:t>
                    </m:r>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HGO chooses a form that captures both the matrix and the embedded fibers</a:t>
                </a:r>
              </a:p>
            </p:txBody>
          </p:sp>
        </mc:Choice>
        <mc:Fallback xmlns="">
          <p:sp>
            <p:nvSpPr>
              <p:cNvPr id="7" name="TextBox 6">
                <a:extLst>
                  <a:ext uri="{FF2B5EF4-FFF2-40B4-BE49-F238E27FC236}">
                    <a16:creationId xmlns:a16="http://schemas.microsoft.com/office/drawing/2014/main" id="{62AA30DB-FB09-BA41-E8AA-168FD370392C}"/>
                  </a:ext>
                </a:extLst>
              </p:cNvPr>
              <p:cNvSpPr txBox="1">
                <a:spLocks noRot="1" noChangeAspect="1" noMove="1" noResize="1" noEditPoints="1" noAdjustHandles="1" noChangeArrowheads="1" noChangeShapeType="1" noTextEdit="1"/>
              </p:cNvSpPr>
              <p:nvPr/>
            </p:nvSpPr>
            <p:spPr>
              <a:xfrm>
                <a:off x="100013" y="4207668"/>
                <a:ext cx="8244565" cy="1477328"/>
              </a:xfrm>
              <a:prstGeom prst="rect">
                <a:avLst/>
              </a:prstGeom>
              <a:blipFill>
                <a:blip r:embed="rId6"/>
                <a:stretch>
                  <a:fillRect l="-461" t="-1709" b="-5983"/>
                </a:stretch>
              </a:blipFill>
            </p:spPr>
            <p:txBody>
              <a:bodyPr/>
              <a:lstStyle/>
              <a:p>
                <a:r>
                  <a:rPr lang="en-US">
                    <a:noFill/>
                  </a:rPr>
                  <a:t> </a:t>
                </a:r>
              </a:p>
            </p:txBody>
          </p:sp>
        </mc:Fallback>
      </mc:AlternateContent>
    </p:spTree>
    <p:extLst>
      <p:ext uri="{BB962C8B-B14F-4D97-AF65-F5344CB8AC3E}">
        <p14:creationId xmlns:p14="http://schemas.microsoft.com/office/powerpoint/2010/main" val="4225155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CB5C-4F5F-0C89-9514-EBCD2ECC26D4}"/>
              </a:ext>
            </a:extLst>
          </p:cNvPr>
          <p:cNvSpPr>
            <a:spLocks noGrp="1"/>
          </p:cNvSpPr>
          <p:nvPr>
            <p:ph type="title"/>
          </p:nvPr>
        </p:nvSpPr>
        <p:spPr/>
        <p:txBody>
          <a:bodyPr/>
          <a:lstStyle/>
          <a:p>
            <a:r>
              <a:rPr lang="en-US" dirty="0"/>
              <a:t>Why Fibers Matter: Tissue Microstructure</a:t>
            </a:r>
          </a:p>
        </p:txBody>
      </p:sp>
      <p:sp>
        <p:nvSpPr>
          <p:cNvPr id="3" name="TextBox 2">
            <a:extLst>
              <a:ext uri="{FF2B5EF4-FFF2-40B4-BE49-F238E27FC236}">
                <a16:creationId xmlns:a16="http://schemas.microsoft.com/office/drawing/2014/main" id="{232DE869-D186-C43A-E4DC-FD32892AF9E4}"/>
              </a:ext>
            </a:extLst>
          </p:cNvPr>
          <p:cNvSpPr txBox="1"/>
          <p:nvPr/>
        </p:nvSpPr>
        <p:spPr>
          <a:xfrm>
            <a:off x="3977471" y="885825"/>
            <a:ext cx="4237057" cy="369332"/>
          </a:xfrm>
          <a:prstGeom prst="rect">
            <a:avLst/>
          </a:prstGeom>
          <a:noFill/>
        </p:spPr>
        <p:txBody>
          <a:bodyPr wrap="none" rtlCol="0">
            <a:spAutoFit/>
          </a:bodyPr>
          <a:lstStyle/>
          <a:p>
            <a:r>
              <a:rPr lang="en-US" dirty="0">
                <a:solidFill>
                  <a:schemeClr val="accent4"/>
                </a:solidFill>
              </a:rPr>
              <a:t>HGO model captures both contributions</a:t>
            </a:r>
          </a:p>
        </p:txBody>
      </p:sp>
      <p:sp>
        <p:nvSpPr>
          <p:cNvPr id="4" name="TextBox 3">
            <a:extLst>
              <a:ext uri="{FF2B5EF4-FFF2-40B4-BE49-F238E27FC236}">
                <a16:creationId xmlns:a16="http://schemas.microsoft.com/office/drawing/2014/main" id="{60376ED9-1C9A-F0C3-FA63-C0D51ACD8C80}"/>
              </a:ext>
            </a:extLst>
          </p:cNvPr>
          <p:cNvSpPr txBox="1"/>
          <p:nvPr/>
        </p:nvSpPr>
        <p:spPr>
          <a:xfrm>
            <a:off x="2041092" y="1553766"/>
            <a:ext cx="2723823" cy="369332"/>
          </a:xfrm>
          <a:prstGeom prst="rect">
            <a:avLst/>
          </a:prstGeom>
          <a:noFill/>
        </p:spPr>
        <p:txBody>
          <a:bodyPr wrap="none" rtlCol="0">
            <a:spAutoFit/>
          </a:bodyPr>
          <a:lstStyle/>
          <a:p>
            <a:r>
              <a:rPr lang="en-US" dirty="0"/>
              <a:t>Ground matrix (isotropic)</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526437C-0C6C-9072-3A0D-F068E8E89D07}"/>
                  </a:ext>
                </a:extLst>
              </p:cNvPr>
              <p:cNvSpPr txBox="1"/>
              <p:nvPr/>
            </p:nvSpPr>
            <p:spPr>
              <a:xfrm>
                <a:off x="1727095" y="1956992"/>
                <a:ext cx="3351815" cy="369332"/>
              </a:xfrm>
              <a:prstGeom prst="rect">
                <a:avLst/>
              </a:prstGeom>
              <a:noFill/>
            </p:spPr>
            <p:txBody>
              <a:bodyPr wrap="none" rtlCol="0">
                <a:spAutoFit/>
              </a:bodyPr>
              <a:lstStyle/>
              <a:p>
                <a:r>
                  <a:rPr lang="en-US" dirty="0"/>
                  <a:t>neo-Hookean term: </a:t>
                </a:r>
                <a14:m>
                  <m:oMath xmlns:m="http://schemas.openxmlformats.org/officeDocument/2006/math">
                    <m:r>
                      <a:rPr lang="en-US" b="0" i="1" smtClean="0">
                        <a:latin typeface="Cambria Math" panose="02040503050406030204" pitchFamily="18" charset="0"/>
                      </a:rPr>
                      <m:t>𝑐</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−3)/2</m:t>
                    </m:r>
                  </m:oMath>
                </a14:m>
                <a:endParaRPr lang="en-US" dirty="0"/>
              </a:p>
            </p:txBody>
          </p:sp>
        </mc:Choice>
        <mc:Fallback xmlns="">
          <p:sp>
            <p:nvSpPr>
              <p:cNvPr id="5" name="TextBox 4">
                <a:extLst>
                  <a:ext uri="{FF2B5EF4-FFF2-40B4-BE49-F238E27FC236}">
                    <a16:creationId xmlns:a16="http://schemas.microsoft.com/office/drawing/2014/main" id="{8526437C-0C6C-9072-3A0D-F068E8E89D07}"/>
                  </a:ext>
                </a:extLst>
              </p:cNvPr>
              <p:cNvSpPr txBox="1">
                <a:spLocks noRot="1" noChangeAspect="1" noMove="1" noResize="1" noEditPoints="1" noAdjustHandles="1" noChangeArrowheads="1" noChangeShapeType="1" noTextEdit="1"/>
              </p:cNvSpPr>
              <p:nvPr/>
            </p:nvSpPr>
            <p:spPr>
              <a:xfrm>
                <a:off x="1727095" y="1956992"/>
                <a:ext cx="3351815" cy="369332"/>
              </a:xfrm>
              <a:prstGeom prst="rect">
                <a:avLst/>
              </a:prstGeom>
              <a:blipFill>
                <a:blip r:embed="rId3"/>
                <a:stretch>
                  <a:fillRect l="-1132" t="-6667" b="-2666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3373FAA1-C7B5-14E2-B4E0-E10BFBC32FCE}"/>
              </a:ext>
            </a:extLst>
          </p:cNvPr>
          <p:cNvSpPr txBox="1"/>
          <p:nvPr/>
        </p:nvSpPr>
        <p:spPr>
          <a:xfrm>
            <a:off x="7479440" y="1570713"/>
            <a:ext cx="3057247" cy="369332"/>
          </a:xfrm>
          <a:prstGeom prst="rect">
            <a:avLst/>
          </a:prstGeom>
          <a:noFill/>
        </p:spPr>
        <p:txBody>
          <a:bodyPr wrap="none" rtlCol="0">
            <a:spAutoFit/>
          </a:bodyPr>
          <a:lstStyle/>
          <a:p>
            <a:r>
              <a:rPr lang="en-US" dirty="0"/>
              <a:t>Collagen fibers (anisotropic)</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1C91BE9-1BA3-FF0E-6AE2-957481E3AEAF}"/>
                  </a:ext>
                </a:extLst>
              </p:cNvPr>
              <p:cNvSpPr txBox="1"/>
              <p:nvPr/>
            </p:nvSpPr>
            <p:spPr>
              <a:xfrm>
                <a:off x="7427086" y="1956992"/>
                <a:ext cx="3161956" cy="369332"/>
              </a:xfrm>
              <a:prstGeom prst="rect">
                <a:avLst/>
              </a:prstGeom>
              <a:noFill/>
            </p:spPr>
            <p:txBody>
              <a:bodyPr wrap="none" rtlCol="0">
                <a:spAutoFit/>
              </a:bodyPr>
              <a:lstStyle/>
              <a:p>
                <a:r>
                  <a:rPr lang="en-US" dirty="0"/>
                  <a:t>exponential term: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4</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𝑘</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p:txBody>
          </p:sp>
        </mc:Choice>
        <mc:Fallback xmlns="">
          <p:sp>
            <p:nvSpPr>
              <p:cNvPr id="7" name="TextBox 6">
                <a:extLst>
                  <a:ext uri="{FF2B5EF4-FFF2-40B4-BE49-F238E27FC236}">
                    <a16:creationId xmlns:a16="http://schemas.microsoft.com/office/drawing/2014/main" id="{01C91BE9-1BA3-FF0E-6AE2-957481E3AEAF}"/>
                  </a:ext>
                </a:extLst>
              </p:cNvPr>
              <p:cNvSpPr txBox="1">
                <a:spLocks noRot="1" noChangeAspect="1" noMove="1" noResize="1" noEditPoints="1" noAdjustHandles="1" noChangeArrowheads="1" noChangeShapeType="1" noTextEdit="1"/>
              </p:cNvSpPr>
              <p:nvPr/>
            </p:nvSpPr>
            <p:spPr>
              <a:xfrm>
                <a:off x="7427086" y="1956992"/>
                <a:ext cx="3161956" cy="369332"/>
              </a:xfrm>
              <a:prstGeom prst="rect">
                <a:avLst/>
              </a:prstGeom>
              <a:blipFill>
                <a:blip r:embed="rId4"/>
                <a:stretch>
                  <a:fillRect l="-1600" t="-6667" b="-26667"/>
                </a:stretch>
              </a:blipFill>
            </p:spPr>
            <p:txBody>
              <a:bodyPr/>
              <a:lstStyle/>
              <a:p>
                <a:r>
                  <a:rPr lang="en-US">
                    <a:noFill/>
                  </a:rPr>
                  <a:t> </a:t>
                </a:r>
              </a:p>
            </p:txBody>
          </p:sp>
        </mc:Fallback>
      </mc:AlternateContent>
      <p:grpSp>
        <p:nvGrpSpPr>
          <p:cNvPr id="14" name="Group 13">
            <a:extLst>
              <a:ext uri="{FF2B5EF4-FFF2-40B4-BE49-F238E27FC236}">
                <a16:creationId xmlns:a16="http://schemas.microsoft.com/office/drawing/2014/main" id="{841571FC-93FC-3623-A1A8-7E4B7DC069AA}"/>
              </a:ext>
            </a:extLst>
          </p:cNvPr>
          <p:cNvGrpSpPr/>
          <p:nvPr/>
        </p:nvGrpSpPr>
        <p:grpSpPr>
          <a:xfrm>
            <a:off x="1531692" y="2624933"/>
            <a:ext cx="3755203" cy="1900155"/>
            <a:chOff x="1531692" y="2624933"/>
            <a:chExt cx="3755203" cy="1900155"/>
          </a:xfrm>
        </p:grpSpPr>
        <p:pic>
          <p:nvPicPr>
            <p:cNvPr id="8" name="Picture 7">
              <a:extLst>
                <a:ext uri="{FF2B5EF4-FFF2-40B4-BE49-F238E27FC236}">
                  <a16:creationId xmlns:a16="http://schemas.microsoft.com/office/drawing/2014/main" id="{400302FE-3AD8-6318-6A7B-E895AA40F432}"/>
                </a:ext>
              </a:extLst>
            </p:cNvPr>
            <p:cNvPicPr>
              <a:picLocks noChangeAspect="1"/>
            </p:cNvPicPr>
            <p:nvPr/>
          </p:nvPicPr>
          <p:blipFill>
            <a:blip r:embed="rId5"/>
            <a:stretch>
              <a:fillRect/>
            </a:stretch>
          </p:blipFill>
          <p:spPr>
            <a:xfrm>
              <a:off x="1531693" y="2624933"/>
              <a:ext cx="3755202" cy="1900155"/>
            </a:xfrm>
            <a:prstGeom prst="rect">
              <a:avLst/>
            </a:prstGeom>
          </p:spPr>
        </p:pic>
        <p:sp>
          <p:nvSpPr>
            <p:cNvPr id="10" name="Rectangle 9">
              <a:extLst>
                <a:ext uri="{FF2B5EF4-FFF2-40B4-BE49-F238E27FC236}">
                  <a16:creationId xmlns:a16="http://schemas.microsoft.com/office/drawing/2014/main" id="{30E2825F-CF46-ABC8-5976-47C82A927328}"/>
                </a:ext>
              </a:extLst>
            </p:cNvPr>
            <p:cNvSpPr/>
            <p:nvPr/>
          </p:nvSpPr>
          <p:spPr>
            <a:xfrm>
              <a:off x="1531692" y="2624933"/>
              <a:ext cx="3755202" cy="1900155"/>
            </a:xfrm>
            <a:prstGeom prst="rect">
              <a:avLst/>
            </a:prstGeom>
            <a:noFill/>
            <a:ln w="539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7D719B7-8E8F-77E9-A377-147A08AA5E17}"/>
              </a:ext>
            </a:extLst>
          </p:cNvPr>
          <p:cNvGrpSpPr/>
          <p:nvPr/>
        </p:nvGrpSpPr>
        <p:grpSpPr>
          <a:xfrm>
            <a:off x="7093117" y="2624933"/>
            <a:ext cx="3755202" cy="1906744"/>
            <a:chOff x="7093117" y="2624933"/>
            <a:chExt cx="3755201" cy="1900155"/>
          </a:xfrm>
        </p:grpSpPr>
        <p:pic>
          <p:nvPicPr>
            <p:cNvPr id="9" name="Picture 8">
              <a:extLst>
                <a:ext uri="{FF2B5EF4-FFF2-40B4-BE49-F238E27FC236}">
                  <a16:creationId xmlns:a16="http://schemas.microsoft.com/office/drawing/2014/main" id="{EE929A44-3CB0-8BC2-AA1F-B3CE26A87BCD}"/>
                </a:ext>
              </a:extLst>
            </p:cNvPr>
            <p:cNvPicPr>
              <a:picLocks noChangeAspect="1"/>
            </p:cNvPicPr>
            <p:nvPr/>
          </p:nvPicPr>
          <p:blipFill>
            <a:blip r:embed="rId6"/>
            <a:stretch>
              <a:fillRect/>
            </a:stretch>
          </p:blipFill>
          <p:spPr>
            <a:xfrm>
              <a:off x="7093118" y="2624933"/>
              <a:ext cx="3755200" cy="1900155"/>
            </a:xfrm>
            <a:prstGeom prst="rect">
              <a:avLst/>
            </a:prstGeom>
          </p:spPr>
        </p:pic>
        <p:sp>
          <p:nvSpPr>
            <p:cNvPr id="11" name="Rectangle 10">
              <a:extLst>
                <a:ext uri="{FF2B5EF4-FFF2-40B4-BE49-F238E27FC236}">
                  <a16:creationId xmlns:a16="http://schemas.microsoft.com/office/drawing/2014/main" id="{C5C9D88B-B616-FF53-FEB0-4D0321110A36}"/>
                </a:ext>
              </a:extLst>
            </p:cNvPr>
            <p:cNvSpPr/>
            <p:nvPr/>
          </p:nvSpPr>
          <p:spPr>
            <a:xfrm>
              <a:off x="7093117" y="2624933"/>
              <a:ext cx="3755200" cy="1900155"/>
            </a:xfrm>
            <a:prstGeom prst="rect">
              <a:avLst/>
            </a:prstGeom>
            <a:noFill/>
            <a:ln w="444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B0AB8EA-8B4A-5908-A71B-157A25AD2EC7}"/>
                  </a:ext>
                </a:extLst>
              </p:cNvPr>
              <p:cNvSpPr txBox="1"/>
              <p:nvPr/>
            </p:nvSpPr>
            <p:spPr>
              <a:xfrm>
                <a:off x="191192" y="4934188"/>
                <a:ext cx="11696008" cy="923330"/>
              </a:xfrm>
              <a:prstGeom prst="rect">
                <a:avLst/>
              </a:prstGeom>
              <a:noFill/>
            </p:spPr>
            <p:txBody>
              <a:bodyPr wrap="square" rtlCol="0">
                <a:spAutoFit/>
              </a:bodyPr>
              <a:lstStyle/>
              <a:p>
                <a:pPr algn="just"/>
                <a:r>
                  <a:rPr lang="en-US" dirty="0">
                    <a:solidFill>
                      <a:schemeClr val="accent2"/>
                    </a:solidFill>
                  </a:rPr>
                  <a:t>Soft tissues are composite materials</a:t>
                </a:r>
                <a:r>
                  <a:rPr lang="en-US" dirty="0"/>
                  <a:t>. An isotropic ground matrix (proteoglycans, elastin) carries low-strain load. Embedded collagen fibers – oriented at angle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 engage exponentially as stretch increases. Both contributions live in </a:t>
                </a: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Ψ</m:t>
                    </m:r>
                  </m:oMath>
                </a14:m>
                <a:endParaRPr lang="en-US" dirty="0"/>
              </a:p>
            </p:txBody>
          </p:sp>
        </mc:Choice>
        <mc:Fallback xmlns="">
          <p:sp>
            <p:nvSpPr>
              <p:cNvPr id="16" name="TextBox 15">
                <a:extLst>
                  <a:ext uri="{FF2B5EF4-FFF2-40B4-BE49-F238E27FC236}">
                    <a16:creationId xmlns:a16="http://schemas.microsoft.com/office/drawing/2014/main" id="{CB0AB8EA-8B4A-5908-A71B-157A25AD2EC7}"/>
                  </a:ext>
                </a:extLst>
              </p:cNvPr>
              <p:cNvSpPr txBox="1">
                <a:spLocks noRot="1" noChangeAspect="1" noMove="1" noResize="1" noEditPoints="1" noAdjustHandles="1" noChangeArrowheads="1" noChangeShapeType="1" noTextEdit="1"/>
              </p:cNvSpPr>
              <p:nvPr/>
            </p:nvSpPr>
            <p:spPr>
              <a:xfrm>
                <a:off x="191192" y="4934188"/>
                <a:ext cx="11696008" cy="923330"/>
              </a:xfrm>
              <a:prstGeom prst="rect">
                <a:avLst/>
              </a:prstGeom>
              <a:blipFill>
                <a:blip r:embed="rId7"/>
                <a:stretch>
                  <a:fillRect l="-325" t="-2703" r="-325" b="-9459"/>
                </a:stretch>
              </a:blipFill>
            </p:spPr>
            <p:txBody>
              <a:bodyPr/>
              <a:lstStyle/>
              <a:p>
                <a:r>
                  <a:rPr lang="en-US">
                    <a:noFill/>
                  </a:rPr>
                  <a:t> </a:t>
                </a:r>
              </a:p>
            </p:txBody>
          </p:sp>
        </mc:Fallback>
      </mc:AlternateContent>
    </p:spTree>
    <p:extLst>
      <p:ext uri="{BB962C8B-B14F-4D97-AF65-F5344CB8AC3E}">
        <p14:creationId xmlns:p14="http://schemas.microsoft.com/office/powerpoint/2010/main" val="1113744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CBE01E-94D7-E743-35DE-621FA76D67D0}"/>
              </a:ext>
            </a:extLst>
          </p:cNvPr>
          <p:cNvSpPr/>
          <p:nvPr/>
        </p:nvSpPr>
        <p:spPr>
          <a:xfrm>
            <a:off x="2702446" y="1627073"/>
            <a:ext cx="7048383" cy="1801927"/>
          </a:xfrm>
          <a:prstGeom prst="rect">
            <a:avLst/>
          </a:prstGeom>
          <a:solidFill>
            <a:schemeClr val="tx2">
              <a:lumMod val="25000"/>
              <a:alpha val="24059"/>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2507D32-3DE2-E23A-8767-D5301A7E0A59}"/>
              </a:ext>
            </a:extLst>
          </p:cNvPr>
          <p:cNvSpPr>
            <a:spLocks noGrp="1"/>
          </p:cNvSpPr>
          <p:nvPr>
            <p:ph type="title"/>
          </p:nvPr>
        </p:nvSpPr>
        <p:spPr/>
        <p:txBody>
          <a:bodyPr/>
          <a:lstStyle/>
          <a:p>
            <a:r>
              <a:rPr lang="en-US" dirty="0"/>
              <a:t>HGO model: Strain Energy</a:t>
            </a:r>
          </a:p>
        </p:txBody>
      </p:sp>
      <p:sp>
        <p:nvSpPr>
          <p:cNvPr id="3" name="TextBox 2">
            <a:extLst>
              <a:ext uri="{FF2B5EF4-FFF2-40B4-BE49-F238E27FC236}">
                <a16:creationId xmlns:a16="http://schemas.microsoft.com/office/drawing/2014/main" id="{4A167982-9EFC-C2C9-F5E3-D0B119FF5D01}"/>
              </a:ext>
            </a:extLst>
          </p:cNvPr>
          <p:cNvSpPr txBox="1"/>
          <p:nvPr/>
        </p:nvSpPr>
        <p:spPr>
          <a:xfrm>
            <a:off x="0" y="847898"/>
            <a:ext cx="2416046" cy="369332"/>
          </a:xfrm>
          <a:prstGeom prst="rect">
            <a:avLst/>
          </a:prstGeom>
          <a:noFill/>
        </p:spPr>
        <p:txBody>
          <a:bodyPr wrap="none" rtlCol="0">
            <a:spAutoFit/>
          </a:bodyPr>
          <a:lstStyle/>
          <a:p>
            <a:r>
              <a:rPr lang="en-US" dirty="0">
                <a:solidFill>
                  <a:schemeClr val="accent4"/>
                </a:solidFill>
              </a:rPr>
              <a:t>Strain Energy Density</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2C077B-66C4-0241-7D4D-1831CDD95A42}"/>
                  </a:ext>
                </a:extLst>
              </p:cNvPr>
              <p:cNvSpPr txBox="1"/>
              <p:nvPr/>
            </p:nvSpPr>
            <p:spPr>
              <a:xfrm>
                <a:off x="3353129" y="1713392"/>
                <a:ext cx="5651996" cy="5577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Ψ</m:t>
                      </m:r>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type m:val="skw"/>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𝑐</m:t>
                              </m:r>
                            </m:num>
                            <m:den>
                              <m:r>
                                <a:rPr lang="en-US" b="0" i="1" smtClean="0">
                                  <a:latin typeface="Cambria Math" panose="02040503050406030204" pitchFamily="18" charset="0"/>
                                  <a:ea typeface="Cambria Math" panose="02040503050406030204" pitchFamily="18" charset="0"/>
                                </a:rPr>
                                <m:t>2</m:t>
                              </m:r>
                            </m:den>
                          </m:f>
                        </m:e>
                      </m:d>
                      <m:r>
                        <a:rPr lang="en-US" b="0" i="1" smtClean="0">
                          <a:latin typeface="Cambria Math" panose="02040503050406030204" pitchFamily="18" charset="0"/>
                          <a:ea typeface="Cambria Math" panose="02040503050406030204" pitchFamily="18" charset="0"/>
                        </a:rPr>
                        <m:t>. </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−3</m:t>
                          </m:r>
                        </m:e>
                      </m:d>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f>
                            <m:fPr>
                              <m:type m:val="skw"/>
                              <m:ctrlPr>
                                <a:rPr lang="en-US" b="0" i="1" smtClean="0">
                                  <a:latin typeface="Cambria Math" panose="02040503050406030204" pitchFamily="18" charset="0"/>
                                  <a:ea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1</m:t>
                                  </m:r>
                                </m:sub>
                              </m:sSub>
                            </m:num>
                            <m:den>
                              <m:r>
                                <a:rPr lang="en-US" b="0" i="1" smtClean="0">
                                  <a:latin typeface="Cambria Math" panose="02040503050406030204" pitchFamily="18" charset="0"/>
                                  <a:ea typeface="Cambria Math" panose="02040503050406030204" pitchFamily="18" charset="0"/>
                                </a:rPr>
                                <m:t>2</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2</m:t>
                                  </m:r>
                                </m:sub>
                              </m:sSub>
                            </m:den>
                          </m:f>
                        </m:e>
                      </m:d>
                      <m:r>
                        <a:rPr lang="en-US" b="0" i="1" smtClean="0">
                          <a:latin typeface="Cambria Math" panose="02040503050406030204" pitchFamily="18" charset="0"/>
                          <a:ea typeface="Cambria Math" panose="02040503050406030204" pitchFamily="18" charset="0"/>
                        </a:rPr>
                        <m:t>. {</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d>
                            <m:dPr>
                              <m:begChr m:val="["/>
                              <m:endChr m:val="]"/>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𝑘</m:t>
                                  </m:r>
                                </m:e>
                                <m:sub>
                                  <m:r>
                                    <a:rPr lang="en-US" b="0" i="1" smtClean="0">
                                      <a:latin typeface="Cambria Math" panose="02040503050406030204" pitchFamily="18" charset="0"/>
                                      <a:ea typeface="Cambria Math" panose="02040503050406030204" pitchFamily="18" charset="0"/>
                                    </a:rPr>
                                    <m:t>2</m:t>
                                  </m:r>
                                </m:sub>
                              </m:sSub>
                              <m:sSup>
                                <m:sSupPr>
                                  <m:ctrlPr>
                                    <a:rPr lang="en-US" b="0" i="1" smtClean="0">
                                      <a:latin typeface="Cambria Math" panose="02040503050406030204" pitchFamily="18" charset="0"/>
                                      <a:ea typeface="Cambria Math" panose="02040503050406030204" pitchFamily="18" charset="0"/>
                                    </a:rPr>
                                  </m:ctrlPr>
                                </m:sSupPr>
                                <m:e>
                                  <m:d>
                                    <m:dPr>
                                      <m:ctrlPr>
                                        <a:rPr lang="en-US" b="0" i="1" smtClean="0">
                                          <a:latin typeface="Cambria Math" panose="02040503050406030204" pitchFamily="18" charset="0"/>
                                          <a:ea typeface="Cambria Math" panose="02040503050406030204" pitchFamily="18" charset="0"/>
                                        </a:rPr>
                                      </m:ctrlPr>
                                    </m:dPr>
                                    <m:e>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𝐼</m:t>
                                          </m:r>
                                        </m:e>
                                        <m:sub>
                                          <m:r>
                                            <a:rPr lang="en-US" b="0" i="1" smtClean="0">
                                              <a:latin typeface="Cambria Math" panose="02040503050406030204" pitchFamily="18" charset="0"/>
                                            </a:rPr>
                                            <m:t>4</m:t>
                                          </m:r>
                                        </m:sub>
                                        <m:sup>
                                          <m:r>
                                            <a:rPr lang="en-US" b="0" i="1" smtClean="0">
                                              <a:latin typeface="Cambria Math" panose="02040503050406030204" pitchFamily="18" charset="0"/>
                                            </a:rPr>
                                            <m:t> </m:t>
                                          </m:r>
                                        </m:sup>
                                      </m:sSubSup>
                                      <m:r>
                                        <a:rPr lang="en-US" b="0" i="1" smtClean="0">
                                          <a:latin typeface="Cambria Math" panose="02040503050406030204" pitchFamily="18" charset="0"/>
                                        </a:rPr>
                                        <m:t>−1</m:t>
                                      </m:r>
                                    </m:e>
                                  </m:d>
                                </m:e>
                                <m:sup>
                                  <m:r>
                                    <a:rPr lang="en-US" b="0" i="1" smtClean="0">
                                      <a:latin typeface="Cambria Math" panose="02040503050406030204" pitchFamily="18" charset="0"/>
                                      <a:ea typeface="Cambria Math" panose="02040503050406030204" pitchFamily="18" charset="0"/>
                                    </a:rPr>
                                    <m:t>2</m:t>
                                  </m:r>
                                </m:sup>
                              </m:sSup>
                            </m:e>
                          </m:d>
                        </m:e>
                      </m:func>
                      <m:r>
                        <a:rPr lang="en-US" b="0" i="1" smtClean="0">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4" name="TextBox 3">
                <a:extLst>
                  <a:ext uri="{FF2B5EF4-FFF2-40B4-BE49-F238E27FC236}">
                    <a16:creationId xmlns:a16="http://schemas.microsoft.com/office/drawing/2014/main" id="{D92C077B-66C4-0241-7D4D-1831CDD95A42}"/>
                  </a:ext>
                </a:extLst>
              </p:cNvPr>
              <p:cNvSpPr txBox="1">
                <a:spLocks noRot="1" noChangeAspect="1" noMove="1" noResize="1" noEditPoints="1" noAdjustHandles="1" noChangeArrowheads="1" noChangeShapeType="1" noTextEdit="1"/>
              </p:cNvSpPr>
              <p:nvPr/>
            </p:nvSpPr>
            <p:spPr>
              <a:xfrm>
                <a:off x="3353129" y="1713392"/>
                <a:ext cx="5651996" cy="557781"/>
              </a:xfrm>
              <a:prstGeom prst="rect">
                <a:avLst/>
              </a:prstGeom>
              <a:blipFill>
                <a:blip r:embed="rId3"/>
                <a:stretch>
                  <a:fillRect t="-78261" b="-132609"/>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DF35392-45AC-226E-307B-22FBA8938413}"/>
              </a:ext>
            </a:extLst>
          </p:cNvPr>
          <p:cNvSpPr txBox="1"/>
          <p:nvPr/>
        </p:nvSpPr>
        <p:spPr>
          <a:xfrm>
            <a:off x="3944288" y="2623688"/>
            <a:ext cx="1569660" cy="646331"/>
          </a:xfrm>
          <a:prstGeom prst="rect">
            <a:avLst/>
          </a:prstGeom>
          <a:noFill/>
        </p:spPr>
        <p:txBody>
          <a:bodyPr wrap="none" rtlCol="0">
            <a:spAutoFit/>
          </a:bodyPr>
          <a:lstStyle/>
          <a:p>
            <a:pPr algn="ctr"/>
            <a:r>
              <a:rPr lang="en-US" dirty="0">
                <a:solidFill>
                  <a:schemeClr val="accent1"/>
                </a:solidFill>
              </a:rPr>
              <a:t>matrix term</a:t>
            </a:r>
          </a:p>
          <a:p>
            <a:pPr algn="ctr"/>
            <a:r>
              <a:rPr lang="en-US" dirty="0"/>
              <a:t>neo-Hookean</a:t>
            </a:r>
          </a:p>
        </p:txBody>
      </p:sp>
      <p:sp>
        <p:nvSpPr>
          <p:cNvPr id="6" name="TextBox 5">
            <a:extLst>
              <a:ext uri="{FF2B5EF4-FFF2-40B4-BE49-F238E27FC236}">
                <a16:creationId xmlns:a16="http://schemas.microsoft.com/office/drawing/2014/main" id="{64B2E034-02C3-4736-59B5-54A944F59289}"/>
              </a:ext>
            </a:extLst>
          </p:cNvPr>
          <p:cNvSpPr txBox="1"/>
          <p:nvPr/>
        </p:nvSpPr>
        <p:spPr>
          <a:xfrm>
            <a:off x="6489588" y="2623688"/>
            <a:ext cx="1518364" cy="646331"/>
          </a:xfrm>
          <a:prstGeom prst="rect">
            <a:avLst/>
          </a:prstGeom>
          <a:noFill/>
        </p:spPr>
        <p:txBody>
          <a:bodyPr wrap="none" rtlCol="0">
            <a:spAutoFit/>
          </a:bodyPr>
          <a:lstStyle/>
          <a:p>
            <a:pPr algn="ctr"/>
            <a:r>
              <a:rPr lang="en-US" dirty="0">
                <a:solidFill>
                  <a:schemeClr val="accent2"/>
                </a:solidFill>
              </a:rPr>
              <a:t>fiber term</a:t>
            </a:r>
          </a:p>
          <a:p>
            <a:pPr algn="ctr"/>
            <a:r>
              <a:rPr lang="en-US" dirty="0"/>
              <a:t>(exponential)</a:t>
            </a:r>
          </a:p>
        </p:txBody>
      </p:sp>
      <p:sp>
        <p:nvSpPr>
          <p:cNvPr id="7" name="Left Brace 6">
            <a:extLst>
              <a:ext uri="{FF2B5EF4-FFF2-40B4-BE49-F238E27FC236}">
                <a16:creationId xmlns:a16="http://schemas.microsoft.com/office/drawing/2014/main" id="{100FF8BB-B422-2815-6766-8A92402D43C0}"/>
              </a:ext>
            </a:extLst>
          </p:cNvPr>
          <p:cNvSpPr/>
          <p:nvPr/>
        </p:nvSpPr>
        <p:spPr>
          <a:xfrm rot="16200000">
            <a:off x="4519569" y="1769022"/>
            <a:ext cx="293428" cy="1224605"/>
          </a:xfrm>
          <a:prstGeom prst="leftBrace">
            <a:avLst/>
          </a:prstGeom>
          <a:ln w="222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37932BA1-00CA-A871-C0DA-4119AFFD66C5}"/>
              </a:ext>
            </a:extLst>
          </p:cNvPr>
          <p:cNvSpPr/>
          <p:nvPr/>
        </p:nvSpPr>
        <p:spPr>
          <a:xfrm rot="16200000">
            <a:off x="7104270" y="837439"/>
            <a:ext cx="289001" cy="3092195"/>
          </a:xfrm>
          <a:prstGeom prst="leftBrace">
            <a:avLst/>
          </a:prstGeom>
          <a:ln w="254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10E0D4C-2E62-82EA-E720-31D10B8F27A2}"/>
                  </a:ext>
                </a:extLst>
              </p:cNvPr>
              <p:cNvSpPr txBox="1"/>
              <p:nvPr/>
            </p:nvSpPr>
            <p:spPr>
              <a:xfrm>
                <a:off x="3309" y="3981957"/>
                <a:ext cx="5772029" cy="369332"/>
              </a:xfrm>
              <a:prstGeom prst="rect">
                <a:avLst/>
              </a:prstGeom>
              <a:noFill/>
            </p:spPr>
            <p:txBody>
              <a:bodyPr wrap="none" rtlCol="0">
                <a:spAutoFit/>
              </a:bodyPr>
              <a:lstStyle/>
              <a:p>
                <a:r>
                  <a:rPr lang="en-US" dirty="0">
                    <a:solidFill>
                      <a:schemeClr val="accent4"/>
                    </a:solidFill>
                  </a:rPr>
                  <a:t>Invariants (incompressible plane stress, </a:t>
                </a:r>
                <a14:m>
                  <m:oMath xmlns:m="http://schemas.openxmlformats.org/officeDocument/2006/math">
                    <m:sSub>
                      <m:sSubPr>
                        <m:ctrlPr>
                          <a:rPr lang="en-US" i="1" smtClean="0">
                            <a:solidFill>
                              <a:schemeClr val="accent4"/>
                            </a:solidFill>
                            <a:latin typeface="Cambria Math" panose="02040503050406030204" pitchFamily="18" charset="0"/>
                          </a:rPr>
                        </m:ctrlPr>
                      </m:sSubPr>
                      <m:e>
                        <m:r>
                          <a:rPr lang="en-US" i="1" smtClean="0">
                            <a:solidFill>
                              <a:schemeClr val="accent4"/>
                            </a:solidFill>
                            <a:latin typeface="Cambria Math" panose="02040503050406030204" pitchFamily="18" charset="0"/>
                            <a:ea typeface="Cambria Math" panose="02040503050406030204" pitchFamily="18" charset="0"/>
                          </a:rPr>
                          <m:t>𝜆</m:t>
                        </m:r>
                      </m:e>
                      <m:sub>
                        <m:r>
                          <a:rPr lang="en-US" b="0" i="1" smtClean="0">
                            <a:solidFill>
                              <a:schemeClr val="accent4"/>
                            </a:solidFill>
                            <a:latin typeface="Cambria Math" panose="02040503050406030204" pitchFamily="18" charset="0"/>
                          </a:rPr>
                          <m:t>3</m:t>
                        </m:r>
                      </m:sub>
                    </m:sSub>
                    <m:r>
                      <a:rPr lang="en-US" b="0" i="1" smtClean="0">
                        <a:solidFill>
                          <a:schemeClr val="accent4"/>
                        </a:solidFill>
                        <a:latin typeface="Cambria Math" panose="02040503050406030204" pitchFamily="18" charset="0"/>
                      </a:rPr>
                      <m:t>=1/(</m:t>
                    </m:r>
                    <m:sSub>
                      <m:sSubPr>
                        <m:ctrlPr>
                          <a:rPr lang="en-US" i="1">
                            <a:solidFill>
                              <a:schemeClr val="accent4"/>
                            </a:solidFill>
                            <a:latin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rPr>
                          <m:t>𝜆</m:t>
                        </m:r>
                      </m:e>
                      <m:sub>
                        <m:r>
                          <a:rPr lang="en-US" b="0" i="1" smtClean="0">
                            <a:solidFill>
                              <a:schemeClr val="accent4"/>
                            </a:solidFill>
                            <a:latin typeface="Cambria Math" panose="02040503050406030204" pitchFamily="18" charset="0"/>
                            <a:ea typeface="Cambria Math" panose="02040503050406030204" pitchFamily="18" charset="0"/>
                          </a:rPr>
                          <m:t>1</m:t>
                        </m:r>
                      </m:sub>
                    </m:sSub>
                    <m:sSub>
                      <m:sSubPr>
                        <m:ctrlPr>
                          <a:rPr lang="en-US" i="1">
                            <a:solidFill>
                              <a:schemeClr val="accent4"/>
                            </a:solidFill>
                            <a:latin typeface="Cambria Math" panose="02040503050406030204" pitchFamily="18" charset="0"/>
                          </a:rPr>
                        </m:ctrlPr>
                      </m:sSubPr>
                      <m:e>
                        <m:r>
                          <a:rPr lang="en-US" i="1">
                            <a:solidFill>
                              <a:schemeClr val="accent4"/>
                            </a:solidFill>
                            <a:latin typeface="Cambria Math" panose="02040503050406030204" pitchFamily="18" charset="0"/>
                            <a:ea typeface="Cambria Math" panose="02040503050406030204" pitchFamily="18" charset="0"/>
                          </a:rPr>
                          <m:t>𝜆</m:t>
                        </m:r>
                      </m:e>
                      <m:sub>
                        <m:r>
                          <a:rPr lang="en-US" b="0" i="1" smtClean="0">
                            <a:solidFill>
                              <a:schemeClr val="accent4"/>
                            </a:solidFill>
                            <a:latin typeface="Cambria Math" panose="02040503050406030204" pitchFamily="18" charset="0"/>
                            <a:ea typeface="Cambria Math" panose="02040503050406030204" pitchFamily="18" charset="0"/>
                          </a:rPr>
                          <m:t>2</m:t>
                        </m:r>
                      </m:sub>
                    </m:sSub>
                    <m:r>
                      <a:rPr lang="en-US" b="0" i="1" smtClean="0">
                        <a:solidFill>
                          <a:schemeClr val="accent4"/>
                        </a:solidFill>
                        <a:latin typeface="Cambria Math" panose="02040503050406030204" pitchFamily="18" charset="0"/>
                      </a:rPr>
                      <m:t>)</m:t>
                    </m:r>
                  </m:oMath>
                </a14:m>
                <a:endParaRPr lang="en-US" dirty="0">
                  <a:solidFill>
                    <a:schemeClr val="accent4"/>
                  </a:solidFill>
                </a:endParaRPr>
              </a:p>
            </p:txBody>
          </p:sp>
        </mc:Choice>
        <mc:Fallback xmlns="">
          <p:sp>
            <p:nvSpPr>
              <p:cNvPr id="10" name="TextBox 9">
                <a:extLst>
                  <a:ext uri="{FF2B5EF4-FFF2-40B4-BE49-F238E27FC236}">
                    <a16:creationId xmlns:a16="http://schemas.microsoft.com/office/drawing/2014/main" id="{B10E0D4C-2E62-82EA-E720-31D10B8F27A2}"/>
                  </a:ext>
                </a:extLst>
              </p:cNvPr>
              <p:cNvSpPr txBox="1">
                <a:spLocks noRot="1" noChangeAspect="1" noMove="1" noResize="1" noEditPoints="1" noAdjustHandles="1" noChangeArrowheads="1" noChangeShapeType="1" noTextEdit="1"/>
              </p:cNvSpPr>
              <p:nvPr/>
            </p:nvSpPr>
            <p:spPr>
              <a:xfrm>
                <a:off x="3309" y="3981957"/>
                <a:ext cx="5772029" cy="369332"/>
              </a:xfrm>
              <a:prstGeom prst="rect">
                <a:avLst/>
              </a:prstGeom>
              <a:blipFill>
                <a:blip r:embed="rId4"/>
                <a:stretch>
                  <a:fillRect l="-879"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92EC52-41DE-86B7-FF06-3C8E0C82FC52}"/>
                  </a:ext>
                </a:extLst>
              </p:cNvPr>
              <p:cNvSpPr txBox="1"/>
              <p:nvPr/>
            </p:nvSpPr>
            <p:spPr>
              <a:xfrm>
                <a:off x="613287" y="4628014"/>
                <a:ext cx="2008883" cy="37446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2</m:t>
                          </m:r>
                        </m:sub>
                        <m:sup>
                          <m:r>
                            <a:rPr lang="en-US" i="1">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3</m:t>
                          </m:r>
                        </m:sub>
                        <m:sup>
                          <m:r>
                            <a:rPr lang="en-US" i="1">
                              <a:latin typeface="Cambria Math" panose="02040503050406030204" pitchFamily="18" charset="0"/>
                            </a:rPr>
                            <m:t>2</m:t>
                          </m:r>
                        </m:sup>
                      </m:sSubSup>
                    </m:oMath>
                  </m:oMathPara>
                </a14:m>
                <a:endParaRPr lang="en-US" dirty="0"/>
              </a:p>
            </p:txBody>
          </p:sp>
        </mc:Choice>
        <mc:Fallback xmlns="">
          <p:sp>
            <p:nvSpPr>
              <p:cNvPr id="11" name="TextBox 10">
                <a:extLst>
                  <a:ext uri="{FF2B5EF4-FFF2-40B4-BE49-F238E27FC236}">
                    <a16:creationId xmlns:a16="http://schemas.microsoft.com/office/drawing/2014/main" id="{1292EC52-41DE-86B7-FF06-3C8E0C82FC52}"/>
                  </a:ext>
                </a:extLst>
              </p:cNvPr>
              <p:cNvSpPr txBox="1">
                <a:spLocks noRot="1" noChangeAspect="1" noMove="1" noResize="1" noEditPoints="1" noAdjustHandles="1" noChangeArrowheads="1" noChangeShapeType="1" noTextEdit="1"/>
              </p:cNvSpPr>
              <p:nvPr/>
            </p:nvSpPr>
            <p:spPr>
              <a:xfrm>
                <a:off x="613287" y="4628014"/>
                <a:ext cx="2008883" cy="374461"/>
              </a:xfrm>
              <a:prstGeom prst="rect">
                <a:avLst/>
              </a:prstGeom>
              <a:blipFill>
                <a:blip r:embed="rId5"/>
                <a:stretch>
                  <a:fillRect b="-161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B7D049D-3959-A111-7D26-84D670788959}"/>
                  </a:ext>
                </a:extLst>
              </p:cNvPr>
              <p:cNvSpPr txBox="1"/>
              <p:nvPr/>
            </p:nvSpPr>
            <p:spPr>
              <a:xfrm>
                <a:off x="613286" y="5171112"/>
                <a:ext cx="2681055" cy="373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4</m:t>
                          </m:r>
                        </m:sub>
                      </m:sSub>
                      <m:r>
                        <a:rPr lang="en-US" b="0" i="1" smtClean="0">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sSup>
                        <m:sSupPr>
                          <m:ctrlPr>
                            <a:rPr lang="en-US" b="0" i="1" smtClean="0">
                              <a:latin typeface="Cambria Math" panose="02040503050406030204" pitchFamily="18" charset="0"/>
                            </a:rPr>
                          </m:ctrlPr>
                        </m:sSupPr>
                        <m:e>
                          <m:r>
                            <a:rPr lang="en-US" b="0" i="1" smtClean="0">
                              <a:latin typeface="Cambria Math" panose="02040503050406030204" pitchFamily="18" charset="0"/>
                            </a:rPr>
                            <m:t>𝑐𝑜𝑠</m:t>
                          </m:r>
                        </m:e>
                        <m:sup>
                          <m:r>
                            <a:rPr lang="en-US" b="0" i="1" smtClean="0">
                              <a:latin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ea typeface="Cambria Math" panose="02040503050406030204" pitchFamily="18" charset="0"/>
                            </a:rPr>
                            <m:t>2</m:t>
                          </m:r>
                        </m:sub>
                        <m:sup>
                          <m:r>
                            <a:rPr lang="en-US" i="1">
                              <a:latin typeface="Cambria Math" panose="02040503050406030204" pitchFamily="18" charset="0"/>
                            </a:rPr>
                            <m:t>2</m:t>
                          </m:r>
                        </m:sup>
                      </m:sSubSup>
                      <m:sSup>
                        <m:sSupPr>
                          <m:ctrlPr>
                            <a:rPr lang="en-US" i="1">
                              <a:latin typeface="Cambria Math" panose="02040503050406030204" pitchFamily="18" charset="0"/>
                            </a:rPr>
                          </m:ctrlPr>
                        </m:sSupPr>
                        <m:e>
                          <m:r>
                            <a:rPr lang="en-US" b="0" i="1" smtClean="0">
                              <a:latin typeface="Cambria Math" panose="02040503050406030204" pitchFamily="18" charset="0"/>
                            </a:rPr>
                            <m:t>𝑠𝑖𝑛</m:t>
                          </m:r>
                        </m:e>
                        <m:sup>
                          <m:r>
                            <a:rPr lang="en-US" i="1">
                              <a:latin typeface="Cambria Math" panose="02040503050406030204" pitchFamily="18" charset="0"/>
                            </a:rPr>
                            <m:t>2</m:t>
                          </m:r>
                        </m:sup>
                      </m:sSup>
                      <m:r>
                        <a:rPr lang="en-US" i="1">
                          <a:latin typeface="Cambria Math" panose="02040503050406030204" pitchFamily="18" charset="0"/>
                          <a:ea typeface="Cambria Math" panose="02040503050406030204" pitchFamily="18" charset="0"/>
                        </a:rPr>
                        <m:t>𝛼</m:t>
                      </m:r>
                    </m:oMath>
                  </m:oMathPara>
                </a14:m>
                <a:endParaRPr lang="en-US" dirty="0"/>
              </a:p>
            </p:txBody>
          </p:sp>
        </mc:Choice>
        <mc:Fallback xmlns="">
          <p:sp>
            <p:nvSpPr>
              <p:cNvPr id="12" name="TextBox 11">
                <a:extLst>
                  <a:ext uri="{FF2B5EF4-FFF2-40B4-BE49-F238E27FC236}">
                    <a16:creationId xmlns:a16="http://schemas.microsoft.com/office/drawing/2014/main" id="{4B7D049D-3959-A111-7D26-84D670788959}"/>
                  </a:ext>
                </a:extLst>
              </p:cNvPr>
              <p:cNvSpPr txBox="1">
                <a:spLocks noRot="1" noChangeAspect="1" noMove="1" noResize="1" noEditPoints="1" noAdjustHandles="1" noChangeArrowheads="1" noChangeShapeType="1" noTextEdit="1"/>
              </p:cNvSpPr>
              <p:nvPr/>
            </p:nvSpPr>
            <p:spPr>
              <a:xfrm>
                <a:off x="613286" y="5171112"/>
                <a:ext cx="2681055" cy="373051"/>
              </a:xfrm>
              <a:prstGeom prst="rect">
                <a:avLst/>
              </a:prstGeom>
              <a:blipFill>
                <a:blip r:embed="rId6"/>
                <a:stretch>
                  <a:fillRect b="-20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9DC2216F-B4A9-948E-824D-8034B691AD8A}"/>
              </a:ext>
            </a:extLst>
          </p:cNvPr>
          <p:cNvSpPr txBox="1"/>
          <p:nvPr/>
        </p:nvSpPr>
        <p:spPr>
          <a:xfrm>
            <a:off x="4537771" y="4651197"/>
            <a:ext cx="3903633" cy="369332"/>
          </a:xfrm>
          <a:prstGeom prst="rect">
            <a:avLst/>
          </a:prstGeom>
          <a:noFill/>
        </p:spPr>
        <p:txBody>
          <a:bodyPr wrap="none" rtlCol="0">
            <a:spAutoFit/>
          </a:bodyPr>
          <a:lstStyle/>
          <a:p>
            <a:r>
              <a:rPr lang="en-US" dirty="0"/>
              <a:t>overall stretch – controls matrix term</a:t>
            </a:r>
          </a:p>
        </p:txBody>
      </p:sp>
      <p:sp>
        <p:nvSpPr>
          <p:cNvPr id="14" name="TextBox 13">
            <a:extLst>
              <a:ext uri="{FF2B5EF4-FFF2-40B4-BE49-F238E27FC236}">
                <a16:creationId xmlns:a16="http://schemas.microsoft.com/office/drawing/2014/main" id="{4903DFFD-AA33-6C8F-BE1F-8AECD05C44FD}"/>
              </a:ext>
            </a:extLst>
          </p:cNvPr>
          <p:cNvSpPr txBox="1"/>
          <p:nvPr/>
        </p:nvSpPr>
        <p:spPr>
          <a:xfrm>
            <a:off x="4537771" y="5172971"/>
            <a:ext cx="3493264" cy="369332"/>
          </a:xfrm>
          <a:prstGeom prst="rect">
            <a:avLst/>
          </a:prstGeom>
          <a:noFill/>
        </p:spPr>
        <p:txBody>
          <a:bodyPr wrap="none" rtlCol="0">
            <a:spAutoFit/>
          </a:bodyPr>
          <a:lstStyle/>
          <a:p>
            <a:r>
              <a:rPr lang="en-US" dirty="0"/>
              <a:t>fiber stretch – controls fiber term</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1B7888C-64FC-A180-4A91-38D590613075}"/>
                  </a:ext>
                </a:extLst>
              </p:cNvPr>
              <p:cNvSpPr txBox="1"/>
              <p:nvPr/>
            </p:nvSpPr>
            <p:spPr>
              <a:xfrm>
                <a:off x="161765" y="5942818"/>
                <a:ext cx="7846187" cy="369332"/>
              </a:xfrm>
              <a:prstGeom prst="rect">
                <a:avLst/>
              </a:prstGeom>
              <a:noFill/>
            </p:spPr>
            <p:txBody>
              <a:bodyPr wrap="none" rtlCol="0">
                <a:spAutoFit/>
              </a:bodyPr>
              <a:lstStyle/>
              <a:p>
                <a:r>
                  <a:rPr lang="en-US" dirty="0">
                    <a:solidFill>
                      <a:schemeClr val="accent5"/>
                    </a:solidFill>
                  </a:rPr>
                  <a:t>Note</a:t>
                </a: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4</m:t>
                        </m:r>
                      </m:sub>
                    </m:sSub>
                  </m:oMath>
                </a14:m>
                <a:r>
                  <a:rPr lang="en-US" dirty="0"/>
                  <a:t> depends on </a:t>
                </a:r>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only when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𝜆</m:t>
                        </m:r>
                      </m:e>
                      <m:sub>
                        <m:r>
                          <a:rPr lang="en-US" b="0" i="1" smtClean="0">
                            <a:latin typeface="Cambria Math" panose="02040503050406030204" pitchFamily="18" charset="0"/>
                          </a:rPr>
                          <m:t>2</m:t>
                        </m:r>
                      </m:sub>
                    </m:sSub>
                  </m:oMath>
                </a14:m>
                <a:r>
                  <a:rPr lang="en-US" dirty="0"/>
                  <a:t> -- i.e., not under </a:t>
                </a:r>
                <a:r>
                  <a:rPr lang="en-US" dirty="0" err="1"/>
                  <a:t>equibiaxial</a:t>
                </a:r>
                <a:r>
                  <a:rPr lang="en-US" dirty="0"/>
                  <a:t> loading </a:t>
                </a:r>
              </a:p>
            </p:txBody>
          </p:sp>
        </mc:Choice>
        <mc:Fallback xmlns="">
          <p:sp>
            <p:nvSpPr>
              <p:cNvPr id="15" name="TextBox 14">
                <a:extLst>
                  <a:ext uri="{FF2B5EF4-FFF2-40B4-BE49-F238E27FC236}">
                    <a16:creationId xmlns:a16="http://schemas.microsoft.com/office/drawing/2014/main" id="{91B7888C-64FC-A180-4A91-38D590613075}"/>
                  </a:ext>
                </a:extLst>
              </p:cNvPr>
              <p:cNvSpPr txBox="1">
                <a:spLocks noRot="1" noChangeAspect="1" noMove="1" noResize="1" noEditPoints="1" noAdjustHandles="1" noChangeArrowheads="1" noChangeShapeType="1" noTextEdit="1"/>
              </p:cNvSpPr>
              <p:nvPr/>
            </p:nvSpPr>
            <p:spPr>
              <a:xfrm>
                <a:off x="161765" y="5942818"/>
                <a:ext cx="7846187" cy="369332"/>
              </a:xfrm>
              <a:prstGeom prst="rect">
                <a:avLst/>
              </a:prstGeom>
              <a:blipFill>
                <a:blip r:embed="rId7"/>
                <a:stretch>
                  <a:fillRect l="-646" t="-10345" r="-485" b="-27586"/>
                </a:stretch>
              </a:blipFill>
            </p:spPr>
            <p:txBody>
              <a:bodyPr/>
              <a:lstStyle/>
              <a:p>
                <a:r>
                  <a:rPr lang="en-US">
                    <a:noFill/>
                  </a:rPr>
                  <a:t> </a:t>
                </a:r>
              </a:p>
            </p:txBody>
          </p:sp>
        </mc:Fallback>
      </mc:AlternateContent>
    </p:spTree>
    <p:extLst>
      <p:ext uri="{BB962C8B-B14F-4D97-AF65-F5344CB8AC3E}">
        <p14:creationId xmlns:p14="http://schemas.microsoft.com/office/powerpoint/2010/main" val="647160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2F647-926C-93F3-84A8-7BDAAADFDB93}"/>
              </a:ext>
            </a:extLst>
          </p:cNvPr>
          <p:cNvSpPr>
            <a:spLocks noGrp="1"/>
          </p:cNvSpPr>
          <p:nvPr>
            <p:ph type="title"/>
          </p:nvPr>
        </p:nvSpPr>
        <p:spPr/>
        <p:txBody>
          <a:bodyPr/>
          <a:lstStyle/>
          <a:p>
            <a:r>
              <a:rPr lang="en-US" dirty="0"/>
              <a:t>Parameters and physiological ranges</a:t>
            </a:r>
          </a:p>
        </p:txBody>
      </p:sp>
      <p:graphicFrame>
        <p:nvGraphicFramePr>
          <p:cNvPr id="3" name="Table 3">
            <a:extLst>
              <a:ext uri="{FF2B5EF4-FFF2-40B4-BE49-F238E27FC236}">
                <a16:creationId xmlns:a16="http://schemas.microsoft.com/office/drawing/2014/main" id="{34B7D5DC-9B1D-72B6-AD16-36D116796808}"/>
              </a:ext>
            </a:extLst>
          </p:cNvPr>
          <p:cNvGraphicFramePr>
            <a:graphicFrameLocks noGrp="1"/>
          </p:cNvGraphicFramePr>
          <p:nvPr>
            <p:extLst>
              <p:ext uri="{D42A27DB-BD31-4B8C-83A1-F6EECF244321}">
                <p14:modId xmlns:p14="http://schemas.microsoft.com/office/powerpoint/2010/main" val="1888129310"/>
              </p:ext>
            </p:extLst>
          </p:nvPr>
        </p:nvGraphicFramePr>
        <p:xfrm>
          <a:off x="388936" y="1219730"/>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150394">
                  <a:extLst>
                    <a:ext uri="{9D8B030D-6E8A-4147-A177-3AD203B41FA5}">
                      <a16:colId xmlns:a16="http://schemas.microsoft.com/office/drawing/2014/main" val="1842059107"/>
                    </a:ext>
                  </a:extLst>
                </a:gridCol>
                <a:gridCol w="3364706">
                  <a:extLst>
                    <a:ext uri="{9D8B030D-6E8A-4147-A177-3AD203B41FA5}">
                      <a16:colId xmlns:a16="http://schemas.microsoft.com/office/drawing/2014/main" val="2626965902"/>
                    </a:ext>
                  </a:extLst>
                </a:gridCol>
                <a:gridCol w="1714500">
                  <a:extLst>
                    <a:ext uri="{9D8B030D-6E8A-4147-A177-3AD203B41FA5}">
                      <a16:colId xmlns:a16="http://schemas.microsoft.com/office/drawing/2014/main" val="3424859042"/>
                    </a:ext>
                  </a:extLst>
                </a:gridCol>
                <a:gridCol w="1726406">
                  <a:extLst>
                    <a:ext uri="{9D8B030D-6E8A-4147-A177-3AD203B41FA5}">
                      <a16:colId xmlns:a16="http://schemas.microsoft.com/office/drawing/2014/main" val="51701784"/>
                    </a:ext>
                  </a:extLst>
                </a:gridCol>
              </a:tblGrid>
              <a:tr h="445191">
                <a:tc>
                  <a:txBody>
                    <a:bodyPr/>
                    <a:lstStyle/>
                    <a:p>
                      <a:pPr algn="ctr"/>
                      <a:r>
                        <a:rPr lang="en-US" dirty="0">
                          <a:solidFill>
                            <a:sysClr val="windowText" lastClr="000000"/>
                          </a:solidFill>
                        </a:rPr>
                        <a:t>Param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solidFill>
                            <a:sysClr val="windowText" lastClr="000000"/>
                          </a:solidFill>
                        </a:rPr>
                        <a:t>What it represents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solidFill>
                            <a:sysClr val="windowText" lastClr="000000"/>
                          </a:solidFill>
                        </a:rPr>
                        <a:t>Physical role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solidFill>
                            <a:sysClr val="windowText" lastClr="000000"/>
                          </a:solidFill>
                        </a:rPr>
                        <a:t>Range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r>
                        <a:rPr lang="en-US" dirty="0">
                          <a:solidFill>
                            <a:sysClr val="windowText" lastClr="000000"/>
                          </a:solidFill>
                        </a:rPr>
                        <a:t>unit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607093643"/>
                  </a:ext>
                </a:extLst>
              </a:tr>
            </a:tbl>
          </a:graphicData>
        </a:graphic>
      </p:graphicFrame>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E2620FD5-2DF1-54C1-BD1D-C1C089D290D1}"/>
                  </a:ext>
                </a:extLst>
              </p:cNvPr>
              <p:cNvGraphicFramePr>
                <a:graphicFrameLocks noGrp="1"/>
              </p:cNvGraphicFramePr>
              <p:nvPr>
                <p:extLst>
                  <p:ext uri="{D42A27DB-BD31-4B8C-83A1-F6EECF244321}">
                    <p14:modId xmlns:p14="http://schemas.microsoft.com/office/powerpoint/2010/main" val="2218970530"/>
                  </p:ext>
                </p:extLst>
              </p:nvPr>
            </p:nvGraphicFramePr>
            <p:xfrm>
              <a:off x="388936" y="1879336"/>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164682">
                      <a:extLst>
                        <a:ext uri="{9D8B030D-6E8A-4147-A177-3AD203B41FA5}">
                          <a16:colId xmlns:a16="http://schemas.microsoft.com/office/drawing/2014/main" val="1842059107"/>
                        </a:ext>
                      </a:extLst>
                    </a:gridCol>
                    <a:gridCol w="3336131">
                      <a:extLst>
                        <a:ext uri="{9D8B030D-6E8A-4147-A177-3AD203B41FA5}">
                          <a16:colId xmlns:a16="http://schemas.microsoft.com/office/drawing/2014/main" val="2626965902"/>
                        </a:ext>
                      </a:extLst>
                    </a:gridCol>
                    <a:gridCol w="1850231">
                      <a:extLst>
                        <a:ext uri="{9D8B030D-6E8A-4147-A177-3AD203B41FA5}">
                          <a16:colId xmlns:a16="http://schemas.microsoft.com/office/drawing/2014/main" val="3424859042"/>
                        </a:ext>
                      </a:extLst>
                    </a:gridCol>
                    <a:gridCol w="1604962">
                      <a:extLst>
                        <a:ext uri="{9D8B030D-6E8A-4147-A177-3AD203B41FA5}">
                          <a16:colId xmlns:a16="http://schemas.microsoft.com/office/drawing/2014/main" val="51701784"/>
                        </a:ext>
                      </a:extLst>
                    </a:gridCol>
                  </a:tblGrid>
                  <a:tr h="445191">
                    <a:tc>
                      <a:txBody>
                        <a:bodyPr/>
                        <a:lstStyle/>
                        <a:p>
                          <a:pPr algn="ctr"/>
                          <a14:m>
                            <m:oMathPara xmlns:m="http://schemas.openxmlformats.org/officeDocument/2006/math">
                              <m:oMathParaPr>
                                <m:jc m:val="centerGroup"/>
                              </m:oMathParaPr>
                              <m:oMath xmlns:m="http://schemas.openxmlformats.org/officeDocument/2006/math">
                                <m:r>
                                  <a:rPr lang="en-US" b="1" i="1" dirty="0" smtClean="0">
                                    <a:solidFill>
                                      <a:sysClr val="windowText" lastClr="000000"/>
                                    </a:solidFill>
                                    <a:latin typeface="Cambria Math" panose="02040503050406030204" pitchFamily="18" charset="0"/>
                                  </a:rPr>
                                  <m:t>𝒄</m:t>
                                </m:r>
                              </m:oMath>
                            </m:oMathPara>
                          </a14:m>
                          <a:endParaRPr lang="en-US" dirty="0">
                            <a:solidFill>
                              <a:sysClr val="windowText" lastClr="000000"/>
                            </a:solidFill>
                          </a:endParaRPr>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Matrix stiffness</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Low-strain regime</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5-50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err="1">
                              <a:solidFill>
                                <a:sysClr val="windowText" lastClr="000000"/>
                              </a:solidFill>
                            </a:rPr>
                            <a:t>kpa</a:t>
                          </a:r>
                          <a:endParaRPr lang="en-US" dirty="0">
                            <a:solidFill>
                              <a:sysClr val="windowText" lastClr="000000"/>
                            </a:solidFill>
                          </a:endParaRP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Choice>
        <mc:Fallback xmlns="">
          <p:graphicFrame>
            <p:nvGraphicFramePr>
              <p:cNvPr id="4" name="Table 3">
                <a:extLst>
                  <a:ext uri="{FF2B5EF4-FFF2-40B4-BE49-F238E27FC236}">
                    <a16:creationId xmlns:a16="http://schemas.microsoft.com/office/drawing/2014/main" id="{E2620FD5-2DF1-54C1-BD1D-C1C089D290D1}"/>
                  </a:ext>
                </a:extLst>
              </p:cNvPr>
              <p:cNvGraphicFramePr>
                <a:graphicFrameLocks noGrp="1"/>
              </p:cNvGraphicFramePr>
              <p:nvPr>
                <p:extLst>
                  <p:ext uri="{D42A27DB-BD31-4B8C-83A1-F6EECF244321}">
                    <p14:modId xmlns:p14="http://schemas.microsoft.com/office/powerpoint/2010/main" val="2218970530"/>
                  </p:ext>
                </p:extLst>
              </p:nvPr>
            </p:nvGraphicFramePr>
            <p:xfrm>
              <a:off x="388936" y="1879336"/>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164682">
                      <a:extLst>
                        <a:ext uri="{9D8B030D-6E8A-4147-A177-3AD203B41FA5}">
                          <a16:colId xmlns:a16="http://schemas.microsoft.com/office/drawing/2014/main" val="1842059107"/>
                        </a:ext>
                      </a:extLst>
                    </a:gridCol>
                    <a:gridCol w="3336131">
                      <a:extLst>
                        <a:ext uri="{9D8B030D-6E8A-4147-A177-3AD203B41FA5}">
                          <a16:colId xmlns:a16="http://schemas.microsoft.com/office/drawing/2014/main" val="2626965902"/>
                        </a:ext>
                      </a:extLst>
                    </a:gridCol>
                    <a:gridCol w="1850231">
                      <a:extLst>
                        <a:ext uri="{9D8B030D-6E8A-4147-A177-3AD203B41FA5}">
                          <a16:colId xmlns:a16="http://schemas.microsoft.com/office/drawing/2014/main" val="3424859042"/>
                        </a:ext>
                      </a:extLst>
                    </a:gridCol>
                    <a:gridCol w="1604962">
                      <a:extLst>
                        <a:ext uri="{9D8B030D-6E8A-4147-A177-3AD203B41FA5}">
                          <a16:colId xmlns:a16="http://schemas.microsoft.com/office/drawing/2014/main" val="51701784"/>
                        </a:ext>
                      </a:extLst>
                    </a:gridCol>
                  </a:tblGrid>
                  <a:tr h="445191">
                    <a:tc>
                      <a:txBody>
                        <a:bodyPr/>
                        <a:lstStyle/>
                        <a:p>
                          <a:endParaRPr lang="en-US"/>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blipFill>
                          <a:blip r:embed="rId3"/>
                          <a:stretch>
                            <a:fillRect t="-5405" r="-643443" b="-2703"/>
                          </a:stretch>
                        </a:blipFill>
                      </a:tcPr>
                    </a:tc>
                    <a:tc>
                      <a:txBody>
                        <a:bodyPr/>
                        <a:lstStyle/>
                        <a:p>
                          <a:pPr algn="ctr"/>
                          <a:r>
                            <a:rPr lang="en-US" dirty="0">
                              <a:solidFill>
                                <a:sysClr val="windowText" lastClr="000000"/>
                              </a:solidFill>
                            </a:rPr>
                            <a:t>Matrix stiffness</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Low-strain regime</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5-50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err="1">
                              <a:solidFill>
                                <a:sysClr val="windowText" lastClr="000000"/>
                              </a:solidFill>
                            </a:rPr>
                            <a:t>kpa</a:t>
                          </a:r>
                          <a:endParaRPr lang="en-US" dirty="0">
                            <a:solidFill>
                              <a:sysClr val="windowText" lastClr="000000"/>
                            </a:solidFill>
                          </a:endParaRP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500A3985-5EAA-96A8-3710-C2BF634BF0D2}"/>
                  </a:ext>
                </a:extLst>
              </p:cNvPr>
              <p:cNvGraphicFramePr>
                <a:graphicFrameLocks noGrp="1"/>
              </p:cNvGraphicFramePr>
              <p:nvPr>
                <p:extLst>
                  <p:ext uri="{D42A27DB-BD31-4B8C-83A1-F6EECF244321}">
                    <p14:modId xmlns:p14="http://schemas.microsoft.com/office/powerpoint/2010/main" val="1317308840"/>
                  </p:ext>
                </p:extLst>
              </p:nvPr>
            </p:nvGraphicFramePr>
            <p:xfrm>
              <a:off x="388936" y="2538942"/>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ysClr val="windowText" lastClr="000000"/>
                                        </a:solidFill>
                                        <a:latin typeface="Cambria Math" panose="02040503050406030204" pitchFamily="18" charset="0"/>
                                      </a:rPr>
                                    </m:ctrlPr>
                                  </m:sSubPr>
                                  <m:e>
                                    <m:r>
                                      <a:rPr lang="en-US" b="1" i="1" smtClean="0">
                                        <a:solidFill>
                                          <a:sysClr val="windowText" lastClr="000000"/>
                                        </a:solidFill>
                                        <a:latin typeface="Cambria Math" panose="02040503050406030204" pitchFamily="18" charset="0"/>
                                      </a:rPr>
                                      <m:t>𝒌</m:t>
                                    </m:r>
                                  </m:e>
                                  <m:sub>
                                    <m:r>
                                      <a:rPr lang="en-US" b="1" i="1" smtClean="0">
                                        <a:solidFill>
                                          <a:sysClr val="windowText" lastClr="000000"/>
                                        </a:solidFill>
                                        <a:latin typeface="Cambria Math" panose="02040503050406030204" pitchFamily="18" charset="0"/>
                                      </a:rPr>
                                      <m:t>𝟏</m:t>
                                    </m:r>
                                  </m:sub>
                                </m:sSub>
                              </m:oMath>
                            </m:oMathPara>
                          </a14:m>
                          <a:endParaRPr lang="en-US" dirty="0">
                            <a:solidFill>
                              <a:sysClr val="windowText" lastClr="000000"/>
                            </a:solidFill>
                          </a:endParaRPr>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Fiber stiffness</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Linear coefficient</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0.5-20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err="1">
                              <a:solidFill>
                                <a:sysClr val="windowText" lastClr="000000"/>
                              </a:solidFill>
                            </a:rPr>
                            <a:t>kpa</a:t>
                          </a:r>
                          <a:endParaRPr lang="en-US" dirty="0">
                            <a:solidFill>
                              <a:sysClr val="windowText" lastClr="000000"/>
                            </a:solidFill>
                          </a:endParaRP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Choice>
        <mc:Fallback xmlns="">
          <p:graphicFrame>
            <p:nvGraphicFramePr>
              <p:cNvPr id="5" name="Table 4">
                <a:extLst>
                  <a:ext uri="{FF2B5EF4-FFF2-40B4-BE49-F238E27FC236}">
                    <a16:creationId xmlns:a16="http://schemas.microsoft.com/office/drawing/2014/main" id="{500A3985-5EAA-96A8-3710-C2BF634BF0D2}"/>
                  </a:ext>
                </a:extLst>
              </p:cNvPr>
              <p:cNvGraphicFramePr>
                <a:graphicFrameLocks noGrp="1"/>
              </p:cNvGraphicFramePr>
              <p:nvPr>
                <p:extLst>
                  <p:ext uri="{D42A27DB-BD31-4B8C-83A1-F6EECF244321}">
                    <p14:modId xmlns:p14="http://schemas.microsoft.com/office/powerpoint/2010/main" val="1317308840"/>
                  </p:ext>
                </p:extLst>
              </p:nvPr>
            </p:nvGraphicFramePr>
            <p:xfrm>
              <a:off x="388936" y="2538942"/>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endParaRPr lang="en-US"/>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blipFill>
                          <a:blip r:embed="rId4"/>
                          <a:stretch>
                            <a:fillRect t="-5556" r="-643443" b="-5556"/>
                          </a:stretch>
                        </a:blipFill>
                      </a:tcPr>
                    </a:tc>
                    <a:tc>
                      <a:txBody>
                        <a:bodyPr/>
                        <a:lstStyle/>
                        <a:p>
                          <a:pPr algn="ctr"/>
                          <a:r>
                            <a:rPr lang="en-US" dirty="0">
                              <a:solidFill>
                                <a:sysClr val="windowText" lastClr="000000"/>
                              </a:solidFill>
                            </a:rPr>
                            <a:t>Fiber stiffness</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Linear coefficient</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0.5-20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err="1">
                              <a:solidFill>
                                <a:sysClr val="windowText" lastClr="000000"/>
                              </a:solidFill>
                            </a:rPr>
                            <a:t>kpa</a:t>
                          </a:r>
                          <a:endParaRPr lang="en-US" dirty="0">
                            <a:solidFill>
                              <a:sysClr val="windowText" lastClr="000000"/>
                            </a:solidFill>
                          </a:endParaRP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2FC0F520-0C58-ADA8-2EE1-4E503BDFB70A}"/>
                  </a:ext>
                </a:extLst>
              </p:cNvPr>
              <p:cNvGraphicFramePr>
                <a:graphicFrameLocks noGrp="1"/>
              </p:cNvGraphicFramePr>
              <p:nvPr>
                <p:extLst>
                  <p:ext uri="{D42A27DB-BD31-4B8C-83A1-F6EECF244321}">
                    <p14:modId xmlns:p14="http://schemas.microsoft.com/office/powerpoint/2010/main" val="2393384776"/>
                  </p:ext>
                </p:extLst>
              </p:nvPr>
            </p:nvGraphicFramePr>
            <p:xfrm>
              <a:off x="388935" y="3198548"/>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pPr algn="ctr"/>
                          <a14:m>
                            <m:oMathPara xmlns:m="http://schemas.openxmlformats.org/officeDocument/2006/math">
                              <m:oMathParaPr>
                                <m:jc m:val="centerGroup"/>
                              </m:oMathParaPr>
                              <m:oMath xmlns:m="http://schemas.openxmlformats.org/officeDocument/2006/math">
                                <m:sSub>
                                  <m:sSubPr>
                                    <m:ctrlPr>
                                      <a:rPr lang="en-US" i="1" smtClean="0">
                                        <a:solidFill>
                                          <a:sysClr val="windowText" lastClr="000000"/>
                                        </a:solidFill>
                                        <a:latin typeface="Cambria Math" panose="02040503050406030204" pitchFamily="18" charset="0"/>
                                      </a:rPr>
                                    </m:ctrlPr>
                                  </m:sSubPr>
                                  <m:e>
                                    <m:r>
                                      <a:rPr lang="en-US" b="1" i="1" smtClean="0">
                                        <a:solidFill>
                                          <a:sysClr val="windowText" lastClr="000000"/>
                                        </a:solidFill>
                                        <a:latin typeface="Cambria Math" panose="02040503050406030204" pitchFamily="18" charset="0"/>
                                      </a:rPr>
                                      <m:t>𝒌</m:t>
                                    </m:r>
                                  </m:e>
                                  <m:sub>
                                    <m:r>
                                      <a:rPr lang="en-US" b="1" i="1" smtClean="0">
                                        <a:solidFill>
                                          <a:sysClr val="windowText" lastClr="000000"/>
                                        </a:solidFill>
                                        <a:latin typeface="Cambria Math" panose="02040503050406030204" pitchFamily="18" charset="0"/>
                                      </a:rPr>
                                      <m:t>𝟐</m:t>
                                    </m:r>
                                  </m:sub>
                                </m:sSub>
                              </m:oMath>
                            </m:oMathPara>
                          </a14:m>
                          <a:endParaRPr lang="en-US" dirty="0">
                            <a:solidFill>
                              <a:sysClr val="windowText" lastClr="000000"/>
                            </a:solidFill>
                          </a:endParaRPr>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Fiber nonlinearity</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Exponential rate</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0.1-5</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a:t>
                          </a: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Choice>
        <mc:Fallback xmlns="">
          <p:graphicFrame>
            <p:nvGraphicFramePr>
              <p:cNvPr id="6" name="Table 5">
                <a:extLst>
                  <a:ext uri="{FF2B5EF4-FFF2-40B4-BE49-F238E27FC236}">
                    <a16:creationId xmlns:a16="http://schemas.microsoft.com/office/drawing/2014/main" id="{2FC0F520-0C58-ADA8-2EE1-4E503BDFB70A}"/>
                  </a:ext>
                </a:extLst>
              </p:cNvPr>
              <p:cNvGraphicFramePr>
                <a:graphicFrameLocks noGrp="1"/>
              </p:cNvGraphicFramePr>
              <p:nvPr>
                <p:extLst>
                  <p:ext uri="{D42A27DB-BD31-4B8C-83A1-F6EECF244321}">
                    <p14:modId xmlns:p14="http://schemas.microsoft.com/office/powerpoint/2010/main" val="2393384776"/>
                  </p:ext>
                </p:extLst>
              </p:nvPr>
            </p:nvGraphicFramePr>
            <p:xfrm>
              <a:off x="388935" y="3198548"/>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endParaRPr lang="en-US"/>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blipFill>
                          <a:blip r:embed="rId5"/>
                          <a:stretch>
                            <a:fillRect t="-5556" r="-643443" b="-5556"/>
                          </a:stretch>
                        </a:blipFill>
                      </a:tcPr>
                    </a:tc>
                    <a:tc>
                      <a:txBody>
                        <a:bodyPr/>
                        <a:lstStyle/>
                        <a:p>
                          <a:pPr algn="ctr"/>
                          <a:r>
                            <a:rPr lang="en-US" dirty="0">
                              <a:solidFill>
                                <a:sysClr val="windowText" lastClr="000000"/>
                              </a:solidFill>
                            </a:rPr>
                            <a:t>Fiber nonlinearity</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Exponential rate</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0.1-5</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a:t>
                          </a: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DDD09DD-ABEA-5AAA-AF06-50AC1802D149}"/>
                  </a:ext>
                </a:extLst>
              </p:cNvPr>
              <p:cNvGraphicFramePr>
                <a:graphicFrameLocks noGrp="1"/>
              </p:cNvGraphicFramePr>
              <p:nvPr>
                <p:extLst>
                  <p:ext uri="{D42A27DB-BD31-4B8C-83A1-F6EECF244321}">
                    <p14:modId xmlns:p14="http://schemas.microsoft.com/office/powerpoint/2010/main" val="3545817954"/>
                  </p:ext>
                </p:extLst>
              </p:nvPr>
            </p:nvGraphicFramePr>
            <p:xfrm>
              <a:off x="388935" y="3858154"/>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pPr algn="ctr"/>
                          <a14:m>
                            <m:oMathPara xmlns:m="http://schemas.openxmlformats.org/officeDocument/2006/math">
                              <m:oMathParaPr>
                                <m:jc m:val="centerGroup"/>
                              </m:oMathParaPr>
                              <m:oMath xmlns:m="http://schemas.openxmlformats.org/officeDocument/2006/math">
                                <m:r>
                                  <a:rPr lang="en-US" i="1" smtClean="0">
                                    <a:solidFill>
                                      <a:sysClr val="windowText" lastClr="000000"/>
                                    </a:solidFill>
                                    <a:latin typeface="Cambria Math" panose="02040503050406030204" pitchFamily="18" charset="0"/>
                                    <a:ea typeface="Cambria Math" panose="02040503050406030204" pitchFamily="18" charset="0"/>
                                  </a:rPr>
                                  <m:t>𝜶</m:t>
                                </m:r>
                              </m:oMath>
                            </m:oMathPara>
                          </a14:m>
                          <a:endParaRPr lang="en-US" dirty="0">
                            <a:solidFill>
                              <a:sysClr val="windowText" lastClr="000000"/>
                            </a:solidFill>
                          </a:endParaRPr>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Fiber orientation</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Anisotropy direction</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30-60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deg</a:t>
                          </a: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Choice>
        <mc:Fallback xmlns="">
          <p:graphicFrame>
            <p:nvGraphicFramePr>
              <p:cNvPr id="7" name="Table 6">
                <a:extLst>
                  <a:ext uri="{FF2B5EF4-FFF2-40B4-BE49-F238E27FC236}">
                    <a16:creationId xmlns:a16="http://schemas.microsoft.com/office/drawing/2014/main" id="{7DDD09DD-ABEA-5AAA-AF06-50AC1802D149}"/>
                  </a:ext>
                </a:extLst>
              </p:cNvPr>
              <p:cNvGraphicFramePr>
                <a:graphicFrameLocks noGrp="1"/>
              </p:cNvGraphicFramePr>
              <p:nvPr>
                <p:extLst>
                  <p:ext uri="{D42A27DB-BD31-4B8C-83A1-F6EECF244321}">
                    <p14:modId xmlns:p14="http://schemas.microsoft.com/office/powerpoint/2010/main" val="3545817954"/>
                  </p:ext>
                </p:extLst>
              </p:nvPr>
            </p:nvGraphicFramePr>
            <p:xfrm>
              <a:off x="388935" y="3858154"/>
              <a:ext cx="11503025" cy="445191"/>
            </p:xfrm>
            <a:graphic>
              <a:graphicData uri="http://schemas.openxmlformats.org/drawingml/2006/table">
                <a:tbl>
                  <a:tblPr firstRow="1" bandRow="1">
                    <a:tableStyleId>{775DCB02-9BB8-47FD-8907-85C794F793BA}</a:tableStyleId>
                  </a:tblPr>
                  <a:tblGrid>
                    <a:gridCol w="1547019">
                      <a:extLst>
                        <a:ext uri="{9D8B030D-6E8A-4147-A177-3AD203B41FA5}">
                          <a16:colId xmlns:a16="http://schemas.microsoft.com/office/drawing/2014/main" val="126539874"/>
                        </a:ext>
                      </a:extLst>
                    </a:gridCol>
                    <a:gridCol w="3054191">
                      <a:extLst>
                        <a:ext uri="{9D8B030D-6E8A-4147-A177-3AD203B41FA5}">
                          <a16:colId xmlns:a16="http://schemas.microsoft.com/office/drawing/2014/main" val="1842059107"/>
                        </a:ext>
                      </a:extLst>
                    </a:gridCol>
                    <a:gridCol w="3475197">
                      <a:extLst>
                        <a:ext uri="{9D8B030D-6E8A-4147-A177-3AD203B41FA5}">
                          <a16:colId xmlns:a16="http://schemas.microsoft.com/office/drawing/2014/main" val="2626965902"/>
                        </a:ext>
                      </a:extLst>
                    </a:gridCol>
                    <a:gridCol w="1750219">
                      <a:extLst>
                        <a:ext uri="{9D8B030D-6E8A-4147-A177-3AD203B41FA5}">
                          <a16:colId xmlns:a16="http://schemas.microsoft.com/office/drawing/2014/main" val="3424859042"/>
                        </a:ext>
                      </a:extLst>
                    </a:gridCol>
                    <a:gridCol w="1676399">
                      <a:extLst>
                        <a:ext uri="{9D8B030D-6E8A-4147-A177-3AD203B41FA5}">
                          <a16:colId xmlns:a16="http://schemas.microsoft.com/office/drawing/2014/main" val="51701784"/>
                        </a:ext>
                      </a:extLst>
                    </a:gridCol>
                  </a:tblGrid>
                  <a:tr h="445191">
                    <a:tc>
                      <a:txBody>
                        <a:bodyPr/>
                        <a:lstStyle/>
                        <a:p>
                          <a:endParaRPr lang="en-US"/>
                        </a:p>
                      </a:txBody>
                      <a:tcPr>
                        <a:lnL w="6350" cap="flat" cmpd="sng" algn="ctr">
                          <a:noFill/>
                          <a:prstDash val="solid"/>
                          <a:miter lim="800000"/>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blipFill>
                          <a:blip r:embed="rId6"/>
                          <a:stretch>
                            <a:fillRect t="-5556" r="-643443" b="-5556"/>
                          </a:stretch>
                        </a:blipFill>
                      </a:tcPr>
                    </a:tc>
                    <a:tc>
                      <a:txBody>
                        <a:bodyPr/>
                        <a:lstStyle/>
                        <a:p>
                          <a:pPr algn="ctr"/>
                          <a:r>
                            <a:rPr lang="en-US" dirty="0">
                              <a:solidFill>
                                <a:sysClr val="windowText" lastClr="000000"/>
                              </a:solidFill>
                            </a:rPr>
                            <a:t>Fiber orientation</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Anisotropy direction</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30-60</a:t>
                          </a:r>
                        </a:p>
                      </a:txBody>
                      <a:tcPr>
                        <a:lnL>
                          <a:noFill/>
                        </a:lnL>
                        <a:lnR>
                          <a:noFill/>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tc>
                      <a:txBody>
                        <a:bodyPr/>
                        <a:lstStyle/>
                        <a:p>
                          <a:pPr algn="ctr"/>
                          <a:r>
                            <a:rPr lang="en-US" dirty="0">
                              <a:solidFill>
                                <a:sysClr val="windowText" lastClr="000000"/>
                              </a:solidFill>
                            </a:rPr>
                            <a:t>deg</a:t>
                          </a:r>
                        </a:p>
                      </a:txBody>
                      <a:tcPr>
                        <a:lnL>
                          <a:noFill/>
                        </a:lnL>
                        <a:lnR w="6350" cap="flat" cmpd="sng" algn="ctr">
                          <a:noFill/>
                          <a:prstDash val="solid"/>
                          <a:miter lim="800000"/>
                        </a:lnR>
                        <a:lnT w="635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solidFill>
                          <a:schemeClr val="accent2">
                            <a:lumMod val="60000"/>
                            <a:lumOff val="40000"/>
                          </a:schemeClr>
                        </a:solidFill>
                      </a:tcPr>
                    </a:tc>
                    <a:extLst>
                      <a:ext uri="{0D108BD9-81ED-4DB2-BD59-A6C34878D82A}">
                        <a16:rowId xmlns:a16="http://schemas.microsoft.com/office/drawing/2014/main" val="3607093643"/>
                      </a:ext>
                    </a:extLst>
                  </a:tr>
                </a:tbl>
              </a:graphicData>
            </a:graphic>
          </p:graphicFrame>
        </mc:Fallback>
      </mc:AlternateContent>
      <p:sp>
        <p:nvSpPr>
          <p:cNvPr id="8" name="TextBox 7">
            <a:extLst>
              <a:ext uri="{FF2B5EF4-FFF2-40B4-BE49-F238E27FC236}">
                <a16:creationId xmlns:a16="http://schemas.microsoft.com/office/drawing/2014/main" id="{4DBA7CE7-245C-E0C1-E70E-3D34C9F213DA}"/>
              </a:ext>
            </a:extLst>
          </p:cNvPr>
          <p:cNvSpPr txBox="1"/>
          <p:nvPr/>
        </p:nvSpPr>
        <p:spPr>
          <a:xfrm>
            <a:off x="1777714" y="4855810"/>
            <a:ext cx="8725466" cy="369332"/>
          </a:xfrm>
          <a:prstGeom prst="rect">
            <a:avLst/>
          </a:prstGeom>
          <a:noFill/>
        </p:spPr>
        <p:txBody>
          <a:bodyPr wrap="none" rtlCol="0">
            <a:spAutoFit/>
          </a:bodyPr>
          <a:lstStyle/>
          <a:p>
            <a:r>
              <a:rPr lang="en-US" dirty="0"/>
              <a:t>Ranges drawn from aortic-tissue literature; sampled uniformly during </a:t>
            </a:r>
            <a:r>
              <a:rPr lang="en-US" dirty="0" err="1"/>
              <a:t>Sobol</a:t>
            </a:r>
            <a:r>
              <a:rPr lang="en-US" dirty="0"/>
              <a:t> analysis</a:t>
            </a:r>
          </a:p>
        </p:txBody>
      </p:sp>
    </p:spTree>
    <p:extLst>
      <p:ext uri="{BB962C8B-B14F-4D97-AF65-F5344CB8AC3E}">
        <p14:creationId xmlns:p14="http://schemas.microsoft.com/office/powerpoint/2010/main" val="169554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9CBA3-3C9D-EEF4-E01C-13B4C9B4AA8E}"/>
              </a:ext>
            </a:extLst>
          </p:cNvPr>
          <p:cNvSpPr>
            <a:spLocks noGrp="1"/>
          </p:cNvSpPr>
          <p:nvPr>
            <p:ph type="title"/>
          </p:nvPr>
        </p:nvSpPr>
        <p:spPr/>
        <p:txBody>
          <a:bodyPr/>
          <a:lstStyle/>
          <a:p>
            <a:r>
              <a:rPr lang="en-US" dirty="0"/>
              <a:t>What HGO actually predicts: stress vs stretch</a:t>
            </a:r>
          </a:p>
        </p:txBody>
      </p:sp>
      <p:pic>
        <p:nvPicPr>
          <p:cNvPr id="4" name="Picture 3" descr="A graph of different colored lines&#10;&#10;Description automatically generated">
            <a:extLst>
              <a:ext uri="{FF2B5EF4-FFF2-40B4-BE49-F238E27FC236}">
                <a16:creationId xmlns:a16="http://schemas.microsoft.com/office/drawing/2014/main" id="{4F8F766C-779F-4F3C-E661-9817EFD3AFB7}"/>
              </a:ext>
            </a:extLst>
          </p:cNvPr>
          <p:cNvPicPr>
            <a:picLocks noChangeAspect="1"/>
          </p:cNvPicPr>
          <p:nvPr/>
        </p:nvPicPr>
        <p:blipFill>
          <a:blip r:embed="rId3"/>
          <a:stretch>
            <a:fillRect/>
          </a:stretch>
        </p:blipFill>
        <p:spPr>
          <a:xfrm>
            <a:off x="549036" y="1115990"/>
            <a:ext cx="11093927" cy="279164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7D50796-CF7E-FCEE-0358-D4AF75B0342F}"/>
                  </a:ext>
                </a:extLst>
              </p:cNvPr>
              <p:cNvSpPr txBox="1"/>
              <p:nvPr/>
            </p:nvSpPr>
            <p:spPr>
              <a:xfrm>
                <a:off x="549036" y="4429125"/>
                <a:ext cx="10618869" cy="1477328"/>
              </a:xfrm>
              <a:prstGeom prst="rect">
                <a:avLst/>
              </a:prstGeom>
              <a:noFill/>
            </p:spPr>
            <p:txBody>
              <a:bodyPr wrap="none" rtlCol="0">
                <a:spAutoFit/>
              </a:bodyPr>
              <a:lstStyle/>
              <a:p>
                <a:pPr marL="285750" indent="-285750">
                  <a:buFont typeface="Arial" panose="020B0604020202020204" pitchFamily="34" charset="0"/>
                  <a:buChar char="•"/>
                </a:pPr>
                <a:r>
                  <a:rPr lang="en-US" dirty="0"/>
                  <a:t>Low stretch </a:t>
                </a:r>
                <a14:m>
                  <m:oMath xmlns:m="http://schemas.openxmlformats.org/officeDocument/2006/math">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≈1.0−1.1</m:t>
                        </m:r>
                      </m:e>
                    </m:d>
                  </m:oMath>
                </a14:m>
                <a:r>
                  <a:rPr lang="en-US" dirty="0"/>
                  <a:t>: nearly linear – the matrix dominates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 stretch </a:t>
                </a:r>
                <a14:m>
                  <m:oMath xmlns:m="http://schemas.openxmlformats.org/officeDocument/2006/math">
                    <m:r>
                      <a:rPr lang="en-US" b="0" i="0"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&gt;1.2)</m:t>
                    </m:r>
                  </m:oMath>
                </a14:m>
                <a:r>
                  <a:rPr lang="en-US" dirty="0"/>
                  <a:t>: sharp curvature – fibers engage exponentially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14:m>
                  <m:oMath xmlns:m="http://schemas.openxmlformats.org/officeDocument/2006/math">
                    <m:r>
                      <a:rPr lang="en-US" i="1" smtClean="0">
                        <a:solidFill>
                          <a:schemeClr val="accent2"/>
                        </a:solidFill>
                        <a:latin typeface="Cambria Math" panose="02040503050406030204" pitchFamily="18" charset="0"/>
                        <a:ea typeface="Cambria Math" panose="02040503050406030204" pitchFamily="18" charset="0"/>
                      </a:rPr>
                      <m:t>𝛼</m:t>
                    </m:r>
                  </m:oMath>
                </a14:m>
                <a:r>
                  <a:rPr lang="en-US" dirty="0">
                    <a:solidFill>
                      <a:schemeClr val="accent2"/>
                    </a:solidFill>
                  </a:rPr>
                  <a:t> spread grows from </a:t>
                </a:r>
                <a:r>
                  <a:rPr lang="en-US" dirty="0" err="1">
                    <a:solidFill>
                      <a:schemeClr val="accent2"/>
                    </a:solidFill>
                  </a:rPr>
                  <a:t>equibiaxial</a:t>
                </a:r>
                <a:r>
                  <a:rPr lang="en-US" dirty="0">
                    <a:solidFill>
                      <a:schemeClr val="accent2"/>
                    </a:solidFill>
                  </a:rPr>
                  <a:t>		uniaxial		different protocols expose</a:t>
                </a:r>
                <a:r>
                  <a:rPr lang="en-US" dirty="0">
                    <a:solidFill>
                      <a:schemeClr val="accent2"/>
                    </a:solidFill>
                    <a:ea typeface="Cambria Math" panose="02040503050406030204" pitchFamily="18" charset="0"/>
                  </a:rPr>
                  <a:t> </a:t>
                </a:r>
                <a14:m>
                  <m:oMath xmlns:m="http://schemas.openxmlformats.org/officeDocument/2006/math">
                    <m:r>
                      <a:rPr lang="en-US" i="1">
                        <a:solidFill>
                          <a:schemeClr val="accent2"/>
                        </a:solidFill>
                        <a:latin typeface="Cambria Math" panose="02040503050406030204" pitchFamily="18" charset="0"/>
                        <a:ea typeface="Cambria Math" panose="02040503050406030204" pitchFamily="18" charset="0"/>
                      </a:rPr>
                      <m:t>𝛼</m:t>
                    </m:r>
                  </m:oMath>
                </a14:m>
                <a:r>
                  <a:rPr lang="en-US" dirty="0">
                    <a:solidFill>
                      <a:schemeClr val="accent2"/>
                    </a:solidFill>
                  </a:rPr>
                  <a:t> differently </a:t>
                </a:r>
              </a:p>
            </p:txBody>
          </p:sp>
        </mc:Choice>
        <mc:Fallback xmlns="">
          <p:sp>
            <p:nvSpPr>
              <p:cNvPr id="5" name="TextBox 4">
                <a:extLst>
                  <a:ext uri="{FF2B5EF4-FFF2-40B4-BE49-F238E27FC236}">
                    <a16:creationId xmlns:a16="http://schemas.microsoft.com/office/drawing/2014/main" id="{47D50796-CF7E-FCEE-0358-D4AF75B0342F}"/>
                  </a:ext>
                </a:extLst>
              </p:cNvPr>
              <p:cNvSpPr txBox="1">
                <a:spLocks noRot="1" noChangeAspect="1" noMove="1" noResize="1" noEditPoints="1" noAdjustHandles="1" noChangeArrowheads="1" noChangeShapeType="1" noTextEdit="1"/>
              </p:cNvSpPr>
              <p:nvPr/>
            </p:nvSpPr>
            <p:spPr>
              <a:xfrm>
                <a:off x="549036" y="4429125"/>
                <a:ext cx="10618869" cy="1477328"/>
              </a:xfrm>
              <a:prstGeom prst="rect">
                <a:avLst/>
              </a:prstGeom>
              <a:blipFill>
                <a:blip r:embed="rId4"/>
                <a:stretch>
                  <a:fillRect l="-358" t="-1695" b="-5085"/>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94219B4C-1D84-C9FE-161E-AFC7E2F09B48}"/>
              </a:ext>
            </a:extLst>
          </p:cNvPr>
          <p:cNvCxnSpPr>
            <a:cxnSpLocks/>
          </p:cNvCxnSpPr>
          <p:nvPr/>
        </p:nvCxnSpPr>
        <p:spPr>
          <a:xfrm>
            <a:off x="4293130" y="5723539"/>
            <a:ext cx="7432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6564A1F-B86B-BE60-E144-8B87B0B22E76}"/>
              </a:ext>
            </a:extLst>
          </p:cNvPr>
          <p:cNvCxnSpPr>
            <a:cxnSpLocks/>
          </p:cNvCxnSpPr>
          <p:nvPr/>
        </p:nvCxnSpPr>
        <p:spPr>
          <a:xfrm>
            <a:off x="6174318" y="5720172"/>
            <a:ext cx="7432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438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3</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5912709" cy="646331"/>
          </a:xfrm>
          <a:prstGeom prst="rect">
            <a:avLst/>
          </a:prstGeom>
          <a:noFill/>
        </p:spPr>
        <p:txBody>
          <a:bodyPr wrap="none" rtlCol="0">
            <a:spAutoFit/>
          </a:bodyPr>
          <a:lstStyle/>
          <a:p>
            <a:r>
              <a:rPr lang="en-US" sz="3600" b="1" dirty="0" err="1">
                <a:solidFill>
                  <a:schemeClr val="bg1"/>
                </a:solidFill>
              </a:rPr>
              <a:t>Sobol</a:t>
            </a:r>
            <a:r>
              <a:rPr lang="en-US" sz="3600" b="1" dirty="0">
                <a:solidFill>
                  <a:schemeClr val="bg1"/>
                </a:solidFill>
              </a:rPr>
              <a:t> Sensitivity Analysis</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7064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AD419-2B21-33F9-D06E-7938A4945428}"/>
              </a:ext>
            </a:extLst>
          </p:cNvPr>
          <p:cNvSpPr>
            <a:spLocks noGrp="1"/>
          </p:cNvSpPr>
          <p:nvPr>
            <p:ph type="title"/>
          </p:nvPr>
        </p:nvSpPr>
        <p:spPr/>
        <p:txBody>
          <a:bodyPr/>
          <a:lstStyle/>
          <a:p>
            <a:r>
              <a:rPr lang="en-US" dirty="0"/>
              <a:t>Local vs Global Sensitivity</a:t>
            </a:r>
          </a:p>
        </p:txBody>
      </p:sp>
      <p:pic>
        <p:nvPicPr>
          <p:cNvPr id="4" name="Picture 3" descr="A graph of a full sweep and full sweep&#10;&#10;Description automatically generated">
            <a:extLst>
              <a:ext uri="{FF2B5EF4-FFF2-40B4-BE49-F238E27FC236}">
                <a16:creationId xmlns:a16="http://schemas.microsoft.com/office/drawing/2014/main" id="{7C8BF8F9-0E00-75D8-2F54-3A6F56170616}"/>
              </a:ext>
            </a:extLst>
          </p:cNvPr>
          <p:cNvPicPr>
            <a:picLocks noChangeAspect="1"/>
          </p:cNvPicPr>
          <p:nvPr/>
        </p:nvPicPr>
        <p:blipFill>
          <a:blip r:embed="rId3"/>
          <a:stretch>
            <a:fillRect/>
          </a:stretch>
        </p:blipFill>
        <p:spPr>
          <a:xfrm>
            <a:off x="1201737" y="949325"/>
            <a:ext cx="9471025" cy="380294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4A468F-BF15-56D1-0717-6C6B94B6267F}"/>
                  </a:ext>
                </a:extLst>
              </p:cNvPr>
              <p:cNvSpPr txBox="1"/>
              <p:nvPr/>
            </p:nvSpPr>
            <p:spPr>
              <a:xfrm>
                <a:off x="-1" y="5147504"/>
                <a:ext cx="12191999" cy="1245341"/>
              </a:xfrm>
              <a:prstGeom prst="rect">
                <a:avLst/>
              </a:prstGeom>
              <a:noFill/>
            </p:spPr>
            <p:txBody>
              <a:bodyPr wrap="square" rtlCol="0">
                <a:spAutoFit/>
              </a:bodyPr>
              <a:lstStyle/>
              <a:p>
                <a:r>
                  <a:rPr lang="en-US" dirty="0">
                    <a:solidFill>
                      <a:schemeClr val="accent1"/>
                    </a:solidFill>
                  </a:rPr>
                  <a:t>Local(left): </a:t>
                </a:r>
                <a:r>
                  <a:rPr lang="en-US" dirty="0"/>
                  <a:t>small perturbation around one optimum point -- </a:t>
                </a:r>
                <a14:m>
                  <m:oMath xmlns:m="http://schemas.openxmlformats.org/officeDocument/2006/math">
                    <m:f>
                      <m:fPr>
                        <m:type m:val="skw"/>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𝑄</m:t>
                        </m:r>
                      </m:num>
                      <m:den>
                        <m:r>
                          <a:rPr lang="en-US" i="1" smtClean="0">
                            <a:latin typeface="Cambria Math" panose="02040503050406030204" pitchFamily="18" charset="0"/>
                            <a:ea typeface="Cambria Math" panose="02040503050406030204" pitchFamily="18" charset="0"/>
                          </a:rPr>
                          <m:t>𝜕</m:t>
                        </m:r>
                        <m:r>
                          <m:rPr>
                            <m:sty m:val="p"/>
                          </m:rPr>
                          <a:rPr lang="el-GR" i="1" smtClean="0">
                            <a:latin typeface="Cambria Math" panose="02040503050406030204" pitchFamily="18" charset="0"/>
                            <a:ea typeface="Cambria Math" panose="02040503050406030204" pitchFamily="18" charset="0"/>
                          </a:rPr>
                          <m:t>Θ</m:t>
                        </m:r>
                      </m:den>
                    </m:f>
                  </m:oMath>
                </a14:m>
                <a:r>
                  <a:rPr lang="en-US" dirty="0"/>
                  <a:t>. What every fitting routine produces. Misses behavior elsewhere in parameter space. </a:t>
                </a:r>
              </a:p>
              <a:p>
                <a:endParaRPr lang="en-US" dirty="0"/>
              </a:p>
              <a:p>
                <a:r>
                  <a:rPr lang="en-US" dirty="0">
                    <a:solidFill>
                      <a:schemeClr val="accent2"/>
                    </a:solidFill>
                  </a:rPr>
                  <a:t>Global (right): </a:t>
                </a:r>
                <a:r>
                  <a:rPr lang="en-US" dirty="0"/>
                  <a:t>samples Q across the entire physiologically plausible range of </a:t>
                </a: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a:t>
                </a:r>
                <a:r>
                  <a:rPr lang="en-US" dirty="0" err="1"/>
                  <a:t>Sobol</a:t>
                </a:r>
                <a:r>
                  <a:rPr lang="en-US" dirty="0"/>
                  <a:t> indices are computed from this</a:t>
                </a:r>
              </a:p>
            </p:txBody>
          </p:sp>
        </mc:Choice>
        <mc:Fallback xmlns="">
          <p:sp>
            <p:nvSpPr>
              <p:cNvPr id="5" name="TextBox 4">
                <a:extLst>
                  <a:ext uri="{FF2B5EF4-FFF2-40B4-BE49-F238E27FC236}">
                    <a16:creationId xmlns:a16="http://schemas.microsoft.com/office/drawing/2014/main" id="{944A468F-BF15-56D1-0717-6C6B94B6267F}"/>
                  </a:ext>
                </a:extLst>
              </p:cNvPr>
              <p:cNvSpPr txBox="1">
                <a:spLocks noRot="1" noChangeAspect="1" noMove="1" noResize="1" noEditPoints="1" noAdjustHandles="1" noChangeArrowheads="1" noChangeShapeType="1" noTextEdit="1"/>
              </p:cNvSpPr>
              <p:nvPr/>
            </p:nvSpPr>
            <p:spPr>
              <a:xfrm>
                <a:off x="-1" y="5147504"/>
                <a:ext cx="12191999" cy="1245341"/>
              </a:xfrm>
              <a:prstGeom prst="rect">
                <a:avLst/>
              </a:prstGeom>
              <a:blipFill>
                <a:blip r:embed="rId4"/>
                <a:stretch>
                  <a:fillRect l="-416" t="-43434" r="-104" b="-7071"/>
                </a:stretch>
              </a:blipFill>
            </p:spPr>
            <p:txBody>
              <a:bodyPr/>
              <a:lstStyle/>
              <a:p>
                <a:r>
                  <a:rPr lang="en-US">
                    <a:noFill/>
                  </a:rPr>
                  <a:t> </a:t>
                </a:r>
              </a:p>
            </p:txBody>
          </p:sp>
        </mc:Fallback>
      </mc:AlternateContent>
    </p:spTree>
    <p:extLst>
      <p:ext uri="{BB962C8B-B14F-4D97-AF65-F5344CB8AC3E}">
        <p14:creationId xmlns:p14="http://schemas.microsoft.com/office/powerpoint/2010/main" val="2646003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6DFB5-23D5-B630-8C5F-21DAAA29CFCC}"/>
              </a:ext>
            </a:extLst>
          </p:cNvPr>
          <p:cNvSpPr>
            <a:spLocks noGrp="1"/>
          </p:cNvSpPr>
          <p:nvPr>
            <p:ph type="title"/>
          </p:nvPr>
        </p:nvSpPr>
        <p:spPr/>
        <p:txBody>
          <a:bodyPr/>
          <a:lstStyle/>
          <a:p>
            <a:r>
              <a:rPr lang="en-US" dirty="0"/>
              <a:t>First-order vs Total-effect indices</a:t>
            </a:r>
          </a:p>
        </p:txBody>
      </p:sp>
      <p:sp>
        <p:nvSpPr>
          <p:cNvPr id="3" name="Rectangle 2">
            <a:extLst>
              <a:ext uri="{FF2B5EF4-FFF2-40B4-BE49-F238E27FC236}">
                <a16:creationId xmlns:a16="http://schemas.microsoft.com/office/drawing/2014/main" id="{325B66DF-28A9-417A-2E23-FBBD7BDFFE0A}"/>
              </a:ext>
            </a:extLst>
          </p:cNvPr>
          <p:cNvSpPr/>
          <p:nvPr/>
        </p:nvSpPr>
        <p:spPr>
          <a:xfrm>
            <a:off x="86046" y="1278731"/>
            <a:ext cx="5793582" cy="3943350"/>
          </a:xfrm>
          <a:prstGeom prst="rect">
            <a:avLst/>
          </a:prstGeom>
          <a:solidFill>
            <a:srgbClr val="002060">
              <a:alpha val="21659"/>
            </a:srgbClr>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7816DD1-4A5A-51C1-FC78-B413D2D1E3B7}"/>
                  </a:ext>
                </a:extLst>
              </p:cNvPr>
              <p:cNvSpPr txBox="1"/>
              <p:nvPr/>
            </p:nvSpPr>
            <p:spPr>
              <a:xfrm>
                <a:off x="86046" y="1415225"/>
                <a:ext cx="1619289" cy="369332"/>
              </a:xfrm>
              <a:prstGeom prst="rect">
                <a:avLst/>
              </a:prstGeom>
              <a:noFill/>
            </p:spPr>
            <p:txBody>
              <a:bodyPr wrap="none" rtlCol="0">
                <a:spAutoFit/>
              </a:bodyPr>
              <a:lstStyle/>
              <a:p>
                <a:r>
                  <a:rPr lang="en-US" b="1" dirty="0">
                    <a:solidFill>
                      <a:srgbClr val="00B0F0"/>
                    </a:solidFill>
                  </a:rPr>
                  <a:t>First-order </a:t>
                </a:r>
                <a14:m>
                  <m:oMath xmlns:m="http://schemas.openxmlformats.org/officeDocument/2006/math">
                    <m:sSub>
                      <m:sSubPr>
                        <m:ctrlPr>
                          <a:rPr lang="en-US" b="1" i="1" smtClean="0">
                            <a:solidFill>
                              <a:srgbClr val="00B0F0"/>
                            </a:solidFill>
                            <a:latin typeface="Cambria Math" panose="02040503050406030204" pitchFamily="18" charset="0"/>
                          </a:rPr>
                        </m:ctrlPr>
                      </m:sSubPr>
                      <m:e>
                        <m:r>
                          <a:rPr lang="en-US" b="1" i="1" smtClean="0">
                            <a:solidFill>
                              <a:srgbClr val="00B0F0"/>
                            </a:solidFill>
                            <a:latin typeface="Cambria Math" panose="02040503050406030204" pitchFamily="18" charset="0"/>
                          </a:rPr>
                          <m:t>𝑺</m:t>
                        </m:r>
                      </m:e>
                      <m:sub>
                        <m:r>
                          <a:rPr lang="en-US" b="1" i="1" smtClean="0">
                            <a:solidFill>
                              <a:srgbClr val="00B0F0"/>
                            </a:solidFill>
                            <a:latin typeface="Cambria Math" panose="02040503050406030204" pitchFamily="18" charset="0"/>
                          </a:rPr>
                          <m:t>𝒊</m:t>
                        </m:r>
                      </m:sub>
                    </m:sSub>
                  </m:oMath>
                </a14:m>
                <a:endParaRPr lang="en-US" b="1" dirty="0">
                  <a:solidFill>
                    <a:srgbClr val="00B0F0"/>
                  </a:solidFill>
                </a:endParaRPr>
              </a:p>
            </p:txBody>
          </p:sp>
        </mc:Choice>
        <mc:Fallback xmlns="">
          <p:sp>
            <p:nvSpPr>
              <p:cNvPr id="4" name="TextBox 3">
                <a:extLst>
                  <a:ext uri="{FF2B5EF4-FFF2-40B4-BE49-F238E27FC236}">
                    <a16:creationId xmlns:a16="http://schemas.microsoft.com/office/drawing/2014/main" id="{D7816DD1-4A5A-51C1-FC78-B413D2D1E3B7}"/>
                  </a:ext>
                </a:extLst>
              </p:cNvPr>
              <p:cNvSpPr txBox="1">
                <a:spLocks noRot="1" noChangeAspect="1" noMove="1" noResize="1" noEditPoints="1" noAdjustHandles="1" noChangeArrowheads="1" noChangeShapeType="1" noTextEdit="1"/>
              </p:cNvSpPr>
              <p:nvPr/>
            </p:nvSpPr>
            <p:spPr>
              <a:xfrm>
                <a:off x="86046" y="1415225"/>
                <a:ext cx="1619289" cy="369332"/>
              </a:xfrm>
              <a:prstGeom prst="rect">
                <a:avLst/>
              </a:prstGeom>
              <a:blipFill>
                <a:blip r:embed="rId3"/>
                <a:stretch>
                  <a:fillRect l="-3101"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FA1B3FF-3FC2-07D2-A98F-3248C34630F6}"/>
                  </a:ext>
                </a:extLst>
              </p:cNvPr>
              <p:cNvSpPr txBox="1"/>
              <p:nvPr/>
            </p:nvSpPr>
            <p:spPr>
              <a:xfrm>
                <a:off x="86046" y="2786418"/>
                <a:ext cx="5793582" cy="2031325"/>
              </a:xfrm>
              <a:prstGeom prst="rect">
                <a:avLst/>
              </a:prstGeom>
              <a:noFill/>
            </p:spPr>
            <p:txBody>
              <a:bodyPr wrap="square" rtlCol="0">
                <a:spAutoFit/>
              </a:bodyPr>
              <a:lstStyle/>
              <a:p>
                <a:pPr marL="285750" indent="-285750">
                  <a:buFont typeface="Wingdings" pitchFamily="2" charset="2"/>
                  <a:buChar char="§"/>
                </a:pPr>
                <a:r>
                  <a:rPr lang="en-US" dirty="0"/>
                  <a:t>Direct contribution of parameter </a:t>
                </a:r>
                <a:r>
                  <a:rPr lang="en-US" dirty="0" err="1"/>
                  <a:t>i</a:t>
                </a:r>
                <a:r>
                  <a:rPr lang="en-US" dirty="0"/>
                  <a:t> – averaged over all other parameters</a:t>
                </a:r>
              </a:p>
              <a:p>
                <a:pPr marL="285750" indent="-285750">
                  <a:buFont typeface="Wingdings" pitchFamily="2" charset="2"/>
                  <a:buChar char="§"/>
                </a:pPr>
                <a:endParaRPr lang="en-US" dirty="0"/>
              </a:p>
              <a:p>
                <a:pPr marL="285750" indent="-285750">
                  <a:buFont typeface="Wingdings" pitchFamily="2" charset="2"/>
                  <a:buChar char="§"/>
                </a:pPr>
                <a:r>
                  <a:rPr lang="en-US" dirty="0"/>
                  <a:t>Answers: “If I could fix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oMath>
                </a14:m>
                <a:r>
                  <a:rPr lang="en-US" dirty="0"/>
                  <a:t>, by how much would </a:t>
                </a:r>
                <a14:m>
                  <m:oMath xmlns:m="http://schemas.openxmlformats.org/officeDocument/2006/math">
                    <m:r>
                      <a:rPr lang="en-US" b="0" i="1" smtClean="0">
                        <a:latin typeface="Cambria Math" panose="02040503050406030204" pitchFamily="18" charset="0"/>
                      </a:rPr>
                      <m:t>𝑉𝑎𝑟</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oMath>
                </a14:m>
                <a:r>
                  <a:rPr lang="en-US" dirty="0"/>
                  <a:t> shrink?”</a:t>
                </a:r>
              </a:p>
              <a:p>
                <a:pPr marL="285750" indent="-285750">
                  <a:buFont typeface="Wingdings" pitchFamily="2" charset="2"/>
                  <a:buChar char="§"/>
                </a:pPr>
                <a:endParaRPr lang="en-US" dirty="0"/>
              </a:p>
              <a:p>
                <a:pPr marL="285750" indent="-285750">
                  <a:buFont typeface="Wingdings" pitchFamily="2" charset="2"/>
                  <a:buChar char="§"/>
                </a:pPr>
                <a:r>
                  <a:rPr lang="en-US" dirty="0"/>
                  <a:t>Excludes interactions </a:t>
                </a:r>
              </a:p>
            </p:txBody>
          </p:sp>
        </mc:Choice>
        <mc:Fallback xmlns="">
          <p:sp>
            <p:nvSpPr>
              <p:cNvPr id="5" name="TextBox 4">
                <a:extLst>
                  <a:ext uri="{FF2B5EF4-FFF2-40B4-BE49-F238E27FC236}">
                    <a16:creationId xmlns:a16="http://schemas.microsoft.com/office/drawing/2014/main" id="{8FA1B3FF-3FC2-07D2-A98F-3248C34630F6}"/>
                  </a:ext>
                </a:extLst>
              </p:cNvPr>
              <p:cNvSpPr txBox="1">
                <a:spLocks noRot="1" noChangeAspect="1" noMove="1" noResize="1" noEditPoints="1" noAdjustHandles="1" noChangeArrowheads="1" noChangeShapeType="1" noTextEdit="1"/>
              </p:cNvSpPr>
              <p:nvPr/>
            </p:nvSpPr>
            <p:spPr>
              <a:xfrm>
                <a:off x="86046" y="2786418"/>
                <a:ext cx="5793582" cy="2031325"/>
              </a:xfrm>
              <a:prstGeom prst="rect">
                <a:avLst/>
              </a:prstGeom>
              <a:blipFill>
                <a:blip r:embed="rId4"/>
                <a:stretch>
                  <a:fillRect l="-655" t="-1242" r="-1747" b="-3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BD61A3-7A6F-1EC3-F7FD-3406846779B6}"/>
                  </a:ext>
                </a:extLst>
              </p:cNvPr>
              <p:cNvSpPr txBox="1"/>
              <p:nvPr/>
            </p:nvSpPr>
            <p:spPr>
              <a:xfrm>
                <a:off x="214311" y="2012748"/>
                <a:ext cx="178132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𝑉𝑎𝑟</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oMath>
                  </m:oMathPara>
                </a14:m>
                <a:endParaRPr lang="en-US" dirty="0"/>
              </a:p>
            </p:txBody>
          </p:sp>
        </mc:Choice>
        <mc:Fallback xmlns="">
          <p:sp>
            <p:nvSpPr>
              <p:cNvPr id="7" name="TextBox 6">
                <a:extLst>
                  <a:ext uri="{FF2B5EF4-FFF2-40B4-BE49-F238E27FC236}">
                    <a16:creationId xmlns:a16="http://schemas.microsoft.com/office/drawing/2014/main" id="{6CBD61A3-7A6F-1EC3-F7FD-3406846779B6}"/>
                  </a:ext>
                </a:extLst>
              </p:cNvPr>
              <p:cNvSpPr txBox="1">
                <a:spLocks noRot="1" noChangeAspect="1" noMove="1" noResize="1" noEditPoints="1" noAdjustHandles="1" noChangeArrowheads="1" noChangeShapeType="1" noTextEdit="1"/>
              </p:cNvSpPr>
              <p:nvPr/>
            </p:nvSpPr>
            <p:spPr>
              <a:xfrm>
                <a:off x="214311" y="2012748"/>
                <a:ext cx="1781321" cy="369332"/>
              </a:xfrm>
              <a:prstGeom prst="rect">
                <a:avLst/>
              </a:prstGeom>
              <a:blipFill>
                <a:blip r:embed="rId5"/>
                <a:stretch>
                  <a:fillRect b="-16667"/>
                </a:stretch>
              </a:blipFill>
            </p:spPr>
            <p:txBody>
              <a:bodyPr/>
              <a:lstStyle/>
              <a:p>
                <a:r>
                  <a:rPr lang="en-US">
                    <a:noFill/>
                  </a:rPr>
                  <a:t> </a:t>
                </a:r>
              </a:p>
            </p:txBody>
          </p:sp>
        </mc:Fallback>
      </mc:AlternateContent>
      <p:sp>
        <p:nvSpPr>
          <p:cNvPr id="8" name="Rectangle 7">
            <a:extLst>
              <a:ext uri="{FF2B5EF4-FFF2-40B4-BE49-F238E27FC236}">
                <a16:creationId xmlns:a16="http://schemas.microsoft.com/office/drawing/2014/main" id="{E5FC7849-8D4B-1318-36F2-2A32D4BA23E2}"/>
              </a:ext>
            </a:extLst>
          </p:cNvPr>
          <p:cNvSpPr/>
          <p:nvPr/>
        </p:nvSpPr>
        <p:spPr>
          <a:xfrm>
            <a:off x="6255444" y="1278731"/>
            <a:ext cx="5793582" cy="3943350"/>
          </a:xfrm>
          <a:prstGeom prst="rect">
            <a:avLst/>
          </a:prstGeom>
          <a:solidFill>
            <a:schemeClr val="accent2">
              <a:lumMod val="60000"/>
              <a:lumOff val="40000"/>
              <a:alpha val="11910"/>
            </a:schemeClr>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E03E2D-E7C0-2F3C-2B3B-260A75577813}"/>
                  </a:ext>
                </a:extLst>
              </p:cNvPr>
              <p:cNvSpPr txBox="1"/>
              <p:nvPr/>
            </p:nvSpPr>
            <p:spPr>
              <a:xfrm>
                <a:off x="6312372" y="1383692"/>
                <a:ext cx="1780680" cy="394210"/>
              </a:xfrm>
              <a:prstGeom prst="rect">
                <a:avLst/>
              </a:prstGeom>
              <a:noFill/>
            </p:spPr>
            <p:txBody>
              <a:bodyPr wrap="none" rtlCol="0">
                <a:spAutoFit/>
              </a:bodyPr>
              <a:lstStyle/>
              <a:p>
                <a:r>
                  <a:rPr lang="en-US" b="1" dirty="0">
                    <a:solidFill>
                      <a:schemeClr val="accent2"/>
                    </a:solidFill>
                  </a:rPr>
                  <a:t>Total-effect </a:t>
                </a:r>
                <a14:m>
                  <m:oMath xmlns:m="http://schemas.openxmlformats.org/officeDocument/2006/math">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𝑺</m:t>
                        </m:r>
                      </m:e>
                      <m:sub>
                        <m:sSub>
                          <m:sSubPr>
                            <m:ctrlPr>
                              <a:rPr lang="en-US" b="1" i="1" smtClean="0">
                                <a:solidFill>
                                  <a:schemeClr val="accent2"/>
                                </a:solidFill>
                                <a:latin typeface="Cambria Math" panose="02040503050406030204" pitchFamily="18" charset="0"/>
                              </a:rPr>
                            </m:ctrlPr>
                          </m:sSubPr>
                          <m:e>
                            <m:r>
                              <a:rPr lang="en-US" b="1" i="1" smtClean="0">
                                <a:solidFill>
                                  <a:schemeClr val="accent2"/>
                                </a:solidFill>
                                <a:latin typeface="Cambria Math" panose="02040503050406030204" pitchFamily="18" charset="0"/>
                              </a:rPr>
                              <m:t>𝑻</m:t>
                            </m:r>
                          </m:e>
                          <m:sub>
                            <m:r>
                              <a:rPr lang="en-US" b="1" i="1" smtClean="0">
                                <a:solidFill>
                                  <a:schemeClr val="accent2"/>
                                </a:solidFill>
                                <a:latin typeface="Cambria Math" panose="02040503050406030204" pitchFamily="18" charset="0"/>
                              </a:rPr>
                              <m:t>𝒊</m:t>
                            </m:r>
                          </m:sub>
                        </m:sSub>
                      </m:sub>
                    </m:sSub>
                  </m:oMath>
                </a14:m>
                <a:endParaRPr lang="en-US" b="1" dirty="0">
                  <a:solidFill>
                    <a:schemeClr val="accent2"/>
                  </a:solidFill>
                </a:endParaRPr>
              </a:p>
            </p:txBody>
          </p:sp>
        </mc:Choice>
        <mc:Fallback xmlns="">
          <p:sp>
            <p:nvSpPr>
              <p:cNvPr id="9" name="TextBox 8">
                <a:extLst>
                  <a:ext uri="{FF2B5EF4-FFF2-40B4-BE49-F238E27FC236}">
                    <a16:creationId xmlns:a16="http://schemas.microsoft.com/office/drawing/2014/main" id="{7FE03E2D-E7C0-2F3C-2B3B-260A75577813}"/>
                  </a:ext>
                </a:extLst>
              </p:cNvPr>
              <p:cNvSpPr txBox="1">
                <a:spLocks noRot="1" noChangeAspect="1" noMove="1" noResize="1" noEditPoints="1" noAdjustHandles="1" noChangeArrowheads="1" noChangeShapeType="1" noTextEdit="1"/>
              </p:cNvSpPr>
              <p:nvPr/>
            </p:nvSpPr>
            <p:spPr>
              <a:xfrm>
                <a:off x="6312372" y="1383692"/>
                <a:ext cx="1780680" cy="394210"/>
              </a:xfrm>
              <a:prstGeom prst="rect">
                <a:avLst/>
              </a:prstGeom>
              <a:blipFill>
                <a:blip r:embed="rId6"/>
                <a:stretch>
                  <a:fillRect l="-2817" t="-9091" b="-121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F24ACA1-7F17-31EA-8471-82CC5E643D1C}"/>
                  </a:ext>
                </a:extLst>
              </p:cNvPr>
              <p:cNvSpPr txBox="1"/>
              <p:nvPr/>
            </p:nvSpPr>
            <p:spPr>
              <a:xfrm>
                <a:off x="6255444" y="2655062"/>
                <a:ext cx="5824438" cy="2058512"/>
              </a:xfrm>
              <a:prstGeom prst="rect">
                <a:avLst/>
              </a:prstGeom>
              <a:noFill/>
            </p:spPr>
            <p:txBody>
              <a:bodyPr wrap="square" rtlCol="0">
                <a:spAutoFit/>
              </a:bodyPr>
              <a:lstStyle/>
              <a:p>
                <a:pPr marL="285750" indent="-285750" algn="just">
                  <a:buFont typeface="Wingdings" pitchFamily="2" charset="2"/>
                  <a:buChar char="§"/>
                </a:pPr>
                <a:r>
                  <a:rPr lang="en-US" dirty="0"/>
                  <a:t>Total contribution of parameter </a:t>
                </a:r>
                <a:r>
                  <a:rPr lang="en-US" dirty="0" err="1"/>
                  <a:t>i</a:t>
                </a:r>
                <a:r>
                  <a:rPr lang="en-US" dirty="0"/>
                  <a:t>, including all interactions</a:t>
                </a:r>
              </a:p>
              <a:p>
                <a:pPr marL="285750" indent="-285750" algn="just">
                  <a:buFont typeface="Wingdings" pitchFamily="2" charset="2"/>
                  <a:buChar char="§"/>
                </a:pPr>
                <a:endParaRPr lang="en-US" dirty="0"/>
              </a:p>
              <a:p>
                <a:pPr marL="285750" indent="-285750" algn="just">
                  <a:buFont typeface="Wingdings" pitchFamily="2" charset="2"/>
                  <a:buChar char="§"/>
                </a:pPr>
                <a:r>
                  <a:rPr lang="en-US" dirty="0"/>
                  <a:t>Answers: “how much variance is left if I fix every parameter except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𝜃</m:t>
                        </m:r>
                      </m:e>
                      <m:sub>
                        <m:r>
                          <a:rPr lang="en-US" b="0" i="1" smtClean="0">
                            <a:latin typeface="Cambria Math" panose="02040503050406030204" pitchFamily="18" charset="0"/>
                          </a:rPr>
                          <m:t>𝑖</m:t>
                        </m:r>
                      </m:sub>
                    </m:sSub>
                  </m:oMath>
                </a14:m>
                <a:r>
                  <a:rPr lang="en-US" dirty="0"/>
                  <a:t>”</a:t>
                </a:r>
              </a:p>
              <a:p>
                <a:pPr marL="285750" indent="-285750" algn="just">
                  <a:buFont typeface="Wingdings" pitchFamily="2" charset="2"/>
                  <a:buChar char="§"/>
                </a:pPr>
                <a:endParaRPr lang="en-US" dirty="0"/>
              </a:p>
              <a:p>
                <a:pPr marL="285750" indent="-285750" algn="just">
                  <a:buFont typeface="Wingdings" pitchFamily="2" charset="2"/>
                  <a:buChar char="§"/>
                </a:pPr>
                <a:r>
                  <a:rPr lang="en-US" dirty="0"/>
                  <a:t>Always satisfies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&gt;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𝑖</m:t>
                        </m:r>
                      </m:sub>
                    </m:sSub>
                  </m:oMath>
                </a14:m>
                <a:endParaRPr lang="en-US" dirty="0"/>
              </a:p>
            </p:txBody>
          </p:sp>
        </mc:Choice>
        <mc:Fallback xmlns="">
          <p:sp>
            <p:nvSpPr>
              <p:cNvPr id="10" name="TextBox 9">
                <a:extLst>
                  <a:ext uri="{FF2B5EF4-FFF2-40B4-BE49-F238E27FC236}">
                    <a16:creationId xmlns:a16="http://schemas.microsoft.com/office/drawing/2014/main" id="{8F24ACA1-7F17-31EA-8471-82CC5E643D1C}"/>
                  </a:ext>
                </a:extLst>
              </p:cNvPr>
              <p:cNvSpPr txBox="1">
                <a:spLocks noRot="1" noChangeAspect="1" noMove="1" noResize="1" noEditPoints="1" noAdjustHandles="1" noChangeArrowheads="1" noChangeShapeType="1" noTextEdit="1"/>
              </p:cNvSpPr>
              <p:nvPr/>
            </p:nvSpPr>
            <p:spPr>
              <a:xfrm>
                <a:off x="6255444" y="2655062"/>
                <a:ext cx="5824438" cy="2058512"/>
              </a:xfrm>
              <a:prstGeom prst="rect">
                <a:avLst/>
              </a:prstGeom>
              <a:blipFill>
                <a:blip r:embed="rId7"/>
                <a:stretch>
                  <a:fillRect l="-652" t="-1840" r="-870" b="-184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6257D56-A4F1-846B-406B-AB32F4FF1834}"/>
                  </a:ext>
                </a:extLst>
              </p:cNvPr>
              <p:cNvSpPr txBox="1"/>
              <p:nvPr/>
            </p:nvSpPr>
            <p:spPr>
              <a:xfrm>
                <a:off x="6352753" y="1828679"/>
                <a:ext cx="3640484" cy="6357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m:t>
                          </m:r>
                        </m:sub>
                      </m:sSub>
                      <m:r>
                        <a:rPr lang="en-US" b="0" i="1" smtClean="0">
                          <a:latin typeface="Cambria Math" panose="02040503050406030204" pitchFamily="18" charset="0"/>
                        </a:rPr>
                        <m:t>+ </m:t>
                      </m:r>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𝑗</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𝑖𝑗</m:t>
                              </m:r>
                            </m:sub>
                          </m:sSub>
                        </m:e>
                      </m:nary>
                      <m:r>
                        <a:rPr lang="en-US" b="0" i="1" smtClean="0">
                          <a:latin typeface="Cambria Math" panose="02040503050406030204" pitchFamily="18" charset="0"/>
                        </a:rPr>
                        <m:t>+ …)/</m:t>
                      </m:r>
                      <m:r>
                        <a:rPr lang="en-US" b="0" i="1" smtClean="0">
                          <a:latin typeface="Cambria Math" panose="02040503050406030204" pitchFamily="18" charset="0"/>
                        </a:rPr>
                        <m:t>𝑉𝑎𝑟</m:t>
                      </m:r>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oMath>
                  </m:oMathPara>
                </a14:m>
                <a:endParaRPr lang="en-US" dirty="0"/>
              </a:p>
            </p:txBody>
          </p:sp>
        </mc:Choice>
        <mc:Fallback xmlns="">
          <p:sp>
            <p:nvSpPr>
              <p:cNvPr id="11" name="TextBox 10">
                <a:extLst>
                  <a:ext uri="{FF2B5EF4-FFF2-40B4-BE49-F238E27FC236}">
                    <a16:creationId xmlns:a16="http://schemas.microsoft.com/office/drawing/2014/main" id="{66257D56-A4F1-846B-406B-AB32F4FF1834}"/>
                  </a:ext>
                </a:extLst>
              </p:cNvPr>
              <p:cNvSpPr txBox="1">
                <a:spLocks noRot="1" noChangeAspect="1" noMove="1" noResize="1" noEditPoints="1" noAdjustHandles="1" noChangeArrowheads="1" noChangeShapeType="1" noTextEdit="1"/>
              </p:cNvSpPr>
              <p:nvPr/>
            </p:nvSpPr>
            <p:spPr>
              <a:xfrm>
                <a:off x="6352753" y="1828679"/>
                <a:ext cx="3640484" cy="635751"/>
              </a:xfrm>
              <a:prstGeom prst="rect">
                <a:avLst/>
              </a:prstGeom>
              <a:blipFill>
                <a:blip r:embed="rId8"/>
                <a:stretch>
                  <a:fillRect t="-158000" b="-2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A384638-C222-3609-2880-ED2EEFEF55BF}"/>
                  </a:ext>
                </a:extLst>
              </p:cNvPr>
              <p:cNvSpPr txBox="1"/>
              <p:nvPr/>
            </p:nvSpPr>
            <p:spPr>
              <a:xfrm>
                <a:off x="0" y="5590734"/>
                <a:ext cx="12431608" cy="396519"/>
              </a:xfrm>
              <a:prstGeom prst="rect">
                <a:avLst/>
              </a:prstGeom>
              <a:noFill/>
            </p:spPr>
            <p:txBody>
              <a:bodyPr wrap="square" rtlCol="0">
                <a:spAutoFit/>
              </a:bodyPr>
              <a:lstStyle/>
              <a:p>
                <a:r>
                  <a:rPr lang="en-US" dirty="0">
                    <a:solidFill>
                      <a:schemeClr val="accent4"/>
                    </a:solidFill>
                  </a:rPr>
                  <a:t>Key intuition</a:t>
                </a:r>
                <a:r>
                  <a:rPr lang="en-US" dirty="0"/>
                  <a:t>: small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oMath>
                </a14:m>
                <a:r>
                  <a:rPr lang="en-US" dirty="0"/>
                  <a:t> but large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𝑖</m:t>
                            </m:r>
                          </m:sub>
                        </m:sSub>
                      </m:sub>
                    </m:sSub>
                  </m:oMath>
                </a14:m>
                <a:r>
                  <a:rPr lang="en-US" dirty="0"/>
                  <a:t>	            parameter only matters through interactions 	         identifiability red flag</a:t>
                </a:r>
              </a:p>
            </p:txBody>
          </p:sp>
        </mc:Choice>
        <mc:Fallback xmlns="">
          <p:sp>
            <p:nvSpPr>
              <p:cNvPr id="12" name="TextBox 11">
                <a:extLst>
                  <a:ext uri="{FF2B5EF4-FFF2-40B4-BE49-F238E27FC236}">
                    <a16:creationId xmlns:a16="http://schemas.microsoft.com/office/drawing/2014/main" id="{0A384638-C222-3609-2880-ED2EEFEF55BF}"/>
                  </a:ext>
                </a:extLst>
              </p:cNvPr>
              <p:cNvSpPr txBox="1">
                <a:spLocks noRot="1" noChangeAspect="1" noMove="1" noResize="1" noEditPoints="1" noAdjustHandles="1" noChangeArrowheads="1" noChangeShapeType="1" noTextEdit="1"/>
              </p:cNvSpPr>
              <p:nvPr/>
            </p:nvSpPr>
            <p:spPr>
              <a:xfrm>
                <a:off x="0" y="5590734"/>
                <a:ext cx="12431608" cy="396519"/>
              </a:xfrm>
              <a:prstGeom prst="rect">
                <a:avLst/>
              </a:prstGeom>
              <a:blipFill>
                <a:blip r:embed="rId9"/>
                <a:stretch>
                  <a:fillRect l="-409" t="-9375" b="-15625"/>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0D367E6C-6B15-017D-AA30-5CF8AFD7CAD9}"/>
              </a:ext>
            </a:extLst>
          </p:cNvPr>
          <p:cNvCxnSpPr>
            <a:cxnSpLocks/>
          </p:cNvCxnSpPr>
          <p:nvPr/>
        </p:nvCxnSpPr>
        <p:spPr>
          <a:xfrm>
            <a:off x="3685911" y="5802120"/>
            <a:ext cx="65748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780F384-3BE1-6215-4D60-1BC65C475BF6}"/>
              </a:ext>
            </a:extLst>
          </p:cNvPr>
          <p:cNvCxnSpPr>
            <a:cxnSpLocks/>
          </p:cNvCxnSpPr>
          <p:nvPr/>
        </p:nvCxnSpPr>
        <p:spPr>
          <a:xfrm>
            <a:off x="9038961" y="5784465"/>
            <a:ext cx="65748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0098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9F7E77B7-8612-A168-E4B5-A72C2EACEDCE}"/>
                  </a:ext>
                </a:extLst>
              </p:cNvPr>
              <p:cNvSpPr>
                <a:spLocks noGrp="1"/>
              </p:cNvSpPr>
              <p:nvPr>
                <p:ph type="title"/>
              </p:nvPr>
            </p:nvSpPr>
            <p:spPr/>
            <p:txBody>
              <a:bodyPr/>
              <a:lstStyle/>
              <a:p>
                <a:r>
                  <a:rPr lang="en-US" dirty="0"/>
                  <a:t>How do we calculate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i="1">
                                <a:latin typeface="Cambria Math" panose="02040503050406030204" pitchFamily="18" charset="0"/>
                              </a:rPr>
                              <m:t>𝑖</m:t>
                            </m:r>
                          </m:sub>
                        </m:sSub>
                      </m:sub>
                    </m:sSub>
                  </m:oMath>
                </a14:m>
                <a:endParaRPr lang="en-US" dirty="0"/>
              </a:p>
            </p:txBody>
          </p:sp>
        </mc:Choice>
        <mc:Fallback>
          <p:sp>
            <p:nvSpPr>
              <p:cNvPr id="2" name="Title 1">
                <a:extLst>
                  <a:ext uri="{FF2B5EF4-FFF2-40B4-BE49-F238E27FC236}">
                    <a16:creationId xmlns:a16="http://schemas.microsoft.com/office/drawing/2014/main" id="{9F7E77B7-8612-A168-E4B5-A72C2EACEDCE}"/>
                  </a:ext>
                </a:extLst>
              </p:cNvPr>
              <p:cNvSpPr>
                <a:spLocks noGrp="1" noRot="1" noChangeAspect="1" noMove="1" noResize="1" noEditPoints="1" noAdjustHandles="1" noChangeArrowheads="1" noChangeShapeType="1" noTextEdit="1"/>
              </p:cNvSpPr>
              <p:nvPr>
                <p:ph type="title"/>
              </p:nvPr>
            </p:nvSpPr>
            <p:spPr>
              <a:blipFill>
                <a:blip r:embed="rId3"/>
                <a:stretch>
                  <a:fillRect l="-1145" t="-5660" b="-7547"/>
                </a:stretch>
              </a:blipFill>
            </p:spPr>
            <p:txBody>
              <a:bodyPr/>
              <a:lstStyle/>
              <a:p>
                <a:r>
                  <a:rPr lang="en-US">
                    <a:noFill/>
                  </a:rPr>
                  <a:t> </a:t>
                </a:r>
              </a:p>
            </p:txBody>
          </p:sp>
        </mc:Fallback>
      </mc:AlternateContent>
      <p:pic>
        <p:nvPicPr>
          <p:cNvPr id="4" name="Picture 3" descr="A screenshot of a math game&#10;&#10;Description automatically generated">
            <a:extLst>
              <a:ext uri="{FF2B5EF4-FFF2-40B4-BE49-F238E27FC236}">
                <a16:creationId xmlns:a16="http://schemas.microsoft.com/office/drawing/2014/main" id="{876C50F4-D4EB-DB27-A724-8F95E3D73DAB}"/>
              </a:ext>
            </a:extLst>
          </p:cNvPr>
          <p:cNvPicPr>
            <a:picLocks noChangeAspect="1"/>
          </p:cNvPicPr>
          <p:nvPr/>
        </p:nvPicPr>
        <p:blipFill>
          <a:blip r:embed="rId4"/>
          <a:stretch>
            <a:fillRect/>
          </a:stretch>
        </p:blipFill>
        <p:spPr>
          <a:xfrm>
            <a:off x="734390" y="1547404"/>
            <a:ext cx="10723219" cy="2632259"/>
          </a:xfrm>
          <a:prstGeom prst="rect">
            <a:avLst/>
          </a:prstGeom>
        </p:spPr>
      </p:pic>
      <p:sp>
        <p:nvSpPr>
          <p:cNvPr id="5" name="TextBox 4">
            <a:extLst>
              <a:ext uri="{FF2B5EF4-FFF2-40B4-BE49-F238E27FC236}">
                <a16:creationId xmlns:a16="http://schemas.microsoft.com/office/drawing/2014/main" id="{381251C9-CB65-0CB6-C73F-BC868CDA2C58}"/>
              </a:ext>
            </a:extLst>
          </p:cNvPr>
          <p:cNvSpPr txBox="1"/>
          <p:nvPr/>
        </p:nvSpPr>
        <p:spPr>
          <a:xfrm>
            <a:off x="214313" y="4415695"/>
            <a:ext cx="2031325" cy="369332"/>
          </a:xfrm>
          <a:prstGeom prst="rect">
            <a:avLst/>
          </a:prstGeom>
          <a:noFill/>
        </p:spPr>
        <p:txBody>
          <a:bodyPr wrap="none" rtlCol="0">
            <a:spAutoFit/>
          </a:bodyPr>
          <a:lstStyle/>
          <a:p>
            <a:r>
              <a:rPr lang="en-US" dirty="0"/>
              <a:t>Construction	</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37529F47-A259-1C1B-9C26-1156B7B1432E}"/>
                  </a:ext>
                </a:extLst>
              </p:cNvPr>
              <p:cNvSpPr txBox="1"/>
              <p:nvPr/>
            </p:nvSpPr>
            <p:spPr>
              <a:xfrm>
                <a:off x="214313" y="4944333"/>
                <a:ext cx="10669909" cy="1488806"/>
              </a:xfrm>
              <a:prstGeom prst="rect">
                <a:avLst/>
              </a:prstGeom>
              <a:noFill/>
            </p:spPr>
            <p:txBody>
              <a:bodyPr wrap="none" rtlCol="0">
                <a:spAutoFit/>
              </a:bodyPr>
              <a:lstStyle/>
              <a:p>
                <a:pPr marL="285750" indent="-285750">
                  <a:buFont typeface="Wingdings" pitchFamily="2" charset="2"/>
                  <a:buChar char="§"/>
                </a:pPr>
                <a:r>
                  <a:rPr lang="en-US" dirty="0"/>
                  <a:t>Generate two independent random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r>
                  <a:rPr lang="en-US" dirty="0"/>
                  <a:t> matrices A,B over the parameter ranges</a:t>
                </a:r>
              </a:p>
              <a:p>
                <a:pPr marL="285750" indent="-285750">
                  <a:buFont typeface="Wingdings" pitchFamily="2" charset="2"/>
                  <a:buChar char="§"/>
                </a:pPr>
                <a:endParaRPr lang="en-US" dirty="0"/>
              </a:p>
              <a:p>
                <a:pPr marL="285750" indent="-285750">
                  <a:buFont typeface="Wingdings" pitchFamily="2" charset="2"/>
                  <a:buChar char="§"/>
                </a:pPr>
                <a:r>
                  <a:rPr lang="en-US" dirty="0"/>
                  <a:t>For each parameter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oMath>
                </a14:m>
                <a:r>
                  <a:rPr lang="en-US" dirty="0"/>
                  <a:t>, build cross-matrix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𝐴𝐵</m:t>
                        </m:r>
                      </m:e>
                      <m:sup>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𝐴</m:t>
                    </m:r>
                  </m:oMath>
                </a14:m>
                <a:r>
                  <a:rPr lang="en-US" dirty="0"/>
                  <a:t> with column </a:t>
                </a:r>
                <a:r>
                  <a:rPr lang="en-US" dirty="0" err="1"/>
                  <a:t>i</a:t>
                </a:r>
                <a:r>
                  <a:rPr lang="en-US" dirty="0"/>
                  <a:t> replaced by B’s column </a:t>
                </a:r>
                <a:r>
                  <a:rPr lang="en-US" dirty="0" err="1"/>
                  <a:t>i</a:t>
                </a:r>
                <a:endParaRPr lang="en-US" dirty="0"/>
              </a:p>
              <a:p>
                <a:pPr marL="285750" indent="-285750">
                  <a:buFont typeface="Wingdings" pitchFamily="2" charset="2"/>
                  <a:buChar char="§"/>
                </a:pPr>
                <a:endParaRPr lang="en-US" dirty="0"/>
              </a:p>
              <a:p>
                <a:pPr marL="285750" indent="-285750">
                  <a:buFont typeface="Wingdings" pitchFamily="2" charset="2"/>
                  <a:buChar char="§"/>
                </a:pPr>
                <a:r>
                  <a:rPr lang="en-US" dirty="0"/>
                  <a:t>Total cost: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+2)</m:t>
                    </m:r>
                  </m:oMath>
                </a14:m>
                <a:r>
                  <a:rPr lang="en-US" dirty="0"/>
                  <a:t> forward evaluations of the model</a:t>
                </a:r>
              </a:p>
            </p:txBody>
          </p:sp>
        </mc:Choice>
        <mc:Fallback>
          <p:sp>
            <p:nvSpPr>
              <p:cNvPr id="6" name="TextBox 5">
                <a:extLst>
                  <a:ext uri="{FF2B5EF4-FFF2-40B4-BE49-F238E27FC236}">
                    <a16:creationId xmlns:a16="http://schemas.microsoft.com/office/drawing/2014/main" id="{37529F47-A259-1C1B-9C26-1156B7B1432E}"/>
                  </a:ext>
                </a:extLst>
              </p:cNvPr>
              <p:cNvSpPr txBox="1">
                <a:spLocks noRot="1" noChangeAspect="1" noMove="1" noResize="1" noEditPoints="1" noAdjustHandles="1" noChangeArrowheads="1" noChangeShapeType="1" noTextEdit="1"/>
              </p:cNvSpPr>
              <p:nvPr/>
            </p:nvSpPr>
            <p:spPr>
              <a:xfrm>
                <a:off x="214313" y="4944333"/>
                <a:ext cx="10669909" cy="1488806"/>
              </a:xfrm>
              <a:prstGeom prst="rect">
                <a:avLst/>
              </a:prstGeom>
              <a:blipFill>
                <a:blip r:embed="rId5"/>
                <a:stretch>
                  <a:fillRect l="-357" t="-1695" b="-5932"/>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F3A488F6-6035-1748-5B21-9AE67211C862}"/>
              </a:ext>
            </a:extLst>
          </p:cNvPr>
          <p:cNvSpPr txBox="1"/>
          <p:nvPr/>
        </p:nvSpPr>
        <p:spPr>
          <a:xfrm>
            <a:off x="214313" y="903297"/>
            <a:ext cx="3386504" cy="369332"/>
          </a:xfrm>
          <a:prstGeom prst="rect">
            <a:avLst/>
          </a:prstGeom>
          <a:noFill/>
        </p:spPr>
        <p:txBody>
          <a:bodyPr wrap="none" rtlCol="0">
            <a:spAutoFit/>
          </a:bodyPr>
          <a:lstStyle/>
          <a:p>
            <a:r>
              <a:rPr lang="en-US" dirty="0" err="1">
                <a:solidFill>
                  <a:schemeClr val="accent4"/>
                </a:solidFill>
              </a:rPr>
              <a:t>Saltelli’s</a:t>
            </a:r>
            <a:r>
              <a:rPr lang="en-US" dirty="0">
                <a:solidFill>
                  <a:schemeClr val="accent4"/>
                </a:solidFill>
              </a:rPr>
              <a:t> Monte Carlo Estimator</a:t>
            </a:r>
          </a:p>
        </p:txBody>
      </p:sp>
      <p:sp>
        <p:nvSpPr>
          <p:cNvPr id="7" name="TextBox 6">
            <a:extLst>
              <a:ext uri="{FF2B5EF4-FFF2-40B4-BE49-F238E27FC236}">
                <a16:creationId xmlns:a16="http://schemas.microsoft.com/office/drawing/2014/main" id="{E00E2B34-E6A2-4509-597C-144B750719D0}"/>
              </a:ext>
            </a:extLst>
          </p:cNvPr>
          <p:cNvSpPr txBox="1"/>
          <p:nvPr/>
        </p:nvSpPr>
        <p:spPr>
          <a:xfrm>
            <a:off x="0" y="6606142"/>
            <a:ext cx="9751387" cy="200055"/>
          </a:xfrm>
          <a:prstGeom prst="rect">
            <a:avLst/>
          </a:prstGeom>
          <a:noFill/>
        </p:spPr>
        <p:txBody>
          <a:bodyPr wrap="none" rtlCol="0">
            <a:spAutoFit/>
          </a:bodyPr>
          <a:lstStyle/>
          <a:p>
            <a:r>
              <a:rPr lang="en-US" sz="700" b="0" i="1" dirty="0" err="1">
                <a:solidFill>
                  <a:schemeClr val="accent6"/>
                </a:solidFill>
                <a:effectLst/>
                <a:latin typeface="Arial" panose="020B0604020202020204" pitchFamily="34" charset="0"/>
              </a:rPr>
              <a:t>Saltelli</a:t>
            </a:r>
            <a:r>
              <a:rPr lang="en-US" sz="700" b="0" i="1" dirty="0">
                <a:solidFill>
                  <a:schemeClr val="accent6"/>
                </a:solidFill>
                <a:effectLst/>
                <a:latin typeface="Arial" panose="020B0604020202020204" pitchFamily="34" charset="0"/>
              </a:rPr>
              <a:t>, A., </a:t>
            </a:r>
            <a:r>
              <a:rPr lang="en-US" sz="700" b="0" i="1" dirty="0" err="1">
                <a:solidFill>
                  <a:schemeClr val="accent6"/>
                </a:solidFill>
                <a:effectLst/>
                <a:latin typeface="Arial" panose="020B0604020202020204" pitchFamily="34" charset="0"/>
              </a:rPr>
              <a:t>Annoni</a:t>
            </a:r>
            <a:r>
              <a:rPr lang="en-US" sz="700" b="0" i="1" dirty="0">
                <a:solidFill>
                  <a:schemeClr val="accent6"/>
                </a:solidFill>
                <a:effectLst/>
                <a:latin typeface="Arial" panose="020B0604020202020204" pitchFamily="34" charset="0"/>
              </a:rPr>
              <a:t>, P., </a:t>
            </a:r>
            <a:r>
              <a:rPr lang="en-US" sz="700" b="0" i="1" dirty="0" err="1">
                <a:solidFill>
                  <a:schemeClr val="accent6"/>
                </a:solidFill>
                <a:effectLst/>
                <a:latin typeface="Arial" panose="020B0604020202020204" pitchFamily="34" charset="0"/>
              </a:rPr>
              <a:t>Azzini</a:t>
            </a:r>
            <a:r>
              <a:rPr lang="en-US" sz="700" b="0" i="1" dirty="0">
                <a:solidFill>
                  <a:schemeClr val="accent6"/>
                </a:solidFill>
                <a:effectLst/>
                <a:latin typeface="Arial" panose="020B0604020202020204" pitchFamily="34" charset="0"/>
              </a:rPr>
              <a:t>, I., </a:t>
            </a:r>
            <a:r>
              <a:rPr lang="en-US" sz="700" b="0" i="1" dirty="0" err="1">
                <a:solidFill>
                  <a:schemeClr val="accent6"/>
                </a:solidFill>
                <a:effectLst/>
                <a:latin typeface="Arial" panose="020B0604020202020204" pitchFamily="34" charset="0"/>
              </a:rPr>
              <a:t>Campolongo</a:t>
            </a:r>
            <a:r>
              <a:rPr lang="en-US" sz="700" b="0" i="1" dirty="0">
                <a:solidFill>
                  <a:schemeClr val="accent6"/>
                </a:solidFill>
                <a:effectLst/>
                <a:latin typeface="Arial" panose="020B0604020202020204" pitchFamily="34" charset="0"/>
              </a:rPr>
              <a:t>, F., </a:t>
            </a:r>
            <a:r>
              <a:rPr lang="en-US" sz="700" b="0" i="1" dirty="0" err="1">
                <a:solidFill>
                  <a:schemeClr val="accent6"/>
                </a:solidFill>
                <a:effectLst/>
                <a:latin typeface="Arial" panose="020B0604020202020204" pitchFamily="34" charset="0"/>
              </a:rPr>
              <a:t>Ratto</a:t>
            </a:r>
            <a:r>
              <a:rPr lang="en-US" sz="700" b="0" i="1" dirty="0">
                <a:solidFill>
                  <a:schemeClr val="accent6"/>
                </a:solidFill>
                <a:effectLst/>
                <a:latin typeface="Arial" panose="020B0604020202020204" pitchFamily="34" charset="0"/>
              </a:rPr>
              <a:t>, M., &amp; </a:t>
            </a:r>
            <a:r>
              <a:rPr lang="en-US" sz="700" b="0" i="1" dirty="0" err="1">
                <a:solidFill>
                  <a:schemeClr val="accent6"/>
                </a:solidFill>
                <a:effectLst/>
                <a:latin typeface="Arial" panose="020B0604020202020204" pitchFamily="34" charset="0"/>
              </a:rPr>
              <a:t>Tarantola</a:t>
            </a:r>
            <a:r>
              <a:rPr lang="en-US" sz="700" b="0" i="1" dirty="0">
                <a:solidFill>
                  <a:schemeClr val="accent6"/>
                </a:solidFill>
                <a:effectLst/>
                <a:latin typeface="Arial" panose="020B0604020202020204" pitchFamily="34" charset="0"/>
              </a:rPr>
              <a:t>, S. (2010). Variance based sensitivity analysis of model output. Design and estimator for the total sensitivity index. Computer physics communications, 181(2), 259-270.</a:t>
            </a:r>
            <a:endParaRPr lang="en-US" sz="700" i="1" dirty="0">
              <a:solidFill>
                <a:schemeClr val="accent6"/>
              </a:solidFill>
            </a:endParaRPr>
          </a:p>
        </p:txBody>
      </p:sp>
    </p:spTree>
    <p:extLst>
      <p:ext uri="{BB962C8B-B14F-4D97-AF65-F5344CB8AC3E}">
        <p14:creationId xmlns:p14="http://schemas.microsoft.com/office/powerpoint/2010/main" val="354118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5FFA2-EACF-421A-25D1-9CD4DD35B58C}"/>
              </a:ext>
            </a:extLst>
          </p:cNvPr>
          <p:cNvSpPr>
            <a:spLocks noGrp="1"/>
          </p:cNvSpPr>
          <p:nvPr>
            <p:ph type="title"/>
          </p:nvPr>
        </p:nvSpPr>
        <p:spPr/>
        <p:txBody>
          <a:bodyPr/>
          <a:lstStyle/>
          <a:p>
            <a:r>
              <a:rPr lang="en-US" dirty="0" err="1"/>
              <a:t>Saltelli</a:t>
            </a:r>
            <a:r>
              <a:rPr lang="en-US" dirty="0"/>
              <a:t> Estimator Formulas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7ADD79-15D3-25ED-A939-EC28116F60F4}"/>
                  </a:ext>
                </a:extLst>
              </p:cNvPr>
              <p:cNvSpPr txBox="1"/>
              <p:nvPr/>
            </p:nvSpPr>
            <p:spPr>
              <a:xfrm>
                <a:off x="0" y="835819"/>
                <a:ext cx="4596130" cy="369332"/>
              </a:xfrm>
              <a:prstGeom prst="rect">
                <a:avLst/>
              </a:prstGeom>
              <a:noFill/>
            </p:spPr>
            <p:txBody>
              <a:bodyPr wrap="none" rtlCol="0">
                <a:spAutoFit/>
              </a:bodyPr>
              <a:lstStyle/>
              <a:p>
                <a:r>
                  <a:rPr lang="en-US" dirty="0"/>
                  <a:t>Let </a:t>
                </a:r>
                <a14:m>
                  <m:oMath xmlns:m="http://schemas.openxmlformats.org/officeDocument/2006/math">
                    <m:r>
                      <a:rPr lang="en-US" b="0" i="1" smtClean="0">
                        <a:latin typeface="Cambria Math" panose="02040503050406030204" pitchFamily="18" charset="0"/>
                      </a:rPr>
                      <m:t>𝑉</m:t>
                    </m:r>
                  </m:oMath>
                </a14:m>
                <a:r>
                  <a:rPr lang="en-US" dirty="0"/>
                  <a:t> = sample variance of Q over A. Then:</a:t>
                </a:r>
              </a:p>
            </p:txBody>
          </p:sp>
        </mc:Choice>
        <mc:Fallback xmlns="">
          <p:sp>
            <p:nvSpPr>
              <p:cNvPr id="3" name="TextBox 2">
                <a:extLst>
                  <a:ext uri="{FF2B5EF4-FFF2-40B4-BE49-F238E27FC236}">
                    <a16:creationId xmlns:a16="http://schemas.microsoft.com/office/drawing/2014/main" id="{687ADD79-15D3-25ED-A939-EC28116F60F4}"/>
                  </a:ext>
                </a:extLst>
              </p:cNvPr>
              <p:cNvSpPr txBox="1">
                <a:spLocks noRot="1" noChangeAspect="1" noMove="1" noResize="1" noEditPoints="1" noAdjustHandles="1" noChangeArrowheads="1" noChangeShapeType="1" noTextEdit="1"/>
              </p:cNvSpPr>
              <p:nvPr/>
            </p:nvSpPr>
            <p:spPr>
              <a:xfrm>
                <a:off x="0" y="835819"/>
                <a:ext cx="4596130" cy="369332"/>
              </a:xfrm>
              <a:prstGeom prst="rect">
                <a:avLst/>
              </a:prstGeom>
              <a:blipFill>
                <a:blip r:embed="rId3"/>
                <a:stretch>
                  <a:fillRect l="-1105" t="-6452" r="-276" b="-2258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0881E3BD-6EFD-47E5-1A81-495E80BBDAA5}"/>
              </a:ext>
            </a:extLst>
          </p:cNvPr>
          <p:cNvSpPr/>
          <p:nvPr/>
        </p:nvSpPr>
        <p:spPr>
          <a:xfrm>
            <a:off x="2167991" y="1513352"/>
            <a:ext cx="7904697" cy="1265567"/>
          </a:xfrm>
          <a:prstGeom prst="rect">
            <a:avLst/>
          </a:prstGeom>
          <a:solidFill>
            <a:schemeClr val="tx2">
              <a:lumMod val="25000"/>
              <a:alpha val="24059"/>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92A8FBB-131A-094F-FEB3-2C82D971437B}"/>
                  </a:ext>
                </a:extLst>
              </p:cNvPr>
              <p:cNvSpPr txBox="1"/>
              <p:nvPr/>
            </p:nvSpPr>
            <p:spPr>
              <a:xfrm>
                <a:off x="3789470" y="1585913"/>
                <a:ext cx="4613058" cy="6357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𝑆</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=(1/</m:t>
                      </m:r>
                      <m:r>
                        <a:rPr lang="en-US" b="0" i="1" smtClean="0">
                          <a:solidFill>
                            <a:schemeClr val="accent5"/>
                          </a:solidFill>
                          <a:latin typeface="Cambria Math" panose="02040503050406030204" pitchFamily="18" charset="0"/>
                        </a:rPr>
                        <m:t>𝑁𝑉</m:t>
                      </m:r>
                      <m:r>
                        <a:rPr lang="en-US" b="0" i="1" smtClean="0">
                          <a:solidFill>
                            <a:schemeClr val="accent5"/>
                          </a:solidFill>
                          <a:latin typeface="Cambria Math" panose="02040503050406030204" pitchFamily="18" charset="0"/>
                        </a:rPr>
                        <m:t>).</m:t>
                      </m:r>
                      <m:nary>
                        <m:naryPr>
                          <m:chr m:val="∑"/>
                          <m:limLoc m:val="subSup"/>
                          <m:supHide m:val="on"/>
                          <m:ctrlPr>
                            <a:rPr lang="en-US" b="0" i="1" smtClean="0">
                              <a:solidFill>
                                <a:schemeClr val="accent5"/>
                              </a:solidFill>
                              <a:latin typeface="Cambria Math" panose="02040503050406030204" pitchFamily="18" charset="0"/>
                            </a:rPr>
                          </m:ctrlPr>
                        </m:naryPr>
                        <m:sub>
                          <m:r>
                            <m:rPr>
                              <m:brk m:alnAt="9"/>
                            </m:rPr>
                            <a:rPr lang="en-US" b="0" i="1" smtClean="0">
                              <a:solidFill>
                                <a:schemeClr val="accent5"/>
                              </a:solidFill>
                              <a:latin typeface="Cambria Math" panose="02040503050406030204" pitchFamily="18" charset="0"/>
                            </a:rPr>
                            <m:t>𝑗</m:t>
                          </m:r>
                        </m:sub>
                        <m:sup/>
                        <m:e>
                          <m:r>
                            <a:rPr lang="en-US" b="0" i="1" smtClean="0">
                              <a:solidFill>
                                <a:schemeClr val="accent5"/>
                              </a:solidFill>
                              <a:latin typeface="Cambria Math" panose="02040503050406030204" pitchFamily="18" charset="0"/>
                            </a:rPr>
                            <m:t>𝑄</m:t>
                          </m:r>
                          <m:d>
                            <m:dPr>
                              <m:ctrlPr>
                                <a:rPr lang="en-US" b="0" i="1" smtClean="0">
                                  <a:solidFill>
                                    <a:schemeClr val="accent5"/>
                                  </a:solidFill>
                                  <a:latin typeface="Cambria Math" panose="02040503050406030204" pitchFamily="18" charset="0"/>
                                </a:rPr>
                              </m:ctrlPr>
                            </m:dPr>
                            <m:e>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𝐵</m:t>
                                  </m:r>
                                </m:e>
                                <m:sub>
                                  <m:r>
                                    <a:rPr lang="en-US" b="0" i="1" smtClean="0">
                                      <a:solidFill>
                                        <a:schemeClr val="accent5"/>
                                      </a:solidFill>
                                      <a:latin typeface="Cambria Math" panose="02040503050406030204" pitchFamily="18" charset="0"/>
                                    </a:rPr>
                                    <m:t>𝑗</m:t>
                                  </m:r>
                                </m:sub>
                              </m:sSub>
                            </m:e>
                          </m:d>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𝑄</m:t>
                          </m:r>
                          <m:d>
                            <m:dPr>
                              <m:ctrlPr>
                                <a:rPr lang="en-US" b="0" i="1" smtClean="0">
                                  <a:solidFill>
                                    <a:schemeClr val="accent5"/>
                                  </a:solidFill>
                                  <a:latin typeface="Cambria Math" panose="02040503050406030204" pitchFamily="18" charset="0"/>
                                </a:rPr>
                              </m:ctrlPr>
                            </m:dPr>
                            <m:e>
                              <m:sSubSup>
                                <m:sSubSupPr>
                                  <m:ctrlPr>
                                    <a:rPr lang="en-US" b="0" i="1" smtClean="0">
                                      <a:solidFill>
                                        <a:schemeClr val="accent5"/>
                                      </a:solidFill>
                                      <a:latin typeface="Cambria Math" panose="02040503050406030204" pitchFamily="18" charset="0"/>
                                    </a:rPr>
                                  </m:ctrlPr>
                                </m:sSubSupPr>
                                <m:e>
                                  <m:r>
                                    <a:rPr lang="en-US" b="0" i="1" smtClean="0">
                                      <a:solidFill>
                                        <a:schemeClr val="accent5"/>
                                      </a:solidFill>
                                      <a:latin typeface="Cambria Math" panose="02040503050406030204" pitchFamily="18" charset="0"/>
                                    </a:rPr>
                                    <m:t>𝐴𝐵</m:t>
                                  </m:r>
                                </m:e>
                                <m:sub>
                                  <m:r>
                                    <a:rPr lang="en-US" b="0" i="1" smtClean="0">
                                      <a:solidFill>
                                        <a:schemeClr val="accent5"/>
                                      </a:solidFill>
                                      <a:latin typeface="Cambria Math" panose="02040503050406030204" pitchFamily="18" charset="0"/>
                                    </a:rPr>
                                    <m:t>𝑗</m:t>
                                  </m:r>
                                </m:sub>
                                <m:sup>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𝑖</m:t>
                                      </m:r>
                                    </m:e>
                                  </m:d>
                                </m:sup>
                              </m:sSubSup>
                            </m:e>
                          </m:d>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𝑄</m:t>
                          </m:r>
                          <m:d>
                            <m:dPr>
                              <m:ctrlPr>
                                <a:rPr lang="en-US" b="0" i="1" smtClean="0">
                                  <a:solidFill>
                                    <a:schemeClr val="accent5"/>
                                  </a:solidFill>
                                  <a:latin typeface="Cambria Math" panose="02040503050406030204" pitchFamily="18" charset="0"/>
                                </a:rPr>
                              </m:ctrlPr>
                            </m:dPr>
                            <m:e>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𝐴</m:t>
                                  </m:r>
                                </m:e>
                                <m:sub>
                                  <m:r>
                                    <a:rPr lang="en-US" b="0" i="1" smtClean="0">
                                      <a:solidFill>
                                        <a:schemeClr val="accent5"/>
                                      </a:solidFill>
                                      <a:latin typeface="Cambria Math" panose="02040503050406030204" pitchFamily="18" charset="0"/>
                                    </a:rPr>
                                    <m:t>𝑗</m:t>
                                  </m:r>
                                </m:sub>
                              </m:sSub>
                            </m:e>
                          </m:d>
                          <m:r>
                            <a:rPr lang="en-US" b="0" i="1" smtClean="0">
                              <a:solidFill>
                                <a:schemeClr val="accent5"/>
                              </a:solidFill>
                              <a:latin typeface="Cambria Math" panose="02040503050406030204" pitchFamily="18" charset="0"/>
                            </a:rPr>
                            <m:t>]</m:t>
                          </m:r>
                        </m:e>
                      </m:nary>
                    </m:oMath>
                  </m:oMathPara>
                </a14:m>
                <a:endParaRPr lang="en-US" dirty="0">
                  <a:solidFill>
                    <a:schemeClr val="accent5"/>
                  </a:solidFill>
                </a:endParaRPr>
              </a:p>
            </p:txBody>
          </p:sp>
        </mc:Choice>
        <mc:Fallback xmlns="">
          <p:sp>
            <p:nvSpPr>
              <p:cNvPr id="5" name="TextBox 4">
                <a:extLst>
                  <a:ext uri="{FF2B5EF4-FFF2-40B4-BE49-F238E27FC236}">
                    <a16:creationId xmlns:a16="http://schemas.microsoft.com/office/drawing/2014/main" id="{F92A8FBB-131A-094F-FEB3-2C82D971437B}"/>
                  </a:ext>
                </a:extLst>
              </p:cNvPr>
              <p:cNvSpPr txBox="1">
                <a:spLocks noRot="1" noChangeAspect="1" noMove="1" noResize="1" noEditPoints="1" noAdjustHandles="1" noChangeArrowheads="1" noChangeShapeType="1" noTextEdit="1"/>
              </p:cNvSpPr>
              <p:nvPr/>
            </p:nvSpPr>
            <p:spPr>
              <a:xfrm>
                <a:off x="3789470" y="1585913"/>
                <a:ext cx="4613058" cy="635751"/>
              </a:xfrm>
              <a:prstGeom prst="rect">
                <a:avLst/>
              </a:prstGeom>
              <a:blipFill>
                <a:blip r:embed="rId4"/>
                <a:stretch>
                  <a:fillRect t="-152941" b="-2156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A12BCB4-CAC1-6D23-5E18-A86FC411DF8F}"/>
                  </a:ext>
                </a:extLst>
              </p:cNvPr>
              <p:cNvSpPr txBox="1"/>
              <p:nvPr/>
            </p:nvSpPr>
            <p:spPr>
              <a:xfrm>
                <a:off x="4207090" y="2221664"/>
                <a:ext cx="3826497" cy="369332"/>
              </a:xfrm>
              <a:prstGeom prst="rect">
                <a:avLst/>
              </a:prstGeom>
              <a:noFill/>
            </p:spPr>
            <p:txBody>
              <a:bodyPr wrap="none" rtlCol="0">
                <a:spAutoFit/>
              </a:bodyPr>
              <a:lstStyle/>
              <a:p>
                <a:r>
                  <a:rPr lang="en-US" dirty="0">
                    <a:solidFill>
                      <a:schemeClr val="accent3"/>
                    </a:solidFill>
                  </a:rPr>
                  <a:t>first-order index – direct effect of </a:t>
                </a:r>
                <a14:m>
                  <m:oMath xmlns:m="http://schemas.openxmlformats.org/officeDocument/2006/math">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ea typeface="Cambria Math" panose="02040503050406030204" pitchFamily="18" charset="0"/>
                          </a:rPr>
                          <m:t>𝜃</m:t>
                        </m:r>
                      </m:e>
                      <m:sub>
                        <m:r>
                          <a:rPr lang="en-US" b="0" i="1" smtClean="0">
                            <a:solidFill>
                              <a:schemeClr val="accent3"/>
                            </a:solidFill>
                            <a:latin typeface="Cambria Math" panose="02040503050406030204" pitchFamily="18" charset="0"/>
                          </a:rPr>
                          <m:t>𝑖</m:t>
                        </m:r>
                      </m:sub>
                    </m:sSub>
                  </m:oMath>
                </a14:m>
                <a:endParaRPr lang="en-US" dirty="0">
                  <a:solidFill>
                    <a:schemeClr val="accent3"/>
                  </a:solidFill>
                </a:endParaRPr>
              </a:p>
            </p:txBody>
          </p:sp>
        </mc:Choice>
        <mc:Fallback xmlns="">
          <p:sp>
            <p:nvSpPr>
              <p:cNvPr id="6" name="TextBox 5">
                <a:extLst>
                  <a:ext uri="{FF2B5EF4-FFF2-40B4-BE49-F238E27FC236}">
                    <a16:creationId xmlns:a16="http://schemas.microsoft.com/office/drawing/2014/main" id="{9A12BCB4-CAC1-6D23-5E18-A86FC411DF8F}"/>
                  </a:ext>
                </a:extLst>
              </p:cNvPr>
              <p:cNvSpPr txBox="1">
                <a:spLocks noRot="1" noChangeAspect="1" noMove="1" noResize="1" noEditPoints="1" noAdjustHandles="1" noChangeArrowheads="1" noChangeShapeType="1" noTextEdit="1"/>
              </p:cNvSpPr>
              <p:nvPr/>
            </p:nvSpPr>
            <p:spPr>
              <a:xfrm>
                <a:off x="4207090" y="2221664"/>
                <a:ext cx="3826497" cy="369332"/>
              </a:xfrm>
              <a:prstGeom prst="rect">
                <a:avLst/>
              </a:prstGeom>
              <a:blipFill>
                <a:blip r:embed="rId5"/>
                <a:stretch>
                  <a:fillRect l="-1325" t="-6452" b="-22581"/>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id="{33C36650-D3AB-465A-B8E1-1C4F5F16011B}"/>
              </a:ext>
            </a:extLst>
          </p:cNvPr>
          <p:cNvSpPr/>
          <p:nvPr/>
        </p:nvSpPr>
        <p:spPr>
          <a:xfrm>
            <a:off x="2167991" y="3144509"/>
            <a:ext cx="7904697" cy="1265567"/>
          </a:xfrm>
          <a:prstGeom prst="rect">
            <a:avLst/>
          </a:prstGeom>
          <a:solidFill>
            <a:schemeClr val="tx2">
              <a:lumMod val="25000"/>
              <a:alpha val="24059"/>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E0235326-1648-1A29-1048-8A2229688D62}"/>
              </a:ext>
            </a:extLst>
          </p:cNvPr>
          <p:cNvSpPr txBox="1"/>
          <p:nvPr/>
        </p:nvSpPr>
        <p:spPr>
          <a:xfrm>
            <a:off x="4214458" y="3849079"/>
            <a:ext cx="4188070" cy="369332"/>
          </a:xfrm>
          <a:prstGeom prst="rect">
            <a:avLst/>
          </a:prstGeom>
          <a:noFill/>
        </p:spPr>
        <p:txBody>
          <a:bodyPr wrap="none" rtlCol="0">
            <a:spAutoFit/>
          </a:bodyPr>
          <a:lstStyle/>
          <a:p>
            <a:r>
              <a:rPr lang="en-US" dirty="0">
                <a:solidFill>
                  <a:schemeClr val="accent3"/>
                </a:solidFill>
              </a:rPr>
              <a:t>total-effect index – direct + interactions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DEFC3BB-2535-08F9-FE57-E2D21FAAA55C}"/>
                  </a:ext>
                </a:extLst>
              </p:cNvPr>
              <p:cNvSpPr txBox="1"/>
              <p:nvPr/>
            </p:nvSpPr>
            <p:spPr>
              <a:xfrm>
                <a:off x="4109018" y="3217070"/>
                <a:ext cx="4384214" cy="6357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𝑆</m:t>
                          </m:r>
                        </m:e>
                        <m:sub>
                          <m:sSub>
                            <m:sSubPr>
                              <m:ctrlPr>
                                <a:rPr lang="en-US"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𝑇</m:t>
                              </m:r>
                            </m:e>
                            <m:sub>
                              <m:r>
                                <a:rPr lang="en-US" b="0" i="1" smtClean="0">
                                  <a:solidFill>
                                    <a:schemeClr val="accent2"/>
                                  </a:solidFill>
                                  <a:latin typeface="Cambria Math" panose="02040503050406030204" pitchFamily="18" charset="0"/>
                                </a:rPr>
                                <m:t>𝑖</m:t>
                              </m:r>
                            </m:sub>
                          </m:sSub>
                        </m:sub>
                      </m:sSub>
                      <m:r>
                        <a:rPr lang="en-US" b="0" i="1" smtClean="0">
                          <a:solidFill>
                            <a:schemeClr val="accent2"/>
                          </a:solidFill>
                          <a:latin typeface="Cambria Math" panose="02040503050406030204" pitchFamily="18" charset="0"/>
                        </a:rPr>
                        <m:t>=</m:t>
                      </m:r>
                      <m:r>
                        <a:rPr lang="en-US" i="1">
                          <a:solidFill>
                            <a:schemeClr val="accent2"/>
                          </a:solidFill>
                          <a:latin typeface="Cambria Math" panose="02040503050406030204" pitchFamily="18" charset="0"/>
                        </a:rPr>
                        <m:t>(1/</m:t>
                      </m:r>
                      <m:r>
                        <a:rPr lang="en-US" b="0" i="1" smtClean="0">
                          <a:solidFill>
                            <a:schemeClr val="accent2"/>
                          </a:solidFill>
                          <a:latin typeface="Cambria Math" panose="02040503050406030204" pitchFamily="18" charset="0"/>
                        </a:rPr>
                        <m:t>2</m:t>
                      </m:r>
                      <m:r>
                        <a:rPr lang="en-US" i="1">
                          <a:solidFill>
                            <a:schemeClr val="accent2"/>
                          </a:solidFill>
                          <a:latin typeface="Cambria Math" panose="02040503050406030204" pitchFamily="18" charset="0"/>
                        </a:rPr>
                        <m:t>𝑁𝑉</m:t>
                      </m:r>
                      <m:r>
                        <a:rPr lang="en-US" i="1">
                          <a:solidFill>
                            <a:schemeClr val="accent2"/>
                          </a:solidFill>
                          <a:latin typeface="Cambria Math" panose="02040503050406030204" pitchFamily="18" charset="0"/>
                        </a:rPr>
                        <m:t>).</m:t>
                      </m:r>
                      <m:nary>
                        <m:naryPr>
                          <m:chr m:val="∑"/>
                          <m:limLoc m:val="subSup"/>
                          <m:supHide m:val="on"/>
                          <m:ctrlPr>
                            <a:rPr lang="en-US" i="1" smtClean="0">
                              <a:solidFill>
                                <a:schemeClr val="accent2"/>
                              </a:solidFill>
                              <a:latin typeface="Cambria Math" panose="02040503050406030204" pitchFamily="18" charset="0"/>
                            </a:rPr>
                          </m:ctrlPr>
                        </m:naryPr>
                        <m:sub>
                          <m:r>
                            <m:rPr>
                              <m:brk m:alnAt="9"/>
                            </m:rPr>
                            <a:rPr lang="en-US" b="0" i="1" smtClean="0">
                              <a:solidFill>
                                <a:schemeClr val="accent2"/>
                              </a:solidFill>
                              <a:latin typeface="Cambria Math" panose="02040503050406030204" pitchFamily="18" charset="0"/>
                            </a:rPr>
                            <m:t>𝑗</m:t>
                          </m:r>
                        </m:sub>
                        <m:sup/>
                        <m:e>
                          <m:d>
                            <m:dPr>
                              <m:begChr m:val="["/>
                              <m:endChr m:val="]"/>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𝑄</m:t>
                              </m:r>
                              <m:d>
                                <m:dPr>
                                  <m:ctrlPr>
                                    <a:rPr lang="en-US" b="0" i="1" smtClean="0">
                                      <a:solidFill>
                                        <a:schemeClr val="accent2"/>
                                      </a:solidFill>
                                      <a:latin typeface="Cambria Math" panose="02040503050406030204" pitchFamily="18" charset="0"/>
                                    </a:rPr>
                                  </m:ctrlPr>
                                </m:dPr>
                                <m:e>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𝐴</m:t>
                                      </m:r>
                                    </m:e>
                                    <m:sub>
                                      <m:r>
                                        <a:rPr lang="en-US" b="0" i="1" smtClean="0">
                                          <a:solidFill>
                                            <a:schemeClr val="accent2"/>
                                          </a:solidFill>
                                          <a:latin typeface="Cambria Math" panose="02040503050406030204" pitchFamily="18" charset="0"/>
                                        </a:rPr>
                                        <m:t>𝑗</m:t>
                                      </m:r>
                                    </m:sub>
                                  </m:sSub>
                                </m:e>
                              </m:d>
                              <m:r>
                                <a:rPr lang="en-US" b="0" i="1" smtClean="0">
                                  <a:solidFill>
                                    <a:schemeClr val="accent2"/>
                                  </a:solidFill>
                                  <a:latin typeface="Cambria Math" panose="02040503050406030204" pitchFamily="18" charset="0"/>
                                </a:rPr>
                                <m:t>−</m:t>
                              </m:r>
                              <m:r>
                                <a:rPr lang="en-US" b="0" i="1" smtClean="0">
                                  <a:solidFill>
                                    <a:schemeClr val="accent2"/>
                                  </a:solidFill>
                                  <a:latin typeface="Cambria Math" panose="02040503050406030204" pitchFamily="18" charset="0"/>
                                </a:rPr>
                                <m:t>𝑄</m:t>
                              </m:r>
                              <m:d>
                                <m:dPr>
                                  <m:ctrlPr>
                                    <a:rPr lang="en-US" b="0" i="1" smtClean="0">
                                      <a:solidFill>
                                        <a:schemeClr val="accent2"/>
                                      </a:solidFill>
                                      <a:latin typeface="Cambria Math" panose="02040503050406030204" pitchFamily="18" charset="0"/>
                                    </a:rPr>
                                  </m:ctrlPr>
                                </m:dPr>
                                <m:e>
                                  <m:sSubSup>
                                    <m:sSubSupPr>
                                      <m:ctrlPr>
                                        <a:rPr lang="en-US" b="0" i="1" smtClean="0">
                                          <a:solidFill>
                                            <a:schemeClr val="accent2"/>
                                          </a:solidFill>
                                          <a:latin typeface="Cambria Math" panose="02040503050406030204" pitchFamily="18" charset="0"/>
                                        </a:rPr>
                                      </m:ctrlPr>
                                    </m:sSubSupPr>
                                    <m:e>
                                      <m:r>
                                        <a:rPr lang="en-US" b="0" i="1" smtClean="0">
                                          <a:solidFill>
                                            <a:schemeClr val="accent2"/>
                                          </a:solidFill>
                                          <a:latin typeface="Cambria Math" panose="02040503050406030204" pitchFamily="18" charset="0"/>
                                        </a:rPr>
                                        <m:t>𝐴𝐵</m:t>
                                      </m:r>
                                    </m:e>
                                    <m:sub>
                                      <m:r>
                                        <a:rPr lang="en-US" b="0" i="1" smtClean="0">
                                          <a:solidFill>
                                            <a:schemeClr val="accent2"/>
                                          </a:solidFill>
                                          <a:latin typeface="Cambria Math" panose="02040503050406030204" pitchFamily="18" charset="0"/>
                                        </a:rPr>
                                        <m:t>𝑗</m:t>
                                      </m:r>
                                    </m:sub>
                                    <m:sup>
                                      <m:d>
                                        <m:dPr>
                                          <m:ctrlPr>
                                            <a:rPr lang="en-US" b="0" i="1" smtClean="0">
                                              <a:solidFill>
                                                <a:schemeClr val="accent2"/>
                                              </a:solidFill>
                                              <a:latin typeface="Cambria Math" panose="02040503050406030204" pitchFamily="18" charset="0"/>
                                            </a:rPr>
                                          </m:ctrlPr>
                                        </m:dPr>
                                        <m:e>
                                          <m:r>
                                            <a:rPr lang="en-US" b="0" i="1" smtClean="0">
                                              <a:solidFill>
                                                <a:schemeClr val="accent2"/>
                                              </a:solidFill>
                                              <a:latin typeface="Cambria Math" panose="02040503050406030204" pitchFamily="18" charset="0"/>
                                            </a:rPr>
                                            <m:t>𝑖</m:t>
                                          </m:r>
                                        </m:e>
                                      </m:d>
                                    </m:sup>
                                  </m:sSubSup>
                                </m:e>
                              </m:d>
                            </m:e>
                          </m:d>
                          <m:r>
                            <a:rPr lang="en-US" b="0" i="1" baseline="30000" smtClean="0">
                              <a:solidFill>
                                <a:schemeClr val="accent2"/>
                              </a:solidFill>
                              <a:latin typeface="Cambria Math" panose="02040503050406030204" pitchFamily="18" charset="0"/>
                            </a:rPr>
                            <m:t>2</m:t>
                          </m:r>
                        </m:e>
                      </m:nary>
                    </m:oMath>
                  </m:oMathPara>
                </a14:m>
                <a:endParaRPr lang="en-US" dirty="0">
                  <a:solidFill>
                    <a:schemeClr val="accent2"/>
                  </a:solidFill>
                </a:endParaRPr>
              </a:p>
            </p:txBody>
          </p:sp>
        </mc:Choice>
        <mc:Fallback xmlns="">
          <p:sp>
            <p:nvSpPr>
              <p:cNvPr id="10" name="TextBox 9">
                <a:extLst>
                  <a:ext uri="{FF2B5EF4-FFF2-40B4-BE49-F238E27FC236}">
                    <a16:creationId xmlns:a16="http://schemas.microsoft.com/office/drawing/2014/main" id="{ADEFC3BB-2535-08F9-FE57-E2D21FAAA55C}"/>
                  </a:ext>
                </a:extLst>
              </p:cNvPr>
              <p:cNvSpPr txBox="1">
                <a:spLocks noRot="1" noChangeAspect="1" noMove="1" noResize="1" noEditPoints="1" noAdjustHandles="1" noChangeArrowheads="1" noChangeShapeType="1" noTextEdit="1"/>
              </p:cNvSpPr>
              <p:nvPr/>
            </p:nvSpPr>
            <p:spPr>
              <a:xfrm>
                <a:off x="4109018" y="3217070"/>
                <a:ext cx="4384214" cy="635751"/>
              </a:xfrm>
              <a:prstGeom prst="rect">
                <a:avLst/>
              </a:prstGeom>
              <a:blipFill>
                <a:blip r:embed="rId6"/>
                <a:stretch>
                  <a:fillRect t="-154902" b="-21568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A9D7EF2C-711A-5B8E-EC57-C4963781866A}"/>
              </a:ext>
            </a:extLst>
          </p:cNvPr>
          <p:cNvSpPr txBox="1"/>
          <p:nvPr/>
        </p:nvSpPr>
        <p:spPr>
          <a:xfrm>
            <a:off x="-1" y="5498631"/>
            <a:ext cx="12191999" cy="646331"/>
          </a:xfrm>
          <a:prstGeom prst="rect">
            <a:avLst/>
          </a:prstGeom>
          <a:noFill/>
        </p:spPr>
        <p:txBody>
          <a:bodyPr wrap="square" rtlCol="0">
            <a:spAutoFit/>
          </a:bodyPr>
          <a:lstStyle/>
          <a:p>
            <a:r>
              <a:rPr lang="en-US" dirty="0">
                <a:solidFill>
                  <a:schemeClr val="accent4"/>
                </a:solidFill>
              </a:rPr>
              <a:t>All we need</a:t>
            </a:r>
            <a:r>
              <a:rPr lang="en-US" dirty="0"/>
              <a:t>: evaluate the HGO forward model on N(k+2) parameter samples – every evaluation is independent. This is exactly what HPC is for.</a:t>
            </a:r>
          </a:p>
        </p:txBody>
      </p:sp>
      <p:sp>
        <p:nvSpPr>
          <p:cNvPr id="12" name="TextBox 11">
            <a:extLst>
              <a:ext uri="{FF2B5EF4-FFF2-40B4-BE49-F238E27FC236}">
                <a16:creationId xmlns:a16="http://schemas.microsoft.com/office/drawing/2014/main" id="{A9C1B0B2-0DFF-12E9-F1F1-EDBB0C52DD0F}"/>
              </a:ext>
            </a:extLst>
          </p:cNvPr>
          <p:cNvSpPr txBox="1"/>
          <p:nvPr/>
        </p:nvSpPr>
        <p:spPr>
          <a:xfrm>
            <a:off x="0" y="6606142"/>
            <a:ext cx="9751387" cy="200055"/>
          </a:xfrm>
          <a:prstGeom prst="rect">
            <a:avLst/>
          </a:prstGeom>
          <a:noFill/>
        </p:spPr>
        <p:txBody>
          <a:bodyPr wrap="none" rtlCol="0">
            <a:spAutoFit/>
          </a:bodyPr>
          <a:lstStyle/>
          <a:p>
            <a:r>
              <a:rPr lang="en-US" sz="700" b="0" i="1" dirty="0" err="1">
                <a:solidFill>
                  <a:schemeClr val="accent6"/>
                </a:solidFill>
                <a:effectLst/>
                <a:latin typeface="Arial" panose="020B0604020202020204" pitchFamily="34" charset="0"/>
              </a:rPr>
              <a:t>Saltelli</a:t>
            </a:r>
            <a:r>
              <a:rPr lang="en-US" sz="700" b="0" i="1" dirty="0">
                <a:solidFill>
                  <a:schemeClr val="accent6"/>
                </a:solidFill>
                <a:effectLst/>
                <a:latin typeface="Arial" panose="020B0604020202020204" pitchFamily="34" charset="0"/>
              </a:rPr>
              <a:t>, A., </a:t>
            </a:r>
            <a:r>
              <a:rPr lang="en-US" sz="700" b="0" i="1" dirty="0" err="1">
                <a:solidFill>
                  <a:schemeClr val="accent6"/>
                </a:solidFill>
                <a:effectLst/>
                <a:latin typeface="Arial" panose="020B0604020202020204" pitchFamily="34" charset="0"/>
              </a:rPr>
              <a:t>Annoni</a:t>
            </a:r>
            <a:r>
              <a:rPr lang="en-US" sz="700" b="0" i="1" dirty="0">
                <a:solidFill>
                  <a:schemeClr val="accent6"/>
                </a:solidFill>
                <a:effectLst/>
                <a:latin typeface="Arial" panose="020B0604020202020204" pitchFamily="34" charset="0"/>
              </a:rPr>
              <a:t>, P., </a:t>
            </a:r>
            <a:r>
              <a:rPr lang="en-US" sz="700" b="0" i="1" dirty="0" err="1">
                <a:solidFill>
                  <a:schemeClr val="accent6"/>
                </a:solidFill>
                <a:effectLst/>
                <a:latin typeface="Arial" panose="020B0604020202020204" pitchFamily="34" charset="0"/>
              </a:rPr>
              <a:t>Azzini</a:t>
            </a:r>
            <a:r>
              <a:rPr lang="en-US" sz="700" b="0" i="1" dirty="0">
                <a:solidFill>
                  <a:schemeClr val="accent6"/>
                </a:solidFill>
                <a:effectLst/>
                <a:latin typeface="Arial" panose="020B0604020202020204" pitchFamily="34" charset="0"/>
              </a:rPr>
              <a:t>, I., </a:t>
            </a:r>
            <a:r>
              <a:rPr lang="en-US" sz="700" b="0" i="1" dirty="0" err="1">
                <a:solidFill>
                  <a:schemeClr val="accent6"/>
                </a:solidFill>
                <a:effectLst/>
                <a:latin typeface="Arial" panose="020B0604020202020204" pitchFamily="34" charset="0"/>
              </a:rPr>
              <a:t>Campolongo</a:t>
            </a:r>
            <a:r>
              <a:rPr lang="en-US" sz="700" b="0" i="1" dirty="0">
                <a:solidFill>
                  <a:schemeClr val="accent6"/>
                </a:solidFill>
                <a:effectLst/>
                <a:latin typeface="Arial" panose="020B0604020202020204" pitchFamily="34" charset="0"/>
              </a:rPr>
              <a:t>, F., </a:t>
            </a:r>
            <a:r>
              <a:rPr lang="en-US" sz="700" b="0" i="1" dirty="0" err="1">
                <a:solidFill>
                  <a:schemeClr val="accent6"/>
                </a:solidFill>
                <a:effectLst/>
                <a:latin typeface="Arial" panose="020B0604020202020204" pitchFamily="34" charset="0"/>
              </a:rPr>
              <a:t>Ratto</a:t>
            </a:r>
            <a:r>
              <a:rPr lang="en-US" sz="700" b="0" i="1" dirty="0">
                <a:solidFill>
                  <a:schemeClr val="accent6"/>
                </a:solidFill>
                <a:effectLst/>
                <a:latin typeface="Arial" panose="020B0604020202020204" pitchFamily="34" charset="0"/>
              </a:rPr>
              <a:t>, M., &amp; </a:t>
            </a:r>
            <a:r>
              <a:rPr lang="en-US" sz="700" b="0" i="1" dirty="0" err="1">
                <a:solidFill>
                  <a:schemeClr val="accent6"/>
                </a:solidFill>
                <a:effectLst/>
                <a:latin typeface="Arial" panose="020B0604020202020204" pitchFamily="34" charset="0"/>
              </a:rPr>
              <a:t>Tarantola</a:t>
            </a:r>
            <a:r>
              <a:rPr lang="en-US" sz="700" b="0" i="1" dirty="0">
                <a:solidFill>
                  <a:schemeClr val="accent6"/>
                </a:solidFill>
                <a:effectLst/>
                <a:latin typeface="Arial" panose="020B0604020202020204" pitchFamily="34" charset="0"/>
              </a:rPr>
              <a:t>, S. (2010). Variance based sensitivity analysis of model output. Design and estimator for the total sensitivity index. Computer physics communications, 181(2), 259-270.</a:t>
            </a:r>
            <a:endParaRPr lang="en-US" sz="700" i="1" dirty="0">
              <a:solidFill>
                <a:schemeClr val="accent6"/>
              </a:solidFill>
            </a:endParaRPr>
          </a:p>
        </p:txBody>
      </p:sp>
      <p:sp>
        <p:nvSpPr>
          <p:cNvPr id="13" name="TextBox 12">
            <a:extLst>
              <a:ext uri="{FF2B5EF4-FFF2-40B4-BE49-F238E27FC236}">
                <a16:creationId xmlns:a16="http://schemas.microsoft.com/office/drawing/2014/main" id="{0B285D45-19B1-FAEE-4139-0089607EA15C}"/>
              </a:ext>
            </a:extLst>
          </p:cNvPr>
          <p:cNvSpPr txBox="1"/>
          <p:nvPr/>
        </p:nvSpPr>
        <p:spPr>
          <a:xfrm>
            <a:off x="2784778" y="4591000"/>
            <a:ext cx="7032694" cy="369332"/>
          </a:xfrm>
          <a:prstGeom prst="rect">
            <a:avLst/>
          </a:prstGeom>
          <a:noFill/>
        </p:spPr>
        <p:txBody>
          <a:bodyPr wrap="none" rtlCol="0">
            <a:spAutoFit/>
          </a:bodyPr>
          <a:lstStyle/>
          <a:p>
            <a:r>
              <a:rPr lang="en-US" dirty="0"/>
              <a:t>Reference: </a:t>
            </a:r>
            <a:r>
              <a:rPr lang="en-US" dirty="0" err="1"/>
              <a:t>Saltelli</a:t>
            </a:r>
            <a:r>
              <a:rPr lang="en-US" dirty="0"/>
              <a:t> et al. (2010), Comp. Phys. Comm. 181, 259-270</a:t>
            </a:r>
          </a:p>
        </p:txBody>
      </p:sp>
    </p:spTree>
    <p:extLst>
      <p:ext uri="{BB962C8B-B14F-4D97-AF65-F5344CB8AC3E}">
        <p14:creationId xmlns:p14="http://schemas.microsoft.com/office/powerpoint/2010/main" val="15484421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4</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5262979" cy="646331"/>
          </a:xfrm>
          <a:prstGeom prst="rect">
            <a:avLst/>
          </a:prstGeom>
          <a:noFill/>
        </p:spPr>
        <p:txBody>
          <a:bodyPr wrap="none" rtlCol="0">
            <a:spAutoFit/>
          </a:bodyPr>
          <a:lstStyle/>
          <a:p>
            <a:r>
              <a:rPr lang="en-US" sz="3600" b="1" dirty="0">
                <a:solidFill>
                  <a:schemeClr val="bg1"/>
                </a:solidFill>
              </a:rPr>
              <a:t>Parallelization Strategy</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535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a:extLst>
              <a:ext uri="{FF2B5EF4-FFF2-40B4-BE49-F238E27FC236}">
                <a16:creationId xmlns:a16="http://schemas.microsoft.com/office/drawing/2014/main" id="{E9E7CE7F-AED3-DE17-D950-522B29C65A1B}"/>
              </a:ext>
            </a:extLst>
          </p:cNvPr>
          <p:cNvSpPr/>
          <p:nvPr/>
        </p:nvSpPr>
        <p:spPr>
          <a:xfrm>
            <a:off x="1238396" y="733506"/>
            <a:ext cx="5187142" cy="1055717"/>
          </a:xfrm>
          <a:prstGeom prst="roundRect">
            <a:avLst/>
          </a:prstGeom>
          <a:solidFill>
            <a:schemeClr val="tx2">
              <a:lumMod val="50000"/>
              <a:alpha val="8634"/>
            </a:schemeClr>
          </a:solidFill>
          <a:ln w="317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0CC6A3E-79A3-E4EB-A440-D691D6A15403}"/>
              </a:ext>
            </a:extLst>
          </p:cNvPr>
          <p:cNvSpPr/>
          <p:nvPr/>
        </p:nvSpPr>
        <p:spPr>
          <a:xfrm>
            <a:off x="5975058" y="2532135"/>
            <a:ext cx="1755609" cy="1350169"/>
          </a:xfrm>
          <a:prstGeom prst="rect">
            <a:avLst/>
          </a:prstGeom>
          <a:solidFill>
            <a:srgbClr val="7030A0">
              <a:alpha val="13000"/>
            </a:srgbClr>
          </a:solid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427C07C-68C4-A8AF-9DF8-9FF6830D8439}"/>
              </a:ext>
            </a:extLst>
          </p:cNvPr>
          <p:cNvSpPr/>
          <p:nvPr/>
        </p:nvSpPr>
        <p:spPr>
          <a:xfrm>
            <a:off x="4002171" y="2532135"/>
            <a:ext cx="1755609" cy="1350169"/>
          </a:xfrm>
          <a:prstGeom prst="rect">
            <a:avLst/>
          </a:prstGeom>
          <a:solidFill>
            <a:srgbClr val="7030A0">
              <a:alpha val="13000"/>
            </a:srgbClr>
          </a:solid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540D7BB-7356-E995-9508-8156EEC7E2D1}"/>
              </a:ext>
            </a:extLst>
          </p:cNvPr>
          <p:cNvSpPr/>
          <p:nvPr/>
        </p:nvSpPr>
        <p:spPr>
          <a:xfrm>
            <a:off x="2029284" y="2532135"/>
            <a:ext cx="1755609" cy="1350169"/>
          </a:xfrm>
          <a:prstGeom prst="rect">
            <a:avLst/>
          </a:prstGeom>
          <a:solidFill>
            <a:srgbClr val="7030A0">
              <a:alpha val="13000"/>
            </a:srgbClr>
          </a:solid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FBDD064-A34C-7BBD-4DC6-38651BC32816}"/>
              </a:ext>
            </a:extLst>
          </p:cNvPr>
          <p:cNvSpPr/>
          <p:nvPr/>
        </p:nvSpPr>
        <p:spPr>
          <a:xfrm>
            <a:off x="56397" y="2532135"/>
            <a:ext cx="1755609" cy="1350169"/>
          </a:xfrm>
          <a:prstGeom prst="rect">
            <a:avLst/>
          </a:prstGeom>
          <a:solidFill>
            <a:srgbClr val="7030A0">
              <a:alpha val="13000"/>
            </a:srgbClr>
          </a:solidFill>
          <a:ln w="317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58200A-741E-FAAD-2F1F-635980B565EE}"/>
              </a:ext>
            </a:extLst>
          </p:cNvPr>
          <p:cNvSpPr>
            <a:spLocks noGrp="1"/>
          </p:cNvSpPr>
          <p:nvPr>
            <p:ph type="title"/>
          </p:nvPr>
        </p:nvSpPr>
        <p:spPr/>
        <p:txBody>
          <a:bodyPr/>
          <a:lstStyle/>
          <a:p>
            <a:r>
              <a:rPr lang="en-US" dirty="0"/>
              <a:t>Why Parallelize and How It Scales</a:t>
            </a:r>
          </a:p>
        </p:txBody>
      </p:sp>
      <p:sp>
        <p:nvSpPr>
          <p:cNvPr id="3" name="TextBox 2">
            <a:extLst>
              <a:ext uri="{FF2B5EF4-FFF2-40B4-BE49-F238E27FC236}">
                <a16:creationId xmlns:a16="http://schemas.microsoft.com/office/drawing/2014/main" id="{EEB0674F-DD9A-CE15-147A-53D6B021B13E}"/>
              </a:ext>
            </a:extLst>
          </p:cNvPr>
          <p:cNvSpPr txBox="1"/>
          <p:nvPr/>
        </p:nvSpPr>
        <p:spPr>
          <a:xfrm>
            <a:off x="2088378" y="904111"/>
            <a:ext cx="3685624" cy="369332"/>
          </a:xfrm>
          <a:prstGeom prst="rect">
            <a:avLst/>
          </a:prstGeom>
          <a:noFill/>
        </p:spPr>
        <p:txBody>
          <a:bodyPr wrap="none" rtlCol="0">
            <a:spAutoFit/>
          </a:bodyPr>
          <a:lstStyle/>
          <a:p>
            <a:r>
              <a:rPr lang="en-US" dirty="0"/>
              <a:t>Generate </a:t>
            </a:r>
            <a:r>
              <a:rPr lang="en-US" dirty="0" err="1"/>
              <a:t>Saltelli</a:t>
            </a:r>
            <a:r>
              <a:rPr lang="en-US" dirty="0"/>
              <a:t> Matrices (rank 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E504A2-9694-77AC-D918-71EBF3FA6E6B}"/>
                  </a:ext>
                </a:extLst>
              </p:cNvPr>
              <p:cNvSpPr txBox="1"/>
              <p:nvPr/>
            </p:nvSpPr>
            <p:spPr>
              <a:xfrm>
                <a:off x="1546947" y="1211293"/>
                <a:ext cx="4768485" cy="369332"/>
              </a:xfrm>
              <a:prstGeom prst="rect">
                <a:avLst/>
              </a:prstGeom>
              <a:noFill/>
            </p:spPr>
            <p:txBody>
              <a:bodyPr wrap="none" rtlCol="0">
                <a:spAutoFit/>
              </a:bodyPr>
              <a:lstStyle/>
              <a:p>
                <a:r>
                  <a:rPr lang="en-US" dirty="0"/>
                  <a:t>A,B shape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×4</m:t>
                    </m:r>
                  </m:oMath>
                </a14:m>
                <a:r>
                  <a:rPr lang="en-US" dirty="0"/>
                  <a:t> over HGO parameter ranges</a:t>
                </a:r>
              </a:p>
            </p:txBody>
          </p:sp>
        </mc:Choice>
        <mc:Fallback xmlns="">
          <p:sp>
            <p:nvSpPr>
              <p:cNvPr id="4" name="TextBox 3">
                <a:extLst>
                  <a:ext uri="{FF2B5EF4-FFF2-40B4-BE49-F238E27FC236}">
                    <a16:creationId xmlns:a16="http://schemas.microsoft.com/office/drawing/2014/main" id="{8BE504A2-9694-77AC-D918-71EBF3FA6E6B}"/>
                  </a:ext>
                </a:extLst>
              </p:cNvPr>
              <p:cNvSpPr txBox="1">
                <a:spLocks noRot="1" noChangeAspect="1" noMove="1" noResize="1" noEditPoints="1" noAdjustHandles="1" noChangeArrowheads="1" noChangeShapeType="1" noTextEdit="1"/>
              </p:cNvSpPr>
              <p:nvPr/>
            </p:nvSpPr>
            <p:spPr>
              <a:xfrm>
                <a:off x="1546947" y="1211293"/>
                <a:ext cx="4768485" cy="369332"/>
              </a:xfrm>
              <a:prstGeom prst="rect">
                <a:avLst/>
              </a:prstGeom>
              <a:blipFill>
                <a:blip r:embed="rId3"/>
                <a:stretch>
                  <a:fillRect l="-1061" t="-6667" b="-2333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F357DC7B-9E01-6D8A-62BD-BA707241F6AF}"/>
              </a:ext>
            </a:extLst>
          </p:cNvPr>
          <p:cNvSpPr txBox="1"/>
          <p:nvPr/>
        </p:nvSpPr>
        <p:spPr>
          <a:xfrm>
            <a:off x="483616" y="2615002"/>
            <a:ext cx="915635" cy="369332"/>
          </a:xfrm>
          <a:prstGeom prst="rect">
            <a:avLst/>
          </a:prstGeom>
          <a:noFill/>
        </p:spPr>
        <p:txBody>
          <a:bodyPr wrap="none" rtlCol="0">
            <a:spAutoFit/>
          </a:bodyPr>
          <a:lstStyle/>
          <a:p>
            <a:r>
              <a:rPr lang="en-US" dirty="0"/>
              <a:t>Rank 0</a:t>
            </a:r>
          </a:p>
        </p:txBody>
      </p:sp>
      <p:sp>
        <p:nvSpPr>
          <p:cNvPr id="6" name="TextBox 5">
            <a:extLst>
              <a:ext uri="{FF2B5EF4-FFF2-40B4-BE49-F238E27FC236}">
                <a16:creationId xmlns:a16="http://schemas.microsoft.com/office/drawing/2014/main" id="{0BC8C274-9317-9A79-393B-B21173025745}"/>
              </a:ext>
            </a:extLst>
          </p:cNvPr>
          <p:cNvSpPr txBox="1"/>
          <p:nvPr/>
        </p:nvSpPr>
        <p:spPr>
          <a:xfrm>
            <a:off x="197160" y="3039341"/>
            <a:ext cx="1488549" cy="369332"/>
          </a:xfrm>
          <a:prstGeom prst="rect">
            <a:avLst/>
          </a:prstGeom>
          <a:noFill/>
        </p:spPr>
        <p:txBody>
          <a:bodyPr wrap="none" rtlCol="0">
            <a:spAutoFit/>
          </a:bodyPr>
          <a:lstStyle/>
          <a:p>
            <a:r>
              <a:rPr lang="en-US" dirty="0"/>
              <a:t>N/P samples</a:t>
            </a:r>
          </a:p>
        </p:txBody>
      </p:sp>
      <p:sp>
        <p:nvSpPr>
          <p:cNvPr id="7" name="TextBox 6">
            <a:extLst>
              <a:ext uri="{FF2B5EF4-FFF2-40B4-BE49-F238E27FC236}">
                <a16:creationId xmlns:a16="http://schemas.microsoft.com/office/drawing/2014/main" id="{948EDAB1-B63C-5330-C5AF-EF780999D812}"/>
              </a:ext>
            </a:extLst>
          </p:cNvPr>
          <p:cNvSpPr txBox="1"/>
          <p:nvPr/>
        </p:nvSpPr>
        <p:spPr>
          <a:xfrm>
            <a:off x="56397" y="3298659"/>
            <a:ext cx="1755609" cy="369332"/>
          </a:xfrm>
          <a:prstGeom prst="rect">
            <a:avLst/>
          </a:prstGeom>
          <a:noFill/>
        </p:spPr>
        <p:txBody>
          <a:bodyPr wrap="none" rtlCol="0">
            <a:spAutoFit/>
          </a:bodyPr>
          <a:lstStyle/>
          <a:p>
            <a:r>
              <a:rPr lang="en-US" dirty="0" err="1"/>
              <a:t>HGO+OpenMP</a:t>
            </a:r>
            <a:endParaRPr lang="en-US" dirty="0"/>
          </a:p>
        </p:txBody>
      </p:sp>
      <p:sp>
        <p:nvSpPr>
          <p:cNvPr id="10" name="TextBox 9">
            <a:extLst>
              <a:ext uri="{FF2B5EF4-FFF2-40B4-BE49-F238E27FC236}">
                <a16:creationId xmlns:a16="http://schemas.microsoft.com/office/drawing/2014/main" id="{522BBC59-305E-0630-9723-8CB545642E59}"/>
              </a:ext>
            </a:extLst>
          </p:cNvPr>
          <p:cNvSpPr txBox="1"/>
          <p:nvPr/>
        </p:nvSpPr>
        <p:spPr>
          <a:xfrm>
            <a:off x="2456503" y="2615002"/>
            <a:ext cx="915635" cy="369332"/>
          </a:xfrm>
          <a:prstGeom prst="rect">
            <a:avLst/>
          </a:prstGeom>
          <a:noFill/>
        </p:spPr>
        <p:txBody>
          <a:bodyPr wrap="none" rtlCol="0">
            <a:spAutoFit/>
          </a:bodyPr>
          <a:lstStyle/>
          <a:p>
            <a:r>
              <a:rPr lang="en-US" dirty="0"/>
              <a:t>Rank 1</a:t>
            </a:r>
          </a:p>
        </p:txBody>
      </p:sp>
      <p:sp>
        <p:nvSpPr>
          <p:cNvPr id="11" name="TextBox 10">
            <a:extLst>
              <a:ext uri="{FF2B5EF4-FFF2-40B4-BE49-F238E27FC236}">
                <a16:creationId xmlns:a16="http://schemas.microsoft.com/office/drawing/2014/main" id="{5BE904D0-EA1F-82E0-1574-B2D8508FAC3F}"/>
              </a:ext>
            </a:extLst>
          </p:cNvPr>
          <p:cNvSpPr txBox="1"/>
          <p:nvPr/>
        </p:nvSpPr>
        <p:spPr>
          <a:xfrm>
            <a:off x="2170047" y="3039341"/>
            <a:ext cx="1488549" cy="369332"/>
          </a:xfrm>
          <a:prstGeom prst="rect">
            <a:avLst/>
          </a:prstGeom>
          <a:noFill/>
        </p:spPr>
        <p:txBody>
          <a:bodyPr wrap="none" rtlCol="0">
            <a:spAutoFit/>
          </a:bodyPr>
          <a:lstStyle/>
          <a:p>
            <a:r>
              <a:rPr lang="en-US" dirty="0"/>
              <a:t>N/P samples</a:t>
            </a:r>
          </a:p>
        </p:txBody>
      </p:sp>
      <p:sp>
        <p:nvSpPr>
          <p:cNvPr id="12" name="TextBox 11">
            <a:extLst>
              <a:ext uri="{FF2B5EF4-FFF2-40B4-BE49-F238E27FC236}">
                <a16:creationId xmlns:a16="http://schemas.microsoft.com/office/drawing/2014/main" id="{B32A1928-657B-0AD2-D187-7A41894EDB08}"/>
              </a:ext>
            </a:extLst>
          </p:cNvPr>
          <p:cNvSpPr txBox="1"/>
          <p:nvPr/>
        </p:nvSpPr>
        <p:spPr>
          <a:xfrm>
            <a:off x="2029284" y="3298659"/>
            <a:ext cx="1755609" cy="369332"/>
          </a:xfrm>
          <a:prstGeom prst="rect">
            <a:avLst/>
          </a:prstGeom>
          <a:noFill/>
        </p:spPr>
        <p:txBody>
          <a:bodyPr wrap="none" rtlCol="0">
            <a:spAutoFit/>
          </a:bodyPr>
          <a:lstStyle/>
          <a:p>
            <a:r>
              <a:rPr lang="en-US" dirty="0" err="1"/>
              <a:t>HGO+OpenMP</a:t>
            </a:r>
            <a:endParaRPr lang="en-US" dirty="0"/>
          </a:p>
        </p:txBody>
      </p:sp>
      <p:sp>
        <p:nvSpPr>
          <p:cNvPr id="14" name="TextBox 13">
            <a:extLst>
              <a:ext uri="{FF2B5EF4-FFF2-40B4-BE49-F238E27FC236}">
                <a16:creationId xmlns:a16="http://schemas.microsoft.com/office/drawing/2014/main" id="{566FF268-8D6A-EC81-A71C-79B8A033F187}"/>
              </a:ext>
            </a:extLst>
          </p:cNvPr>
          <p:cNvSpPr txBox="1"/>
          <p:nvPr/>
        </p:nvSpPr>
        <p:spPr>
          <a:xfrm>
            <a:off x="4429390" y="2615002"/>
            <a:ext cx="915635" cy="369332"/>
          </a:xfrm>
          <a:prstGeom prst="rect">
            <a:avLst/>
          </a:prstGeom>
          <a:noFill/>
        </p:spPr>
        <p:txBody>
          <a:bodyPr wrap="none" rtlCol="0">
            <a:spAutoFit/>
          </a:bodyPr>
          <a:lstStyle/>
          <a:p>
            <a:r>
              <a:rPr lang="en-US" dirty="0"/>
              <a:t>Rank 2</a:t>
            </a:r>
          </a:p>
        </p:txBody>
      </p:sp>
      <p:sp>
        <p:nvSpPr>
          <p:cNvPr id="15" name="TextBox 14">
            <a:extLst>
              <a:ext uri="{FF2B5EF4-FFF2-40B4-BE49-F238E27FC236}">
                <a16:creationId xmlns:a16="http://schemas.microsoft.com/office/drawing/2014/main" id="{B4AB6DE1-747A-C39E-2C01-E35DAB89A85B}"/>
              </a:ext>
            </a:extLst>
          </p:cNvPr>
          <p:cNvSpPr txBox="1"/>
          <p:nvPr/>
        </p:nvSpPr>
        <p:spPr>
          <a:xfrm>
            <a:off x="4142934" y="3039341"/>
            <a:ext cx="1488549" cy="369332"/>
          </a:xfrm>
          <a:prstGeom prst="rect">
            <a:avLst/>
          </a:prstGeom>
          <a:noFill/>
        </p:spPr>
        <p:txBody>
          <a:bodyPr wrap="none" rtlCol="0">
            <a:spAutoFit/>
          </a:bodyPr>
          <a:lstStyle/>
          <a:p>
            <a:r>
              <a:rPr lang="en-US" dirty="0"/>
              <a:t>N/P samples</a:t>
            </a:r>
          </a:p>
        </p:txBody>
      </p:sp>
      <p:sp>
        <p:nvSpPr>
          <p:cNvPr id="16" name="TextBox 15">
            <a:extLst>
              <a:ext uri="{FF2B5EF4-FFF2-40B4-BE49-F238E27FC236}">
                <a16:creationId xmlns:a16="http://schemas.microsoft.com/office/drawing/2014/main" id="{E3FE9CEB-6F5C-B091-D26D-70D81AF6FCEB}"/>
              </a:ext>
            </a:extLst>
          </p:cNvPr>
          <p:cNvSpPr txBox="1"/>
          <p:nvPr/>
        </p:nvSpPr>
        <p:spPr>
          <a:xfrm>
            <a:off x="4002171" y="3298659"/>
            <a:ext cx="1755609" cy="369332"/>
          </a:xfrm>
          <a:prstGeom prst="rect">
            <a:avLst/>
          </a:prstGeom>
          <a:noFill/>
        </p:spPr>
        <p:txBody>
          <a:bodyPr wrap="none" rtlCol="0">
            <a:spAutoFit/>
          </a:bodyPr>
          <a:lstStyle/>
          <a:p>
            <a:r>
              <a:rPr lang="en-US" dirty="0" err="1"/>
              <a:t>HGO+OpenMP</a:t>
            </a:r>
            <a:endParaRPr lang="en-US" dirty="0"/>
          </a:p>
        </p:txBody>
      </p:sp>
      <p:sp>
        <p:nvSpPr>
          <p:cNvPr id="18" name="TextBox 17">
            <a:extLst>
              <a:ext uri="{FF2B5EF4-FFF2-40B4-BE49-F238E27FC236}">
                <a16:creationId xmlns:a16="http://schemas.microsoft.com/office/drawing/2014/main" id="{94239B70-A1A0-0BD9-66F6-72B9ADC703C1}"/>
              </a:ext>
            </a:extLst>
          </p:cNvPr>
          <p:cNvSpPr txBox="1"/>
          <p:nvPr/>
        </p:nvSpPr>
        <p:spPr>
          <a:xfrm>
            <a:off x="6402277" y="2615002"/>
            <a:ext cx="915635" cy="369332"/>
          </a:xfrm>
          <a:prstGeom prst="rect">
            <a:avLst/>
          </a:prstGeom>
          <a:noFill/>
        </p:spPr>
        <p:txBody>
          <a:bodyPr wrap="none" rtlCol="0">
            <a:spAutoFit/>
          </a:bodyPr>
          <a:lstStyle/>
          <a:p>
            <a:r>
              <a:rPr lang="en-US" dirty="0"/>
              <a:t>Rank 3</a:t>
            </a:r>
          </a:p>
        </p:txBody>
      </p:sp>
      <p:sp>
        <p:nvSpPr>
          <p:cNvPr id="19" name="TextBox 18">
            <a:extLst>
              <a:ext uri="{FF2B5EF4-FFF2-40B4-BE49-F238E27FC236}">
                <a16:creationId xmlns:a16="http://schemas.microsoft.com/office/drawing/2014/main" id="{1F4E54AC-B86F-5E36-5F35-8131BF19A781}"/>
              </a:ext>
            </a:extLst>
          </p:cNvPr>
          <p:cNvSpPr txBox="1"/>
          <p:nvPr/>
        </p:nvSpPr>
        <p:spPr>
          <a:xfrm>
            <a:off x="6115821" y="3039341"/>
            <a:ext cx="1488549" cy="369332"/>
          </a:xfrm>
          <a:prstGeom prst="rect">
            <a:avLst/>
          </a:prstGeom>
          <a:noFill/>
        </p:spPr>
        <p:txBody>
          <a:bodyPr wrap="none" rtlCol="0">
            <a:spAutoFit/>
          </a:bodyPr>
          <a:lstStyle/>
          <a:p>
            <a:r>
              <a:rPr lang="en-US" dirty="0"/>
              <a:t>N/P samples</a:t>
            </a:r>
          </a:p>
        </p:txBody>
      </p:sp>
      <p:sp>
        <p:nvSpPr>
          <p:cNvPr id="20" name="TextBox 19">
            <a:extLst>
              <a:ext uri="{FF2B5EF4-FFF2-40B4-BE49-F238E27FC236}">
                <a16:creationId xmlns:a16="http://schemas.microsoft.com/office/drawing/2014/main" id="{78630964-5C3E-0DF6-718A-F8FF32B6A21D}"/>
              </a:ext>
            </a:extLst>
          </p:cNvPr>
          <p:cNvSpPr txBox="1"/>
          <p:nvPr/>
        </p:nvSpPr>
        <p:spPr>
          <a:xfrm>
            <a:off x="5975058" y="3298659"/>
            <a:ext cx="1755609" cy="369332"/>
          </a:xfrm>
          <a:prstGeom prst="rect">
            <a:avLst/>
          </a:prstGeom>
          <a:noFill/>
        </p:spPr>
        <p:txBody>
          <a:bodyPr wrap="none" rtlCol="0">
            <a:spAutoFit/>
          </a:bodyPr>
          <a:lstStyle/>
          <a:p>
            <a:r>
              <a:rPr lang="en-US" dirty="0" err="1"/>
              <a:t>HGO+OpenMP</a:t>
            </a:r>
            <a:endParaRPr lang="en-US" dirty="0"/>
          </a:p>
        </p:txBody>
      </p:sp>
      <p:sp>
        <p:nvSpPr>
          <p:cNvPr id="23" name="TextBox 22">
            <a:extLst>
              <a:ext uri="{FF2B5EF4-FFF2-40B4-BE49-F238E27FC236}">
                <a16:creationId xmlns:a16="http://schemas.microsoft.com/office/drawing/2014/main" id="{3D3A2A44-EA69-9D55-DA7C-7008D7C798F4}"/>
              </a:ext>
            </a:extLst>
          </p:cNvPr>
          <p:cNvSpPr txBox="1"/>
          <p:nvPr/>
        </p:nvSpPr>
        <p:spPr>
          <a:xfrm>
            <a:off x="2117395" y="4579489"/>
            <a:ext cx="3429144" cy="369332"/>
          </a:xfrm>
          <a:prstGeom prst="rect">
            <a:avLst/>
          </a:prstGeom>
          <a:noFill/>
        </p:spPr>
        <p:txBody>
          <a:bodyPr wrap="none" rtlCol="0">
            <a:spAutoFit/>
          </a:bodyPr>
          <a:lstStyle/>
          <a:p>
            <a:r>
              <a:rPr lang="en-US" dirty="0"/>
              <a:t>Compute </a:t>
            </a:r>
            <a:r>
              <a:rPr lang="en-US" dirty="0" err="1"/>
              <a:t>Sobol</a:t>
            </a:r>
            <a:r>
              <a:rPr lang="en-US" dirty="0"/>
              <a:t> Indices (rank 0)</a:t>
            </a:r>
          </a:p>
        </p:txBody>
      </p:sp>
      <p:sp>
        <p:nvSpPr>
          <p:cNvPr id="24" name="TextBox 23">
            <a:extLst>
              <a:ext uri="{FF2B5EF4-FFF2-40B4-BE49-F238E27FC236}">
                <a16:creationId xmlns:a16="http://schemas.microsoft.com/office/drawing/2014/main" id="{23E60CDF-C790-9308-2573-133389E71AD6}"/>
              </a:ext>
            </a:extLst>
          </p:cNvPr>
          <p:cNvSpPr txBox="1"/>
          <p:nvPr/>
        </p:nvSpPr>
        <p:spPr>
          <a:xfrm>
            <a:off x="1753894" y="4948821"/>
            <a:ext cx="4204997" cy="369332"/>
          </a:xfrm>
          <a:prstGeom prst="rect">
            <a:avLst/>
          </a:prstGeom>
          <a:noFill/>
        </p:spPr>
        <p:txBody>
          <a:bodyPr wrap="none" rtlCol="0">
            <a:spAutoFit/>
          </a:bodyPr>
          <a:lstStyle/>
          <a:p>
            <a:r>
              <a:rPr lang="en-US" dirty="0" err="1"/>
              <a:t>Saltelli</a:t>
            </a:r>
            <a:r>
              <a:rPr lang="en-US" dirty="0"/>
              <a:t> 2010 estimators + bootstrap CIs</a:t>
            </a:r>
          </a:p>
        </p:txBody>
      </p:sp>
      <p:sp>
        <p:nvSpPr>
          <p:cNvPr id="25" name="Rounded Rectangle 24">
            <a:extLst>
              <a:ext uri="{FF2B5EF4-FFF2-40B4-BE49-F238E27FC236}">
                <a16:creationId xmlns:a16="http://schemas.microsoft.com/office/drawing/2014/main" id="{D501C461-D363-F44B-59B1-8C07F36C03C6}"/>
              </a:ext>
            </a:extLst>
          </p:cNvPr>
          <p:cNvSpPr/>
          <p:nvPr/>
        </p:nvSpPr>
        <p:spPr>
          <a:xfrm>
            <a:off x="1783955" y="4487952"/>
            <a:ext cx="4096024" cy="921738"/>
          </a:xfrm>
          <a:prstGeom prst="roundRect">
            <a:avLst/>
          </a:prstGeom>
          <a:solidFill>
            <a:schemeClr val="tx2">
              <a:lumMod val="50000"/>
              <a:alpha val="8634"/>
            </a:schemeClr>
          </a:solidFill>
          <a:ln w="317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D7A0DD26-C9A4-E866-79EE-EE0D653B9E6E}"/>
              </a:ext>
            </a:extLst>
          </p:cNvPr>
          <p:cNvSpPr txBox="1"/>
          <p:nvPr/>
        </p:nvSpPr>
        <p:spPr>
          <a:xfrm>
            <a:off x="3226938" y="5776355"/>
            <a:ext cx="992579" cy="369332"/>
          </a:xfrm>
          <a:prstGeom prst="rect">
            <a:avLst/>
          </a:prstGeom>
          <a:noFill/>
        </p:spPr>
        <p:txBody>
          <a:bodyPr wrap="none" rtlCol="0">
            <a:spAutoFit/>
          </a:bodyPr>
          <a:lstStyle/>
          <a:p>
            <a:r>
              <a:rPr lang="en-US" dirty="0"/>
              <a:t>Outputs</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48E90623-108B-0A2F-D485-74253973DD12}"/>
                  </a:ext>
                </a:extLst>
              </p:cNvPr>
              <p:cNvSpPr txBox="1"/>
              <p:nvPr/>
            </p:nvSpPr>
            <p:spPr>
              <a:xfrm>
                <a:off x="1255084" y="6118500"/>
                <a:ext cx="5162567" cy="396519"/>
              </a:xfrm>
              <a:prstGeom prst="rect">
                <a:avLst/>
              </a:prstGeom>
              <a:noFill/>
            </p:spPr>
            <p:txBody>
              <a:bodyPr wrap="none" rtlCol="0">
                <a:spAutoFit/>
              </a:bodyPr>
              <a:lstStyle/>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sub>
                    </m:sSub>
                  </m:oMath>
                </a14:m>
                <a:r>
                  <a:rPr lang="en-US" dirty="0"/>
                  <a:t> for 4 parameters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4 loading protocols</a:t>
                </a:r>
              </a:p>
            </p:txBody>
          </p:sp>
        </mc:Choice>
        <mc:Fallback xmlns="">
          <p:sp>
            <p:nvSpPr>
              <p:cNvPr id="27" name="TextBox 26">
                <a:extLst>
                  <a:ext uri="{FF2B5EF4-FFF2-40B4-BE49-F238E27FC236}">
                    <a16:creationId xmlns:a16="http://schemas.microsoft.com/office/drawing/2014/main" id="{48E90623-108B-0A2F-D485-74253973DD12}"/>
                  </a:ext>
                </a:extLst>
              </p:cNvPr>
              <p:cNvSpPr txBox="1">
                <a:spLocks noRot="1" noChangeAspect="1" noMove="1" noResize="1" noEditPoints="1" noAdjustHandles="1" noChangeArrowheads="1" noChangeShapeType="1" noTextEdit="1"/>
              </p:cNvSpPr>
              <p:nvPr/>
            </p:nvSpPr>
            <p:spPr>
              <a:xfrm>
                <a:off x="1255084" y="6118500"/>
                <a:ext cx="5162567" cy="396519"/>
              </a:xfrm>
              <a:prstGeom prst="rect">
                <a:avLst/>
              </a:prstGeom>
              <a:blipFill>
                <a:blip r:embed="rId4"/>
                <a:stretch>
                  <a:fillRect t="-9091" b="-12121"/>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1CC4F489-0978-B13F-A580-CAB8646697ED}"/>
              </a:ext>
            </a:extLst>
          </p:cNvPr>
          <p:cNvSpPr txBox="1"/>
          <p:nvPr/>
        </p:nvSpPr>
        <p:spPr>
          <a:xfrm>
            <a:off x="1662408" y="6383184"/>
            <a:ext cx="4121641" cy="369332"/>
          </a:xfrm>
          <a:prstGeom prst="rect">
            <a:avLst/>
          </a:prstGeom>
          <a:noFill/>
        </p:spPr>
        <p:txBody>
          <a:bodyPr wrap="none" rtlCol="0">
            <a:spAutoFit/>
          </a:bodyPr>
          <a:lstStyle/>
          <a:p>
            <a:r>
              <a:rPr lang="en-US" dirty="0"/>
              <a:t>Strong-scaling curves on 1 to 32 cores</a:t>
            </a:r>
          </a:p>
        </p:txBody>
      </p:sp>
      <p:sp>
        <p:nvSpPr>
          <p:cNvPr id="29" name="Rounded Rectangle 28">
            <a:extLst>
              <a:ext uri="{FF2B5EF4-FFF2-40B4-BE49-F238E27FC236}">
                <a16:creationId xmlns:a16="http://schemas.microsoft.com/office/drawing/2014/main" id="{CF5CF7D0-E339-3E53-96A0-F2E685425CFA}"/>
              </a:ext>
            </a:extLst>
          </p:cNvPr>
          <p:cNvSpPr/>
          <p:nvPr/>
        </p:nvSpPr>
        <p:spPr>
          <a:xfrm>
            <a:off x="1191322" y="5737432"/>
            <a:ext cx="5187142" cy="1055717"/>
          </a:xfrm>
          <a:prstGeom prst="roundRect">
            <a:avLst/>
          </a:prstGeom>
          <a:solidFill>
            <a:srgbClr val="C00000">
              <a:alpha val="8634"/>
            </a:srgb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51F34432-FA52-7E21-D9B7-F6DA53C4D887}"/>
              </a:ext>
            </a:extLst>
          </p:cNvPr>
          <p:cNvCxnSpPr>
            <a:cxnSpLocks/>
          </p:cNvCxnSpPr>
          <p:nvPr/>
        </p:nvCxnSpPr>
        <p:spPr>
          <a:xfrm>
            <a:off x="3818150" y="5418003"/>
            <a:ext cx="0" cy="303727"/>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30DE4714-44EA-5A36-029C-ABD5CCDFC5FD}"/>
              </a:ext>
            </a:extLst>
          </p:cNvPr>
          <p:cNvCxnSpPr/>
          <p:nvPr/>
        </p:nvCxnSpPr>
        <p:spPr>
          <a:xfrm>
            <a:off x="6889957" y="2069868"/>
            <a:ext cx="0" cy="399010"/>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AE22472-3B76-8811-A3FF-0697626FC4C0}"/>
              </a:ext>
            </a:extLst>
          </p:cNvPr>
          <p:cNvCxnSpPr>
            <a:cxnSpLocks/>
            <a:stCxn id="22" idx="2"/>
          </p:cNvCxnSpPr>
          <p:nvPr/>
        </p:nvCxnSpPr>
        <p:spPr>
          <a:xfrm>
            <a:off x="3831967" y="1789223"/>
            <a:ext cx="0" cy="288958"/>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543F20D-EBD9-46A2-FD53-640996506D67}"/>
              </a:ext>
            </a:extLst>
          </p:cNvPr>
          <p:cNvCxnSpPr>
            <a:cxnSpLocks/>
          </p:cNvCxnSpPr>
          <p:nvPr/>
        </p:nvCxnSpPr>
        <p:spPr>
          <a:xfrm>
            <a:off x="929732" y="2084973"/>
            <a:ext cx="5960225" cy="0"/>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96864DA-CF73-E2C0-EF75-8EB45740D7B2}"/>
              </a:ext>
            </a:extLst>
          </p:cNvPr>
          <p:cNvCxnSpPr/>
          <p:nvPr/>
        </p:nvCxnSpPr>
        <p:spPr>
          <a:xfrm>
            <a:off x="4872735" y="2078181"/>
            <a:ext cx="0" cy="399010"/>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C6834CE1-190C-E592-F3F7-E956DF501F74}"/>
              </a:ext>
            </a:extLst>
          </p:cNvPr>
          <p:cNvCxnSpPr/>
          <p:nvPr/>
        </p:nvCxnSpPr>
        <p:spPr>
          <a:xfrm>
            <a:off x="2952495" y="2069868"/>
            <a:ext cx="0" cy="399010"/>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A619DE5-E344-874C-E9E6-B807397A4475}"/>
              </a:ext>
            </a:extLst>
          </p:cNvPr>
          <p:cNvCxnSpPr/>
          <p:nvPr/>
        </p:nvCxnSpPr>
        <p:spPr>
          <a:xfrm>
            <a:off x="935273" y="2078181"/>
            <a:ext cx="0" cy="399010"/>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37A7585-C9E4-8799-9CC2-ACACF754B5B7}"/>
              </a:ext>
            </a:extLst>
          </p:cNvPr>
          <p:cNvCxnSpPr>
            <a:cxnSpLocks/>
          </p:cNvCxnSpPr>
          <p:nvPr/>
        </p:nvCxnSpPr>
        <p:spPr>
          <a:xfrm>
            <a:off x="913106" y="4206239"/>
            <a:ext cx="6040613" cy="0"/>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C5E176F-7B1C-051B-77B8-69F167ABD8E2}"/>
              </a:ext>
            </a:extLst>
          </p:cNvPr>
          <p:cNvCxnSpPr>
            <a:cxnSpLocks/>
          </p:cNvCxnSpPr>
          <p:nvPr/>
        </p:nvCxnSpPr>
        <p:spPr>
          <a:xfrm>
            <a:off x="929732" y="3914473"/>
            <a:ext cx="0" cy="291766"/>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5D2A9C9-A582-4B86-927C-35C313990F29}"/>
              </a:ext>
            </a:extLst>
          </p:cNvPr>
          <p:cNvCxnSpPr>
            <a:cxnSpLocks/>
          </p:cNvCxnSpPr>
          <p:nvPr/>
        </p:nvCxnSpPr>
        <p:spPr>
          <a:xfrm>
            <a:off x="2952495" y="3914473"/>
            <a:ext cx="0" cy="291766"/>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CC883BE-61D0-D735-9457-1B3A380D052C}"/>
              </a:ext>
            </a:extLst>
          </p:cNvPr>
          <p:cNvCxnSpPr>
            <a:cxnSpLocks/>
          </p:cNvCxnSpPr>
          <p:nvPr/>
        </p:nvCxnSpPr>
        <p:spPr>
          <a:xfrm>
            <a:off x="4869933" y="3914473"/>
            <a:ext cx="0" cy="291766"/>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5E236BF7-F3C4-7B67-70EE-3F1BAE164AA8}"/>
              </a:ext>
            </a:extLst>
          </p:cNvPr>
          <p:cNvCxnSpPr>
            <a:cxnSpLocks/>
          </p:cNvCxnSpPr>
          <p:nvPr/>
        </p:nvCxnSpPr>
        <p:spPr>
          <a:xfrm>
            <a:off x="6945406" y="3922786"/>
            <a:ext cx="0" cy="291766"/>
          </a:xfrm>
          <a:prstGeom prst="line">
            <a:avLst/>
          </a:prstGeom>
          <a:ln w="317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8DED931E-99C1-C8ED-238D-2AA461B9C231}"/>
              </a:ext>
            </a:extLst>
          </p:cNvPr>
          <p:cNvCxnSpPr>
            <a:cxnSpLocks/>
            <a:endCxn id="25" idx="0"/>
          </p:cNvCxnSpPr>
          <p:nvPr/>
        </p:nvCxnSpPr>
        <p:spPr>
          <a:xfrm>
            <a:off x="3831967" y="4214552"/>
            <a:ext cx="0" cy="273400"/>
          </a:xfrm>
          <a:prstGeom prst="straightConnector1">
            <a:avLst/>
          </a:prstGeom>
          <a:ln w="31750">
            <a:solidFill>
              <a:schemeClr val="tx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E91D229E-BB8F-8CEE-3E11-482B9C0AC11A}"/>
              </a:ext>
            </a:extLst>
          </p:cNvPr>
          <p:cNvSpPr txBox="1"/>
          <p:nvPr/>
        </p:nvSpPr>
        <p:spPr>
          <a:xfrm>
            <a:off x="7826728" y="1388889"/>
            <a:ext cx="1569725" cy="369332"/>
          </a:xfrm>
          <a:prstGeom prst="rect">
            <a:avLst/>
          </a:prstGeom>
          <a:noFill/>
        </p:spPr>
        <p:txBody>
          <a:bodyPr wrap="none" rtlCol="0">
            <a:spAutoFit/>
          </a:bodyPr>
          <a:lstStyle/>
          <a:p>
            <a:r>
              <a:rPr lang="en-US" dirty="0">
                <a:solidFill>
                  <a:schemeClr val="accent5"/>
                </a:solidFill>
              </a:rPr>
              <a:t>Cost Analysis</a:t>
            </a: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E0160A5-A292-A4A0-1EAD-A256D1B67698}"/>
                  </a:ext>
                </a:extLst>
              </p:cNvPr>
              <p:cNvSpPr txBox="1"/>
              <p:nvPr/>
            </p:nvSpPr>
            <p:spPr>
              <a:xfrm>
                <a:off x="7871430" y="1726929"/>
                <a:ext cx="4320570" cy="1502046"/>
              </a:xfrm>
              <a:prstGeom prst="rect">
                <a:avLst/>
              </a:prstGeom>
              <a:noFill/>
            </p:spPr>
            <p:txBody>
              <a:bodyPr wrap="square" rtlCol="0">
                <a:spAutoFit/>
              </a:bodyPr>
              <a:lstStyle/>
              <a:p>
                <a:pPr marL="285750" indent="-285750">
                  <a:buFont typeface="Arial" panose="020B0604020202020204" pitchFamily="34" charset="0"/>
                  <a:buChar char="•"/>
                </a:pPr>
                <a:r>
                  <a:rPr lang="en-US" dirty="0"/>
                  <a:t>4 parameters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4 protocols:  N(k+2)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4 = 24N evaluations</a:t>
                </a:r>
              </a:p>
              <a:p>
                <a:pPr marL="285750" indent="-285750">
                  <a:buFont typeface="Arial" panose="020B0604020202020204" pitchFamily="34" charset="0"/>
                  <a:buChar char="•"/>
                </a:pPr>
                <a:r>
                  <a:rPr lang="en-US" dirty="0"/>
                  <a:t>At N=10</a:t>
                </a:r>
                <a:r>
                  <a:rPr lang="en-US" baseline="30000" dirty="0"/>
                  <a:t>6</a:t>
                </a:r>
                <a:r>
                  <a:rPr lang="en-US" dirty="0"/>
                  <a:t>: 2.4</a:t>
                </a:r>
                <a14:m>
                  <m:oMath xmlns:m="http://schemas.openxmlformats.org/officeDocument/2006/math">
                    <m:r>
                      <a:rPr lang="en-US" i="1" smtClean="0">
                        <a:latin typeface="Cambria Math" panose="02040503050406030204" pitchFamily="18" charset="0"/>
                        <a:ea typeface="Cambria Math" panose="02040503050406030204" pitchFamily="18" charset="0"/>
                      </a:rPr>
                      <m:t>×</m:t>
                    </m:r>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7</m:t>
                        </m:r>
                      </m:sup>
                    </m:sSup>
                  </m:oMath>
                </a14:m>
                <a:r>
                  <a:rPr lang="en-US" dirty="0"/>
                  <a:t> HGO walls</a:t>
                </a:r>
              </a:p>
              <a:p>
                <a:pPr marL="285750" indent="-285750">
                  <a:buFont typeface="Arial" panose="020B0604020202020204" pitchFamily="34" charset="0"/>
                  <a:buChar char="•"/>
                </a:pPr>
                <a:r>
                  <a:rPr lang="en-US" dirty="0"/>
                  <a:t>Single core wall time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50</m:t>
                    </m:r>
                    <m:r>
                      <a:rPr lang="en-US" b="0" i="1" smtClean="0">
                        <a:latin typeface="Cambria Math" panose="02040503050406030204" pitchFamily="18" charset="0"/>
                        <a:ea typeface="Cambria Math" panose="02040503050406030204" pitchFamily="18" charset="0"/>
                      </a:rPr>
                      <m:t>𝑠</m:t>
                    </m:r>
                  </m:oMath>
                </a14:m>
                <a:r>
                  <a:rPr lang="en-US" dirty="0"/>
                  <a:t>; tractable but inconvenient</a:t>
                </a:r>
              </a:p>
            </p:txBody>
          </p:sp>
        </mc:Choice>
        <mc:Fallback xmlns="">
          <p:sp>
            <p:nvSpPr>
              <p:cNvPr id="57" name="TextBox 56">
                <a:extLst>
                  <a:ext uri="{FF2B5EF4-FFF2-40B4-BE49-F238E27FC236}">
                    <a16:creationId xmlns:a16="http://schemas.microsoft.com/office/drawing/2014/main" id="{FE0160A5-A292-A4A0-1EAD-A256D1B67698}"/>
                  </a:ext>
                </a:extLst>
              </p:cNvPr>
              <p:cNvSpPr txBox="1">
                <a:spLocks noRot="1" noChangeAspect="1" noMove="1" noResize="1" noEditPoints="1" noAdjustHandles="1" noChangeArrowheads="1" noChangeShapeType="1" noTextEdit="1"/>
              </p:cNvSpPr>
              <p:nvPr/>
            </p:nvSpPr>
            <p:spPr>
              <a:xfrm>
                <a:off x="7871430" y="1726929"/>
                <a:ext cx="4320570" cy="1502046"/>
              </a:xfrm>
              <a:prstGeom prst="rect">
                <a:avLst/>
              </a:prstGeom>
              <a:blipFill>
                <a:blip r:embed="rId5"/>
                <a:stretch>
                  <a:fillRect l="-877" t="-1667" r="-292" b="-3333"/>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B7D9A21F-4603-132B-71BF-40A59B78B0B8}"/>
              </a:ext>
            </a:extLst>
          </p:cNvPr>
          <p:cNvSpPr txBox="1"/>
          <p:nvPr/>
        </p:nvSpPr>
        <p:spPr>
          <a:xfrm>
            <a:off x="7877475" y="3697638"/>
            <a:ext cx="1492716" cy="369332"/>
          </a:xfrm>
          <a:prstGeom prst="rect">
            <a:avLst/>
          </a:prstGeom>
          <a:noFill/>
        </p:spPr>
        <p:txBody>
          <a:bodyPr wrap="none" rtlCol="0">
            <a:spAutoFit/>
          </a:bodyPr>
          <a:lstStyle/>
          <a:p>
            <a:r>
              <a:rPr lang="en-US" dirty="0">
                <a:solidFill>
                  <a:schemeClr val="accent2"/>
                </a:solidFill>
              </a:rPr>
              <a:t>Key property</a:t>
            </a:r>
          </a:p>
        </p:txBody>
      </p:sp>
      <p:sp>
        <p:nvSpPr>
          <p:cNvPr id="59" name="TextBox 58">
            <a:extLst>
              <a:ext uri="{FF2B5EF4-FFF2-40B4-BE49-F238E27FC236}">
                <a16:creationId xmlns:a16="http://schemas.microsoft.com/office/drawing/2014/main" id="{F8B15B54-9A72-D6AD-52C4-49BA9EB7D10F}"/>
              </a:ext>
            </a:extLst>
          </p:cNvPr>
          <p:cNvSpPr txBox="1"/>
          <p:nvPr/>
        </p:nvSpPr>
        <p:spPr>
          <a:xfrm>
            <a:off x="7871430" y="4164785"/>
            <a:ext cx="4320563" cy="1200329"/>
          </a:xfrm>
          <a:prstGeom prst="rect">
            <a:avLst/>
          </a:prstGeom>
          <a:noFill/>
        </p:spPr>
        <p:txBody>
          <a:bodyPr wrap="square" rtlCol="0">
            <a:spAutoFit/>
          </a:bodyPr>
          <a:lstStyle/>
          <a:p>
            <a:pPr marL="285750" indent="-285750">
              <a:buFont typeface="Arial" panose="020B0604020202020204" pitchFamily="34" charset="0"/>
              <a:buChar char="•"/>
            </a:pPr>
            <a:r>
              <a:rPr lang="en-US" dirty="0"/>
              <a:t>Every HGO evaluation is independent</a:t>
            </a:r>
          </a:p>
          <a:p>
            <a:pPr marL="285750" indent="-285750">
              <a:buFont typeface="Arial" panose="020B0604020202020204" pitchFamily="34" charset="0"/>
              <a:buChar char="•"/>
            </a:pPr>
            <a:r>
              <a:rPr lang="en-US" dirty="0"/>
              <a:t>Embarrassingly parallel</a:t>
            </a:r>
          </a:p>
          <a:p>
            <a:pPr marL="285750" indent="-285750">
              <a:buFont typeface="Arial" panose="020B0604020202020204" pitchFamily="34" charset="0"/>
              <a:buChar char="•"/>
            </a:pPr>
            <a:r>
              <a:rPr lang="en-US" dirty="0"/>
              <a:t>Communication = one </a:t>
            </a:r>
            <a:r>
              <a:rPr lang="en-US" dirty="0" err="1"/>
              <a:t>Bcast</a:t>
            </a:r>
            <a:r>
              <a:rPr lang="en-US" dirty="0"/>
              <a:t> + one Gather</a:t>
            </a:r>
          </a:p>
        </p:txBody>
      </p:sp>
    </p:spTree>
    <p:extLst>
      <p:ext uri="{BB962C8B-B14F-4D97-AF65-F5344CB8AC3E}">
        <p14:creationId xmlns:p14="http://schemas.microsoft.com/office/powerpoint/2010/main" val="1598703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6D53-7A09-21E3-B7FE-E16FF3C9D173}"/>
              </a:ext>
            </a:extLst>
          </p:cNvPr>
          <p:cNvSpPr>
            <a:spLocks noGrp="1"/>
          </p:cNvSpPr>
          <p:nvPr>
            <p:ph type="title"/>
          </p:nvPr>
        </p:nvSpPr>
        <p:spPr/>
        <p:txBody>
          <a:bodyPr/>
          <a:lstStyle/>
          <a:p>
            <a:r>
              <a:rPr lang="en-US" dirty="0"/>
              <a:t>Hybrid MPI + OpenMP</a:t>
            </a:r>
          </a:p>
        </p:txBody>
      </p:sp>
      <p:sp>
        <p:nvSpPr>
          <p:cNvPr id="3" name="Rectangle 2">
            <a:extLst>
              <a:ext uri="{FF2B5EF4-FFF2-40B4-BE49-F238E27FC236}">
                <a16:creationId xmlns:a16="http://schemas.microsoft.com/office/drawing/2014/main" id="{3F0CE948-A96B-BA47-D8D5-005265D0EB64}"/>
              </a:ext>
            </a:extLst>
          </p:cNvPr>
          <p:cNvSpPr/>
          <p:nvPr/>
        </p:nvSpPr>
        <p:spPr>
          <a:xfrm>
            <a:off x="328933" y="2093119"/>
            <a:ext cx="3135785" cy="2486025"/>
          </a:xfrm>
          <a:prstGeom prst="rect">
            <a:avLst/>
          </a:prstGeom>
          <a:solidFill>
            <a:srgbClr val="002060">
              <a:alpha val="21659"/>
            </a:srgbClr>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CF8BC0E-7185-DD15-F562-DB70AF5E5DAA}"/>
              </a:ext>
            </a:extLst>
          </p:cNvPr>
          <p:cNvSpPr txBox="1"/>
          <p:nvPr/>
        </p:nvSpPr>
        <p:spPr>
          <a:xfrm>
            <a:off x="1317179" y="2250281"/>
            <a:ext cx="1197764" cy="369332"/>
          </a:xfrm>
          <a:prstGeom prst="rect">
            <a:avLst/>
          </a:prstGeom>
          <a:noFill/>
        </p:spPr>
        <p:txBody>
          <a:bodyPr wrap="none" rtlCol="0">
            <a:spAutoFit/>
          </a:bodyPr>
          <a:lstStyle/>
          <a:p>
            <a:r>
              <a:rPr lang="en-US" b="1" dirty="0">
                <a:solidFill>
                  <a:schemeClr val="accent1"/>
                </a:solidFill>
              </a:rPr>
              <a:t>MPI layer</a:t>
            </a:r>
          </a:p>
        </p:txBody>
      </p:sp>
      <p:sp>
        <p:nvSpPr>
          <p:cNvPr id="5" name="TextBox 4">
            <a:extLst>
              <a:ext uri="{FF2B5EF4-FFF2-40B4-BE49-F238E27FC236}">
                <a16:creationId xmlns:a16="http://schemas.microsoft.com/office/drawing/2014/main" id="{4A4ED559-0D2D-3528-87CE-9AD453911134}"/>
              </a:ext>
            </a:extLst>
          </p:cNvPr>
          <p:cNvSpPr txBox="1"/>
          <p:nvPr/>
        </p:nvSpPr>
        <p:spPr>
          <a:xfrm>
            <a:off x="539512" y="2690336"/>
            <a:ext cx="2714625" cy="1477328"/>
          </a:xfrm>
          <a:prstGeom prst="rect">
            <a:avLst/>
          </a:prstGeom>
          <a:noFill/>
        </p:spPr>
        <p:txBody>
          <a:bodyPr wrap="square" rtlCol="0">
            <a:spAutoFit/>
          </a:bodyPr>
          <a:lstStyle/>
          <a:p>
            <a:pPr algn="ctr"/>
            <a:r>
              <a:rPr lang="en-US" dirty="0"/>
              <a:t>P ranks, one </a:t>
            </a:r>
            <a:r>
              <a:rPr lang="en-US" dirty="0" err="1"/>
              <a:t>Bcast</a:t>
            </a:r>
            <a:r>
              <a:rPr lang="en-US" dirty="0"/>
              <a:t> at startup, one Gather at end. Distributes N samples across ranks via block decomposition</a:t>
            </a:r>
          </a:p>
        </p:txBody>
      </p:sp>
      <p:sp>
        <p:nvSpPr>
          <p:cNvPr id="6" name="Rectangle 5">
            <a:extLst>
              <a:ext uri="{FF2B5EF4-FFF2-40B4-BE49-F238E27FC236}">
                <a16:creationId xmlns:a16="http://schemas.microsoft.com/office/drawing/2014/main" id="{DB0975EA-272C-EA9D-91A7-A6E0B4A5BF67}"/>
              </a:ext>
            </a:extLst>
          </p:cNvPr>
          <p:cNvSpPr/>
          <p:nvPr/>
        </p:nvSpPr>
        <p:spPr>
          <a:xfrm>
            <a:off x="4528107" y="2093119"/>
            <a:ext cx="3135785" cy="2486025"/>
          </a:xfrm>
          <a:prstGeom prst="rect">
            <a:avLst/>
          </a:prstGeom>
          <a:solidFill>
            <a:schemeClr val="accent6">
              <a:alpha val="2931"/>
            </a:schemeClr>
          </a:solidFill>
          <a:ln w="317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0B76A65E-AD77-5D9B-1580-0722639F245C}"/>
              </a:ext>
            </a:extLst>
          </p:cNvPr>
          <p:cNvSpPr txBox="1"/>
          <p:nvPr/>
        </p:nvSpPr>
        <p:spPr>
          <a:xfrm>
            <a:off x="5268368" y="2250281"/>
            <a:ext cx="1719381" cy="369332"/>
          </a:xfrm>
          <a:prstGeom prst="rect">
            <a:avLst/>
          </a:prstGeom>
          <a:noFill/>
        </p:spPr>
        <p:txBody>
          <a:bodyPr wrap="none" rtlCol="0">
            <a:spAutoFit/>
          </a:bodyPr>
          <a:lstStyle/>
          <a:p>
            <a:r>
              <a:rPr lang="en-US" b="1" dirty="0">
                <a:solidFill>
                  <a:schemeClr val="accent6"/>
                </a:solidFill>
              </a:rPr>
              <a:t>OpenMP layer</a:t>
            </a:r>
          </a:p>
        </p:txBody>
      </p:sp>
      <p:sp>
        <p:nvSpPr>
          <p:cNvPr id="8" name="TextBox 7">
            <a:extLst>
              <a:ext uri="{FF2B5EF4-FFF2-40B4-BE49-F238E27FC236}">
                <a16:creationId xmlns:a16="http://schemas.microsoft.com/office/drawing/2014/main" id="{C7F09F49-7288-E677-9B91-C94E754C773C}"/>
              </a:ext>
            </a:extLst>
          </p:cNvPr>
          <p:cNvSpPr txBox="1"/>
          <p:nvPr/>
        </p:nvSpPr>
        <p:spPr>
          <a:xfrm>
            <a:off x="4681535" y="2690336"/>
            <a:ext cx="2828925" cy="1477328"/>
          </a:xfrm>
          <a:prstGeom prst="rect">
            <a:avLst/>
          </a:prstGeom>
          <a:noFill/>
        </p:spPr>
        <p:txBody>
          <a:bodyPr wrap="square" rtlCol="0">
            <a:spAutoFit/>
          </a:bodyPr>
          <a:lstStyle/>
          <a:p>
            <a:pPr algn="ctr"/>
            <a:r>
              <a:rPr lang="en-US" dirty="0"/>
              <a:t>T threads per rank over the local chunk. Shared memory, no collectives. Static scheduling – uniform work per </a:t>
            </a:r>
            <a:r>
              <a:rPr lang="en-US" dirty="0" err="1"/>
              <a:t>iter</a:t>
            </a:r>
            <a:endParaRPr lang="en-US" dirty="0"/>
          </a:p>
        </p:txBody>
      </p:sp>
      <p:sp>
        <p:nvSpPr>
          <p:cNvPr id="9" name="Rectangle 8">
            <a:extLst>
              <a:ext uri="{FF2B5EF4-FFF2-40B4-BE49-F238E27FC236}">
                <a16:creationId xmlns:a16="http://schemas.microsoft.com/office/drawing/2014/main" id="{008D4E09-758A-C10D-3238-E388EB7417F7}"/>
              </a:ext>
            </a:extLst>
          </p:cNvPr>
          <p:cNvSpPr/>
          <p:nvPr/>
        </p:nvSpPr>
        <p:spPr>
          <a:xfrm>
            <a:off x="8727282" y="2093119"/>
            <a:ext cx="3135785" cy="2486025"/>
          </a:xfrm>
          <a:prstGeom prst="rect">
            <a:avLst/>
          </a:prstGeom>
          <a:solidFill>
            <a:schemeClr val="accent2">
              <a:alpha val="2931"/>
            </a:schemeClr>
          </a:soli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35FAF14B-D141-06F7-9016-758ACF5BD0DE}"/>
              </a:ext>
            </a:extLst>
          </p:cNvPr>
          <p:cNvSpPr txBox="1"/>
          <p:nvPr/>
        </p:nvSpPr>
        <p:spPr>
          <a:xfrm>
            <a:off x="9638583" y="2256090"/>
            <a:ext cx="1313180" cy="369332"/>
          </a:xfrm>
          <a:prstGeom prst="rect">
            <a:avLst/>
          </a:prstGeom>
          <a:noFill/>
        </p:spPr>
        <p:txBody>
          <a:bodyPr wrap="none" rtlCol="0">
            <a:spAutoFit/>
          </a:bodyPr>
          <a:lstStyle/>
          <a:p>
            <a:r>
              <a:rPr lang="en-US" b="1" dirty="0">
                <a:solidFill>
                  <a:schemeClr val="accent2"/>
                </a:solidFill>
              </a:rPr>
              <a:t>Combined</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437BA53-4A54-4D24-A9D1-EE6A2434B1E3}"/>
                  </a:ext>
                </a:extLst>
              </p:cNvPr>
              <p:cNvSpPr txBox="1"/>
              <p:nvPr/>
            </p:nvSpPr>
            <p:spPr>
              <a:xfrm>
                <a:off x="8891942" y="2690336"/>
                <a:ext cx="2806463" cy="1200329"/>
              </a:xfrm>
              <a:prstGeom prst="rect">
                <a:avLst/>
              </a:prstGeom>
              <a:noFill/>
            </p:spPr>
            <p:txBody>
              <a:bodyPr wrap="square" rtlCol="0">
                <a:spAutoFit/>
              </a:bodyPr>
              <a:lstStyle/>
              <a:p>
                <a:pPr algn="ct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𝑇</m:t>
                    </m:r>
                  </m:oMath>
                </a14:m>
                <a:r>
                  <a:rPr lang="en-US" dirty="0"/>
                  <a:t> total cores used. Better cache reuse and lower memory duplication that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𝑇</m:t>
                    </m:r>
                  </m:oMath>
                </a14:m>
                <a:r>
                  <a:rPr lang="en-US" dirty="0"/>
                  <a:t> pure MPI ranks</a:t>
                </a:r>
              </a:p>
            </p:txBody>
          </p:sp>
        </mc:Choice>
        <mc:Fallback xmlns="">
          <p:sp>
            <p:nvSpPr>
              <p:cNvPr id="12" name="TextBox 11">
                <a:extLst>
                  <a:ext uri="{FF2B5EF4-FFF2-40B4-BE49-F238E27FC236}">
                    <a16:creationId xmlns:a16="http://schemas.microsoft.com/office/drawing/2014/main" id="{4437BA53-4A54-4D24-A9D1-EE6A2434B1E3}"/>
                  </a:ext>
                </a:extLst>
              </p:cNvPr>
              <p:cNvSpPr txBox="1">
                <a:spLocks noRot="1" noChangeAspect="1" noMove="1" noResize="1" noEditPoints="1" noAdjustHandles="1" noChangeArrowheads="1" noChangeShapeType="1" noTextEdit="1"/>
              </p:cNvSpPr>
              <p:nvPr/>
            </p:nvSpPr>
            <p:spPr>
              <a:xfrm>
                <a:off x="8891942" y="2690336"/>
                <a:ext cx="2806463" cy="1200329"/>
              </a:xfrm>
              <a:prstGeom prst="rect">
                <a:avLst/>
              </a:prstGeom>
              <a:blipFill>
                <a:blip r:embed="rId3"/>
                <a:stretch>
                  <a:fillRect l="-1351" t="-2083" r="-3153" b="-625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41DF562E-4B53-48FC-ABD8-B9622FBA1169}"/>
              </a:ext>
            </a:extLst>
          </p:cNvPr>
          <p:cNvSpPr txBox="1"/>
          <p:nvPr/>
        </p:nvSpPr>
        <p:spPr>
          <a:xfrm>
            <a:off x="0" y="5176361"/>
            <a:ext cx="1210588" cy="369332"/>
          </a:xfrm>
          <a:prstGeom prst="rect">
            <a:avLst/>
          </a:prstGeom>
          <a:noFill/>
        </p:spPr>
        <p:txBody>
          <a:bodyPr wrap="none" rtlCol="0">
            <a:spAutoFit/>
          </a:bodyPr>
          <a:lstStyle/>
          <a:p>
            <a:r>
              <a:rPr lang="en-US" b="1" dirty="0">
                <a:solidFill>
                  <a:schemeClr val="accent4"/>
                </a:solidFill>
              </a:rPr>
              <a:t>On Nova:</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17277613-51FF-1C91-BA7E-9DF12B0C0FE6}"/>
                  </a:ext>
                </a:extLst>
              </p:cNvPr>
              <p:cNvSpPr txBox="1"/>
              <p:nvPr/>
            </p:nvSpPr>
            <p:spPr>
              <a:xfrm>
                <a:off x="1210588" y="5176361"/>
                <a:ext cx="10981412" cy="665572"/>
              </a:xfrm>
              <a:prstGeom prst="rect">
                <a:avLst/>
              </a:prstGeom>
              <a:noFill/>
            </p:spPr>
            <p:txBody>
              <a:bodyPr wrap="square" rtlCol="0">
                <a:spAutoFit/>
              </a:bodyPr>
              <a:lstStyle/>
              <a:p>
                <a:pPr algn="just"/>
                <a:r>
                  <a:rPr lang="en-US" dirty="0"/>
                  <a:t>4 MPI ranks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4 OpenMP threads outperform 16 pure-MPI ranks when ranks share a socket. The hybrid layer is the practical optimum on multi-core nodes. </a:t>
                </a:r>
              </a:p>
            </p:txBody>
          </p:sp>
        </mc:Choice>
        <mc:Fallback xmlns="">
          <p:sp>
            <p:nvSpPr>
              <p:cNvPr id="14" name="TextBox 13">
                <a:extLst>
                  <a:ext uri="{FF2B5EF4-FFF2-40B4-BE49-F238E27FC236}">
                    <a16:creationId xmlns:a16="http://schemas.microsoft.com/office/drawing/2014/main" id="{17277613-51FF-1C91-BA7E-9DF12B0C0FE6}"/>
                  </a:ext>
                </a:extLst>
              </p:cNvPr>
              <p:cNvSpPr txBox="1">
                <a:spLocks noRot="1" noChangeAspect="1" noMove="1" noResize="1" noEditPoints="1" noAdjustHandles="1" noChangeArrowheads="1" noChangeShapeType="1" noTextEdit="1"/>
              </p:cNvSpPr>
              <p:nvPr/>
            </p:nvSpPr>
            <p:spPr>
              <a:xfrm>
                <a:off x="1210588" y="5176361"/>
                <a:ext cx="10981412" cy="665572"/>
              </a:xfrm>
              <a:prstGeom prst="rect">
                <a:avLst/>
              </a:prstGeom>
              <a:blipFill>
                <a:blip r:embed="rId4"/>
                <a:stretch>
                  <a:fillRect l="-462" t="-3774" r="-346" b="-11321"/>
                </a:stretch>
              </a:blipFill>
            </p:spPr>
            <p:txBody>
              <a:bodyPr/>
              <a:lstStyle/>
              <a:p>
                <a:r>
                  <a:rPr lang="en-US">
                    <a:noFill/>
                  </a:rPr>
                  <a:t> </a:t>
                </a:r>
              </a:p>
            </p:txBody>
          </p:sp>
        </mc:Fallback>
      </mc:AlternateContent>
    </p:spTree>
    <p:extLst>
      <p:ext uri="{BB962C8B-B14F-4D97-AF65-F5344CB8AC3E}">
        <p14:creationId xmlns:p14="http://schemas.microsoft.com/office/powerpoint/2010/main" val="10140732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8BA55-5617-BED6-755E-00A9B258C071}"/>
              </a:ext>
            </a:extLst>
          </p:cNvPr>
          <p:cNvSpPr>
            <a:spLocks noGrp="1"/>
          </p:cNvSpPr>
          <p:nvPr>
            <p:ph type="title"/>
          </p:nvPr>
        </p:nvSpPr>
        <p:spPr/>
        <p:txBody>
          <a:bodyPr/>
          <a:lstStyle/>
          <a:p>
            <a:r>
              <a:rPr lang="en-US" dirty="0"/>
              <a:t>Communication Analysis: Why scaling will be near-linear</a:t>
            </a:r>
          </a:p>
        </p:txBody>
      </p:sp>
      <p:sp>
        <p:nvSpPr>
          <p:cNvPr id="3" name="TextBox 2">
            <a:extLst>
              <a:ext uri="{FF2B5EF4-FFF2-40B4-BE49-F238E27FC236}">
                <a16:creationId xmlns:a16="http://schemas.microsoft.com/office/drawing/2014/main" id="{6305355F-5FC8-AD37-F41A-3FD597BC1A86}"/>
              </a:ext>
            </a:extLst>
          </p:cNvPr>
          <p:cNvSpPr txBox="1"/>
          <p:nvPr/>
        </p:nvSpPr>
        <p:spPr>
          <a:xfrm>
            <a:off x="0" y="733245"/>
            <a:ext cx="2505879" cy="369332"/>
          </a:xfrm>
          <a:prstGeom prst="rect">
            <a:avLst/>
          </a:prstGeom>
          <a:noFill/>
        </p:spPr>
        <p:txBody>
          <a:bodyPr wrap="none" rtlCol="0">
            <a:spAutoFit/>
          </a:bodyPr>
          <a:lstStyle/>
          <a:p>
            <a:r>
              <a:rPr lang="en-US" dirty="0"/>
              <a:t>Total work per protocol</a:t>
            </a:r>
          </a:p>
        </p:txBody>
      </p:sp>
      <p:sp>
        <p:nvSpPr>
          <p:cNvPr id="4" name="TextBox 3">
            <a:extLst>
              <a:ext uri="{FF2B5EF4-FFF2-40B4-BE49-F238E27FC236}">
                <a16:creationId xmlns:a16="http://schemas.microsoft.com/office/drawing/2014/main" id="{3A656785-F125-31C2-7FCF-2242DE8888A1}"/>
              </a:ext>
            </a:extLst>
          </p:cNvPr>
          <p:cNvSpPr txBox="1"/>
          <p:nvPr/>
        </p:nvSpPr>
        <p:spPr>
          <a:xfrm>
            <a:off x="0" y="1168557"/>
            <a:ext cx="9360255" cy="369332"/>
          </a:xfrm>
          <a:prstGeom prst="rect">
            <a:avLst/>
          </a:prstGeom>
          <a:noFill/>
        </p:spPr>
        <p:txBody>
          <a:bodyPr wrap="none" rtlCol="0">
            <a:spAutoFit/>
          </a:bodyPr>
          <a:lstStyle/>
          <a:p>
            <a:r>
              <a:rPr lang="en-US" dirty="0"/>
              <a:t>Compute: O(N(k+2).M) FLOPs locally – completely partitionable across ranks and threads</a:t>
            </a:r>
          </a:p>
        </p:txBody>
      </p:sp>
      <p:sp>
        <p:nvSpPr>
          <p:cNvPr id="5" name="TextBox 4">
            <a:extLst>
              <a:ext uri="{FF2B5EF4-FFF2-40B4-BE49-F238E27FC236}">
                <a16:creationId xmlns:a16="http://schemas.microsoft.com/office/drawing/2014/main" id="{CA08715F-4D16-0026-0DAB-397ED752298A}"/>
              </a:ext>
            </a:extLst>
          </p:cNvPr>
          <p:cNvSpPr txBox="1"/>
          <p:nvPr/>
        </p:nvSpPr>
        <p:spPr>
          <a:xfrm>
            <a:off x="0" y="1854515"/>
            <a:ext cx="2557110" cy="369332"/>
          </a:xfrm>
          <a:prstGeom prst="rect">
            <a:avLst/>
          </a:prstGeom>
          <a:noFill/>
        </p:spPr>
        <p:txBody>
          <a:bodyPr wrap="none" rtlCol="0">
            <a:spAutoFit/>
          </a:bodyPr>
          <a:lstStyle/>
          <a:p>
            <a:r>
              <a:rPr lang="en-US" dirty="0"/>
              <a:t>Communication budget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32839A-7268-E3FE-65FE-0BABA007211B}"/>
                  </a:ext>
                </a:extLst>
              </p:cNvPr>
              <p:cNvSpPr txBox="1"/>
              <p:nvPr/>
            </p:nvSpPr>
            <p:spPr>
              <a:xfrm>
                <a:off x="0" y="2355807"/>
                <a:ext cx="12355049" cy="1477328"/>
              </a:xfrm>
              <a:prstGeom prst="rect">
                <a:avLst/>
              </a:prstGeom>
              <a:noFill/>
            </p:spPr>
            <p:txBody>
              <a:bodyPr wrap="none" rtlCol="0">
                <a:spAutoFit/>
              </a:bodyPr>
              <a:lstStyle/>
              <a:p>
                <a:pPr marL="285750" indent="-285750">
                  <a:buFont typeface="Wingdings" pitchFamily="2" charset="2"/>
                  <a:buChar char="§"/>
                </a:pPr>
                <a:r>
                  <a:rPr lang="en-US" dirty="0"/>
                  <a:t>MPI_Bcast (A,B):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×8</m:t>
                    </m:r>
                  </m:oMath>
                </a14:m>
                <a:r>
                  <a:rPr lang="en-US" dirty="0"/>
                  <a:t> bytes one-time at startup. At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US" dirty="0"/>
                  <a:t>, k=4:64 MB total – small for modern interconnects</a:t>
                </a:r>
              </a:p>
              <a:p>
                <a:pPr marL="285750" indent="-285750">
                  <a:buFont typeface="Wingdings" pitchFamily="2" charset="2"/>
                  <a:buChar char="§"/>
                </a:pPr>
                <a:endParaRPr lang="en-US" dirty="0"/>
              </a:p>
              <a:p>
                <a:pPr marL="285750" indent="-285750">
                  <a:buFont typeface="Wingdings" pitchFamily="2" charset="2"/>
                  <a:buChar char="§"/>
                </a:pPr>
                <a:r>
                  <a:rPr lang="en-US" dirty="0" err="1"/>
                  <a:t>MPI_Gather</a:t>
                </a:r>
                <a:r>
                  <a:rPr lang="en-US" dirty="0"/>
                  <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𝑦𝐴</m:t>
                        </m:r>
                        <m:r>
                          <a:rPr lang="en-US" b="0" i="1" smtClean="0">
                            <a:latin typeface="Cambria Math" panose="02040503050406030204" pitchFamily="18" charset="0"/>
                          </a:rPr>
                          <m:t>, </m:t>
                        </m:r>
                        <m:r>
                          <a:rPr lang="en-US" b="0" i="1" smtClean="0">
                            <a:latin typeface="Cambria Math" panose="02040503050406030204" pitchFamily="18" charset="0"/>
                          </a:rPr>
                          <m:t>𝑦𝐵</m:t>
                        </m:r>
                        <m:r>
                          <a:rPr lang="en-US" b="0" i="1" smtClean="0">
                            <a:latin typeface="Cambria Math" panose="02040503050406030204" pitchFamily="18" charset="0"/>
                          </a:rPr>
                          <m:t>, </m:t>
                        </m:r>
                        <m:r>
                          <a:rPr lang="en-US" b="0" i="1" smtClean="0">
                            <a:latin typeface="Cambria Math" panose="02040503050406030204" pitchFamily="18" charset="0"/>
                          </a:rPr>
                          <m:t>𝑦</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𝐴𝐵</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+2</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𝑁𝑙𝑜𝑐</m:t>
                    </m:r>
                    <m:r>
                      <a:rPr lang="en-US" b="0" i="1" smtClean="0">
                        <a:latin typeface="Cambria Math" panose="02040503050406030204" pitchFamily="18" charset="0"/>
                        <a:ea typeface="Cambria Math" panose="02040503050406030204" pitchFamily="18" charset="0"/>
                      </a:rPr>
                      <m:t>×8</m:t>
                    </m:r>
                  </m:oMath>
                </a14:m>
                <a:r>
                  <a:rPr lang="en-US" dirty="0"/>
                  <a:t> bytes. At </a:t>
                </a:r>
                <a14:m>
                  <m:oMath xmlns:m="http://schemas.openxmlformats.org/officeDocument/2006/math">
                    <m:r>
                      <a:rPr lang="en-US" i="1">
                        <a:latin typeface="Cambria Math" panose="02040503050406030204" pitchFamily="18" charset="0"/>
                      </a:rPr>
                      <m:t>𝑁</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r>
                      <a:rPr lang="en-US" b="0" i="1" smtClean="0">
                        <a:latin typeface="Cambria Math" panose="02040503050406030204" pitchFamily="18" charset="0"/>
                      </a:rPr>
                      <m:t>, </m:t>
                    </m:r>
                    <m:r>
                      <a:rPr lang="en-US" b="0" i="1" smtClean="0">
                        <a:latin typeface="Cambria Math" panose="02040503050406030204" pitchFamily="18" charset="0"/>
                      </a:rPr>
                      <m:t>𝑘</m:t>
                    </m:r>
                    <m:r>
                      <a:rPr lang="en-US" b="0" i="1" smtClean="0">
                        <a:latin typeface="Cambria Math" panose="02040503050406030204" pitchFamily="18" charset="0"/>
                      </a:rPr>
                      <m:t>=4:48 </m:t>
                    </m:r>
                  </m:oMath>
                </a14:m>
                <a:r>
                  <a:rPr lang="en-US" dirty="0"/>
                  <a:t>MB per rank</a:t>
                </a:r>
              </a:p>
              <a:p>
                <a:pPr marL="285750" indent="-285750">
                  <a:buFont typeface="Wingdings" pitchFamily="2" charset="2"/>
                  <a:buChar char="§"/>
                </a:pPr>
                <a:endParaRPr lang="en-US" dirty="0"/>
              </a:p>
              <a:p>
                <a:pPr marL="285750" indent="-285750">
                  <a:buFont typeface="Wingdings" pitchFamily="2" charset="2"/>
                  <a:buChar char="§"/>
                </a:pPr>
                <a:r>
                  <a:rPr lang="en-US" dirty="0"/>
                  <a:t>Hot loop: zero MPI calls, zero shared-memory contention (each thread writes a different output index)</a:t>
                </a:r>
              </a:p>
            </p:txBody>
          </p:sp>
        </mc:Choice>
        <mc:Fallback xmlns="">
          <p:sp>
            <p:nvSpPr>
              <p:cNvPr id="6" name="TextBox 5">
                <a:extLst>
                  <a:ext uri="{FF2B5EF4-FFF2-40B4-BE49-F238E27FC236}">
                    <a16:creationId xmlns:a16="http://schemas.microsoft.com/office/drawing/2014/main" id="{BC32839A-7268-E3FE-65FE-0BABA007211B}"/>
                  </a:ext>
                </a:extLst>
              </p:cNvPr>
              <p:cNvSpPr txBox="1">
                <a:spLocks noRot="1" noChangeAspect="1" noMove="1" noResize="1" noEditPoints="1" noAdjustHandles="1" noChangeArrowheads="1" noChangeShapeType="1" noTextEdit="1"/>
              </p:cNvSpPr>
              <p:nvPr/>
            </p:nvSpPr>
            <p:spPr>
              <a:xfrm>
                <a:off x="0" y="2355807"/>
                <a:ext cx="12355049" cy="1477328"/>
              </a:xfrm>
              <a:prstGeom prst="rect">
                <a:avLst/>
              </a:prstGeom>
              <a:blipFill>
                <a:blip r:embed="rId2"/>
                <a:stretch>
                  <a:fillRect l="-308" t="-1709" b="-598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FBB9D31B-79CC-D706-2E3D-CB187487F998}"/>
              </a:ext>
            </a:extLst>
          </p:cNvPr>
          <p:cNvSpPr txBox="1"/>
          <p:nvPr/>
        </p:nvSpPr>
        <p:spPr>
          <a:xfrm>
            <a:off x="60385" y="4416725"/>
            <a:ext cx="12131615" cy="646331"/>
          </a:xfrm>
          <a:prstGeom prst="rect">
            <a:avLst/>
          </a:prstGeom>
          <a:noFill/>
        </p:spPr>
        <p:txBody>
          <a:bodyPr wrap="square" rtlCol="0">
            <a:spAutoFit/>
          </a:bodyPr>
          <a:lstStyle/>
          <a:p>
            <a:pPr algn="just"/>
            <a:r>
              <a:rPr lang="en-US" dirty="0">
                <a:solidFill>
                  <a:schemeClr val="accent4"/>
                </a:solidFill>
              </a:rPr>
              <a:t>Conclusion: </a:t>
            </a:r>
            <a:r>
              <a:rPr lang="en-US" dirty="0"/>
              <a:t>Compute to communication ratio is dominated by compute at any realistic N. Strong scaling should be efficient up to 32 cores</a:t>
            </a:r>
            <a:endParaRPr lang="en-US" dirty="0">
              <a:solidFill>
                <a:schemeClr val="accent4"/>
              </a:solidFill>
            </a:endParaRPr>
          </a:p>
        </p:txBody>
      </p:sp>
    </p:spTree>
    <p:extLst>
      <p:ext uri="{BB962C8B-B14F-4D97-AF65-F5344CB8AC3E}">
        <p14:creationId xmlns:p14="http://schemas.microsoft.com/office/powerpoint/2010/main" val="1934669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5</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2364943" cy="646331"/>
          </a:xfrm>
          <a:prstGeom prst="rect">
            <a:avLst/>
          </a:prstGeom>
          <a:noFill/>
        </p:spPr>
        <p:txBody>
          <a:bodyPr wrap="none" rtlCol="0">
            <a:spAutoFit/>
          </a:bodyPr>
          <a:lstStyle/>
          <a:p>
            <a:r>
              <a:rPr lang="en-US" sz="3600" b="1" dirty="0">
                <a:solidFill>
                  <a:schemeClr val="bg1"/>
                </a:solidFill>
              </a:rPr>
              <a:t>Validation</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713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D1F33-24E0-B2BC-E6C4-569FB6B81BA4}"/>
              </a:ext>
            </a:extLst>
          </p:cNvPr>
          <p:cNvSpPr>
            <a:spLocks noGrp="1"/>
          </p:cNvSpPr>
          <p:nvPr>
            <p:ph type="title"/>
          </p:nvPr>
        </p:nvSpPr>
        <p:spPr/>
        <p:txBody>
          <a:bodyPr/>
          <a:lstStyle/>
          <a:p>
            <a:r>
              <a:rPr lang="en-US" dirty="0"/>
              <a:t>Why Validate the Estimator First?</a:t>
            </a:r>
          </a:p>
        </p:txBody>
      </p:sp>
      <p:sp>
        <p:nvSpPr>
          <p:cNvPr id="3" name="TextBox 2">
            <a:extLst>
              <a:ext uri="{FF2B5EF4-FFF2-40B4-BE49-F238E27FC236}">
                <a16:creationId xmlns:a16="http://schemas.microsoft.com/office/drawing/2014/main" id="{4A0CFA18-A266-D414-4BB4-79F33D7A54C6}"/>
              </a:ext>
            </a:extLst>
          </p:cNvPr>
          <p:cNvSpPr txBox="1"/>
          <p:nvPr/>
        </p:nvSpPr>
        <p:spPr>
          <a:xfrm>
            <a:off x="0" y="814387"/>
            <a:ext cx="12192000" cy="646331"/>
          </a:xfrm>
          <a:prstGeom prst="rect">
            <a:avLst/>
          </a:prstGeom>
          <a:noFill/>
        </p:spPr>
        <p:txBody>
          <a:bodyPr wrap="square" rtlCol="0">
            <a:spAutoFit/>
          </a:bodyPr>
          <a:lstStyle/>
          <a:p>
            <a:r>
              <a:rPr lang="en-US" dirty="0"/>
              <a:t>Before trusting </a:t>
            </a:r>
            <a:r>
              <a:rPr lang="en-US" dirty="0" err="1"/>
              <a:t>Sobol</a:t>
            </a:r>
            <a:r>
              <a:rPr lang="en-US" dirty="0"/>
              <a:t> indices on HGO (where we don’t know the answer), we test the estimator on a function where we do know the answer </a:t>
            </a:r>
          </a:p>
        </p:txBody>
      </p:sp>
      <p:sp>
        <p:nvSpPr>
          <p:cNvPr id="4" name="TextBox 3">
            <a:extLst>
              <a:ext uri="{FF2B5EF4-FFF2-40B4-BE49-F238E27FC236}">
                <a16:creationId xmlns:a16="http://schemas.microsoft.com/office/drawing/2014/main" id="{504B2D13-351C-D1E1-DAE4-0D910102EBBF}"/>
              </a:ext>
            </a:extLst>
          </p:cNvPr>
          <p:cNvSpPr txBox="1"/>
          <p:nvPr/>
        </p:nvSpPr>
        <p:spPr>
          <a:xfrm>
            <a:off x="0" y="1750219"/>
            <a:ext cx="3762633" cy="369332"/>
          </a:xfrm>
          <a:prstGeom prst="rect">
            <a:avLst/>
          </a:prstGeom>
          <a:noFill/>
        </p:spPr>
        <p:txBody>
          <a:bodyPr wrap="none" rtlCol="0">
            <a:spAutoFit/>
          </a:bodyPr>
          <a:lstStyle/>
          <a:p>
            <a:r>
              <a:rPr lang="en-US" dirty="0">
                <a:solidFill>
                  <a:schemeClr val="accent4"/>
                </a:solidFill>
              </a:rPr>
              <a:t>Two checks before production runs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F25B33-DC1E-D544-F933-C1BF4CD8865C}"/>
                  </a:ext>
                </a:extLst>
              </p:cNvPr>
              <p:cNvSpPr txBox="1"/>
              <p:nvPr/>
            </p:nvSpPr>
            <p:spPr>
              <a:xfrm>
                <a:off x="0" y="2278856"/>
                <a:ext cx="12192000" cy="1780424"/>
              </a:xfrm>
              <a:prstGeom prst="rect">
                <a:avLst/>
              </a:prstGeom>
              <a:noFill/>
            </p:spPr>
            <p:txBody>
              <a:bodyPr wrap="square" rtlCol="0">
                <a:spAutoFit/>
              </a:bodyPr>
              <a:lstStyle/>
              <a:p>
                <a:pPr marL="285750" indent="-285750">
                  <a:buFont typeface="Arial" panose="020B0604020202020204" pitchFamily="34" charset="0"/>
                  <a:buChar char="•"/>
                </a:pPr>
                <a:r>
                  <a:rPr lang="en-US" dirty="0"/>
                  <a:t>Ishigami Benchmark – analytical </a:t>
                </a:r>
                <a:r>
                  <a:rPr lang="en-US" dirty="0" err="1"/>
                  <a:t>Sobol</a:t>
                </a:r>
                <a:r>
                  <a:rPr lang="en-US" dirty="0"/>
                  <a:t> indices are known in closed form. Verify estimator matches theory to MC precision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Monte Carlo convergence – verify standard deviation of indices decays as </a:t>
                </a:r>
                <a14:m>
                  <m:oMath xmlns:m="http://schemas.openxmlformats.org/officeDocument/2006/math">
                    <m:r>
                      <a:rPr lang="en-US" b="0" i="1" smtClean="0">
                        <a:latin typeface="Cambria Math" panose="02040503050406030204" pitchFamily="18" charset="0"/>
                      </a:rPr>
                      <m:t>1/</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𝑁</m:t>
                        </m:r>
                      </m:e>
                    </m:rad>
                  </m:oMath>
                </a14:m>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HGO stress sanity check – compare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rPr>
                          <m:t>11</m:t>
                        </m:r>
                      </m:sub>
                    </m:sSub>
                  </m:oMath>
                </a14:m>
                <a:r>
                  <a:rPr lang="en-US" dirty="0"/>
                  <a:t> at a published parameter set against Holzapfel (2000) reference values</a:t>
                </a:r>
              </a:p>
            </p:txBody>
          </p:sp>
        </mc:Choice>
        <mc:Fallback xmlns="">
          <p:sp>
            <p:nvSpPr>
              <p:cNvPr id="5" name="TextBox 4">
                <a:extLst>
                  <a:ext uri="{FF2B5EF4-FFF2-40B4-BE49-F238E27FC236}">
                    <a16:creationId xmlns:a16="http://schemas.microsoft.com/office/drawing/2014/main" id="{7AF25B33-DC1E-D544-F933-C1BF4CD8865C}"/>
                  </a:ext>
                </a:extLst>
              </p:cNvPr>
              <p:cNvSpPr txBox="1">
                <a:spLocks noRot="1" noChangeAspect="1" noMove="1" noResize="1" noEditPoints="1" noAdjustHandles="1" noChangeArrowheads="1" noChangeShapeType="1" noTextEdit="1"/>
              </p:cNvSpPr>
              <p:nvPr/>
            </p:nvSpPr>
            <p:spPr>
              <a:xfrm>
                <a:off x="0" y="2278856"/>
                <a:ext cx="12192000" cy="1780424"/>
              </a:xfrm>
              <a:prstGeom prst="rect">
                <a:avLst/>
              </a:prstGeom>
              <a:blipFill>
                <a:blip r:embed="rId3"/>
                <a:stretch>
                  <a:fillRect l="-312" t="-1418" b="-4965"/>
                </a:stretch>
              </a:blipFill>
            </p:spPr>
            <p:txBody>
              <a:bodyPr/>
              <a:lstStyle/>
              <a:p>
                <a:r>
                  <a:rPr lang="en-US">
                    <a:noFill/>
                  </a:rPr>
                  <a:t> </a:t>
                </a:r>
              </a:p>
            </p:txBody>
          </p:sp>
        </mc:Fallback>
      </mc:AlternateContent>
    </p:spTree>
    <p:extLst>
      <p:ext uri="{BB962C8B-B14F-4D97-AF65-F5344CB8AC3E}">
        <p14:creationId xmlns:p14="http://schemas.microsoft.com/office/powerpoint/2010/main" val="25374634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C3550-D482-D8BE-1B0E-0EF261B3A16E}"/>
              </a:ext>
            </a:extLst>
          </p:cNvPr>
          <p:cNvSpPr>
            <a:spLocks noGrp="1"/>
          </p:cNvSpPr>
          <p:nvPr>
            <p:ph type="title"/>
          </p:nvPr>
        </p:nvSpPr>
        <p:spPr/>
        <p:txBody>
          <a:bodyPr/>
          <a:lstStyle/>
          <a:p>
            <a:r>
              <a:rPr lang="en-US" dirty="0"/>
              <a:t>Validation: </a:t>
            </a:r>
            <a:r>
              <a:rPr lang="en-US" dirty="0" err="1"/>
              <a:t>Ishigami</a:t>
            </a:r>
            <a:r>
              <a:rPr lang="en-US" dirty="0"/>
              <a:t> Benchmark</a:t>
            </a:r>
          </a:p>
        </p:txBody>
      </p:sp>
      <p:pic>
        <p:nvPicPr>
          <p:cNvPr id="4" name="Picture 3" descr="A graph of a bar graph&#10;&#10;Description automatically generated with medium confidence">
            <a:extLst>
              <a:ext uri="{FF2B5EF4-FFF2-40B4-BE49-F238E27FC236}">
                <a16:creationId xmlns:a16="http://schemas.microsoft.com/office/drawing/2014/main" id="{8BE8FB8E-09BE-5AB2-37D2-74B33B9B7BCA}"/>
              </a:ext>
            </a:extLst>
          </p:cNvPr>
          <p:cNvPicPr>
            <a:picLocks noChangeAspect="1"/>
          </p:cNvPicPr>
          <p:nvPr/>
        </p:nvPicPr>
        <p:blipFill>
          <a:blip r:embed="rId3"/>
          <a:stretch>
            <a:fillRect/>
          </a:stretch>
        </p:blipFill>
        <p:spPr>
          <a:xfrm>
            <a:off x="0" y="1766183"/>
            <a:ext cx="6328148" cy="3463042"/>
          </a:xfrm>
          <a:prstGeom prst="rect">
            <a:avLst/>
          </a:prstGeom>
        </p:spPr>
      </p:pic>
      <p:sp>
        <p:nvSpPr>
          <p:cNvPr id="5" name="TextBox 4">
            <a:extLst>
              <a:ext uri="{FF2B5EF4-FFF2-40B4-BE49-F238E27FC236}">
                <a16:creationId xmlns:a16="http://schemas.microsoft.com/office/drawing/2014/main" id="{08C5A64F-B70F-8171-A46B-5E7F7834FAE4}"/>
              </a:ext>
            </a:extLst>
          </p:cNvPr>
          <p:cNvSpPr txBox="1"/>
          <p:nvPr/>
        </p:nvSpPr>
        <p:spPr>
          <a:xfrm>
            <a:off x="6457950" y="878681"/>
            <a:ext cx="3082895" cy="369332"/>
          </a:xfrm>
          <a:prstGeom prst="rect">
            <a:avLst/>
          </a:prstGeom>
          <a:noFill/>
        </p:spPr>
        <p:txBody>
          <a:bodyPr wrap="none" rtlCol="0">
            <a:spAutoFit/>
          </a:bodyPr>
          <a:lstStyle/>
          <a:p>
            <a:r>
              <a:rPr lang="en-US" dirty="0">
                <a:solidFill>
                  <a:schemeClr val="accent5"/>
                </a:solidFill>
              </a:rPr>
              <a:t>Standard </a:t>
            </a:r>
            <a:r>
              <a:rPr lang="en-US" dirty="0" err="1">
                <a:solidFill>
                  <a:schemeClr val="accent5"/>
                </a:solidFill>
              </a:rPr>
              <a:t>Sobol</a:t>
            </a:r>
            <a:r>
              <a:rPr lang="en-US" dirty="0">
                <a:solidFill>
                  <a:schemeClr val="accent5"/>
                </a:solidFill>
              </a:rPr>
              <a:t> test function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EE232D-7131-3AF7-F260-0AA4F3B420AA}"/>
                  </a:ext>
                </a:extLst>
              </p:cNvPr>
              <p:cNvSpPr txBox="1"/>
              <p:nvPr/>
            </p:nvSpPr>
            <p:spPr>
              <a:xfrm>
                <a:off x="6457950" y="1459429"/>
                <a:ext cx="5272854" cy="37330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e>
                          </m:d>
                        </m:e>
                      </m:func>
                      <m:r>
                        <a:rPr lang="en-US" b="0" i="1" smtClean="0">
                          <a:latin typeface="Cambria Math" panose="02040503050406030204" pitchFamily="18" charset="0"/>
                        </a:rPr>
                        <m:t>+7</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𝑠𝑖𝑛</m:t>
                          </m:r>
                        </m:e>
                        <m:sup>
                          <m:r>
                            <a:rPr lang="en-US" b="0" i="1" smtClean="0">
                              <a:latin typeface="Cambria Math" panose="02040503050406030204" pitchFamily="18" charset="0"/>
                            </a:rPr>
                            <m:t>2</m:t>
                          </m:r>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d>
                      <m:r>
                        <a:rPr lang="en-US" b="0" i="1" smtClean="0">
                          <a:latin typeface="Cambria Math" panose="02040503050406030204" pitchFamily="18" charset="0"/>
                        </a:rPr>
                        <m:t>+0.1</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3</m:t>
                          </m:r>
                        </m:sub>
                        <m:sup>
                          <m:r>
                            <a:rPr lang="en-US" b="0" i="1" smtClean="0">
                              <a:latin typeface="Cambria Math" panose="02040503050406030204" pitchFamily="18" charset="0"/>
                            </a:rPr>
                            <m:t>4</m:t>
                          </m:r>
                        </m:sup>
                      </m:sSubSup>
                      <m:r>
                        <m:rPr>
                          <m:sty m:val="p"/>
                        </m:rPr>
                        <a:rPr lang="en-US" b="0" i="0" smtClean="0">
                          <a:latin typeface="Cambria Math" panose="02040503050406030204" pitchFamily="18" charset="0"/>
                        </a:rPr>
                        <m:t>sin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en-US" dirty="0"/>
              </a:p>
            </p:txBody>
          </p:sp>
        </mc:Choice>
        <mc:Fallback xmlns="">
          <p:sp>
            <p:nvSpPr>
              <p:cNvPr id="6" name="TextBox 5">
                <a:extLst>
                  <a:ext uri="{FF2B5EF4-FFF2-40B4-BE49-F238E27FC236}">
                    <a16:creationId xmlns:a16="http://schemas.microsoft.com/office/drawing/2014/main" id="{BCEE232D-7131-3AF7-F260-0AA4F3B420AA}"/>
                  </a:ext>
                </a:extLst>
              </p:cNvPr>
              <p:cNvSpPr txBox="1">
                <a:spLocks noRot="1" noChangeAspect="1" noMove="1" noResize="1" noEditPoints="1" noAdjustHandles="1" noChangeArrowheads="1" noChangeShapeType="1" noTextEdit="1"/>
              </p:cNvSpPr>
              <p:nvPr/>
            </p:nvSpPr>
            <p:spPr>
              <a:xfrm>
                <a:off x="6457950" y="1459429"/>
                <a:ext cx="5272854" cy="373307"/>
              </a:xfrm>
              <a:prstGeom prst="rect">
                <a:avLst/>
              </a:prstGeom>
              <a:blipFill>
                <a:blip r:embed="rId4"/>
                <a:stretch>
                  <a:fillRect b="-16129"/>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07C5BA14-01DC-979A-360E-4CDF6A30BCA0}"/>
              </a:ext>
            </a:extLst>
          </p:cNvPr>
          <p:cNvSpPr txBox="1"/>
          <p:nvPr/>
        </p:nvSpPr>
        <p:spPr>
          <a:xfrm>
            <a:off x="6457950" y="2255568"/>
            <a:ext cx="902811" cy="369332"/>
          </a:xfrm>
          <a:prstGeom prst="rect">
            <a:avLst/>
          </a:prstGeom>
          <a:noFill/>
        </p:spPr>
        <p:txBody>
          <a:bodyPr wrap="none" rtlCol="0">
            <a:spAutoFit/>
          </a:bodyPr>
          <a:lstStyle/>
          <a:p>
            <a:r>
              <a:rPr lang="en-US" dirty="0">
                <a:solidFill>
                  <a:schemeClr val="accent5"/>
                </a:solidFill>
              </a:rPr>
              <a:t>Result </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D80F1EB-2714-9A7C-B888-8520034B6243}"/>
                  </a:ext>
                </a:extLst>
              </p:cNvPr>
              <p:cNvSpPr txBox="1"/>
              <p:nvPr/>
            </p:nvSpPr>
            <p:spPr>
              <a:xfrm>
                <a:off x="6536532" y="2863066"/>
                <a:ext cx="5655468" cy="669992"/>
              </a:xfrm>
              <a:prstGeom prst="rect">
                <a:avLst/>
              </a:prstGeom>
              <a:noFill/>
            </p:spPr>
            <p:txBody>
              <a:bodyPr wrap="square" rtlCol="0">
                <a:spAutoFit/>
              </a:bodyPr>
              <a:lstStyle/>
              <a:p>
                <a:r>
                  <a:rPr lang="en-US" dirty="0"/>
                  <a:t>All six indices agree with analytical values to within 0.003 at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=5×</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10</m:t>
                        </m:r>
                      </m:e>
                      <m:sup>
                        <m:r>
                          <a:rPr lang="en-US" b="0" i="1" smtClean="0">
                            <a:latin typeface="Cambria Math" panose="02040503050406030204" pitchFamily="18" charset="0"/>
                            <a:ea typeface="Cambria Math" panose="02040503050406030204" pitchFamily="18" charset="0"/>
                          </a:rPr>
                          <m:t>5</m:t>
                        </m:r>
                      </m:sup>
                    </m:sSup>
                  </m:oMath>
                </a14:m>
                <a:endParaRPr lang="en-US" dirty="0"/>
              </a:p>
            </p:txBody>
          </p:sp>
        </mc:Choice>
        <mc:Fallback xmlns="">
          <p:sp>
            <p:nvSpPr>
              <p:cNvPr id="8" name="TextBox 7">
                <a:extLst>
                  <a:ext uri="{FF2B5EF4-FFF2-40B4-BE49-F238E27FC236}">
                    <a16:creationId xmlns:a16="http://schemas.microsoft.com/office/drawing/2014/main" id="{6D80F1EB-2714-9A7C-B888-8520034B6243}"/>
                  </a:ext>
                </a:extLst>
              </p:cNvPr>
              <p:cNvSpPr txBox="1">
                <a:spLocks noRot="1" noChangeAspect="1" noMove="1" noResize="1" noEditPoints="1" noAdjustHandles="1" noChangeArrowheads="1" noChangeShapeType="1" noTextEdit="1"/>
              </p:cNvSpPr>
              <p:nvPr/>
            </p:nvSpPr>
            <p:spPr>
              <a:xfrm>
                <a:off x="6536532" y="2863066"/>
                <a:ext cx="5655468" cy="669992"/>
              </a:xfrm>
              <a:prstGeom prst="rect">
                <a:avLst/>
              </a:prstGeom>
              <a:blipFill>
                <a:blip r:embed="rId5"/>
                <a:stretch>
                  <a:fillRect l="-895" t="-3704" b="-925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91D607F-15E5-042B-81E4-66A036C90F92}"/>
              </a:ext>
            </a:extLst>
          </p:cNvPr>
          <p:cNvSpPr txBox="1"/>
          <p:nvPr/>
        </p:nvSpPr>
        <p:spPr>
          <a:xfrm>
            <a:off x="6457950" y="3971925"/>
            <a:ext cx="2300630" cy="369332"/>
          </a:xfrm>
          <a:prstGeom prst="rect">
            <a:avLst/>
          </a:prstGeom>
          <a:noFill/>
        </p:spPr>
        <p:txBody>
          <a:bodyPr wrap="none" rtlCol="0">
            <a:spAutoFit/>
          </a:bodyPr>
          <a:lstStyle/>
          <a:p>
            <a:r>
              <a:rPr lang="en-US" dirty="0">
                <a:solidFill>
                  <a:schemeClr val="accent4"/>
                </a:solidFill>
              </a:rPr>
              <a:t>Interaction Detection</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4E98A43-6FB8-88A6-88A2-9F0FCE38C0D9}"/>
                  </a:ext>
                </a:extLst>
              </p:cNvPr>
              <p:cNvSpPr txBox="1"/>
              <p:nvPr/>
            </p:nvSpPr>
            <p:spPr>
              <a:xfrm>
                <a:off x="6536532" y="4353604"/>
                <a:ext cx="5655468" cy="673518"/>
              </a:xfrm>
              <a:prstGeom prst="rect">
                <a:avLst/>
              </a:prstGeom>
              <a:noFill/>
            </p:spPr>
            <p:txBody>
              <a:bodyPr wrap="square" rtlCol="0">
                <a:spAutoFit/>
              </a:bodyPr>
              <a:lstStyle/>
              <a:p>
                <a:pPr algn="just"/>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has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 but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𝑖</m:t>
                            </m:r>
                          </m:sub>
                        </m:sSub>
                      </m:sub>
                    </m:sSub>
                    <m:r>
                      <a:rPr lang="en-US" b="0" i="1" smtClean="0">
                        <a:latin typeface="Cambria Math" panose="02040503050406030204" pitchFamily="18" charset="0"/>
                      </a:rPr>
                      <m:t>=0.24</m:t>
                    </m:r>
                  </m:oMath>
                </a14:m>
                <a:r>
                  <a:rPr lang="en-US" dirty="0"/>
                  <a:t> – estimator correctly captures pure-interaction effects</a:t>
                </a:r>
              </a:p>
            </p:txBody>
          </p:sp>
        </mc:Choice>
        <mc:Fallback xmlns="">
          <p:sp>
            <p:nvSpPr>
              <p:cNvPr id="10" name="TextBox 9">
                <a:extLst>
                  <a:ext uri="{FF2B5EF4-FFF2-40B4-BE49-F238E27FC236}">
                    <a16:creationId xmlns:a16="http://schemas.microsoft.com/office/drawing/2014/main" id="{64E98A43-6FB8-88A6-88A2-9F0FCE38C0D9}"/>
                  </a:ext>
                </a:extLst>
              </p:cNvPr>
              <p:cNvSpPr txBox="1">
                <a:spLocks noRot="1" noChangeAspect="1" noMove="1" noResize="1" noEditPoints="1" noAdjustHandles="1" noChangeArrowheads="1" noChangeShapeType="1" noTextEdit="1"/>
              </p:cNvSpPr>
              <p:nvPr/>
            </p:nvSpPr>
            <p:spPr>
              <a:xfrm>
                <a:off x="6536532" y="4353604"/>
                <a:ext cx="5655468" cy="673518"/>
              </a:xfrm>
              <a:prstGeom prst="rect">
                <a:avLst/>
              </a:prstGeom>
              <a:blipFill>
                <a:blip r:embed="rId6"/>
                <a:stretch>
                  <a:fillRect l="-895" t="-5556" r="-671" b="-12963"/>
                </a:stretch>
              </a:blipFill>
            </p:spPr>
            <p:txBody>
              <a:bodyPr/>
              <a:lstStyle/>
              <a:p>
                <a:r>
                  <a:rPr lang="en-US">
                    <a:noFill/>
                  </a:rPr>
                  <a:t> </a:t>
                </a:r>
              </a:p>
            </p:txBody>
          </p:sp>
        </mc:Fallback>
      </mc:AlternateContent>
    </p:spTree>
    <p:extLst>
      <p:ext uri="{BB962C8B-B14F-4D97-AF65-F5344CB8AC3E}">
        <p14:creationId xmlns:p14="http://schemas.microsoft.com/office/powerpoint/2010/main" val="2110642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FFF9-A199-8718-A841-92DF3698E8AC}"/>
              </a:ext>
            </a:extLst>
          </p:cNvPr>
          <p:cNvSpPr>
            <a:spLocks noGrp="1"/>
          </p:cNvSpPr>
          <p:nvPr>
            <p:ph type="title"/>
          </p:nvPr>
        </p:nvSpPr>
        <p:spPr/>
        <p:txBody>
          <a:bodyPr/>
          <a:lstStyle/>
          <a:p>
            <a:r>
              <a:rPr lang="en-US" dirty="0"/>
              <a:t>Monte Carlo Convergence</a:t>
            </a:r>
          </a:p>
        </p:txBody>
      </p:sp>
      <p:pic>
        <p:nvPicPr>
          <p:cNvPr id="5" name="Picture 4">
            <a:extLst>
              <a:ext uri="{FF2B5EF4-FFF2-40B4-BE49-F238E27FC236}">
                <a16:creationId xmlns:a16="http://schemas.microsoft.com/office/drawing/2014/main" id="{E23BF74E-AD6A-1A04-3D2F-187413792D05}"/>
              </a:ext>
            </a:extLst>
          </p:cNvPr>
          <p:cNvPicPr>
            <a:picLocks noChangeAspect="1"/>
          </p:cNvPicPr>
          <p:nvPr/>
        </p:nvPicPr>
        <p:blipFill>
          <a:blip r:embed="rId3"/>
          <a:stretch>
            <a:fillRect/>
          </a:stretch>
        </p:blipFill>
        <p:spPr>
          <a:xfrm>
            <a:off x="93662" y="932657"/>
            <a:ext cx="5930900" cy="4064000"/>
          </a:xfrm>
          <a:prstGeom prst="rect">
            <a:avLst/>
          </a:prstGeom>
        </p:spPr>
      </p:pic>
      <p:pic>
        <p:nvPicPr>
          <p:cNvPr id="6" name="Picture 5">
            <a:extLst>
              <a:ext uri="{FF2B5EF4-FFF2-40B4-BE49-F238E27FC236}">
                <a16:creationId xmlns:a16="http://schemas.microsoft.com/office/drawing/2014/main" id="{0BE907FA-A6C0-4137-5C03-77E73671BBEE}"/>
              </a:ext>
            </a:extLst>
          </p:cNvPr>
          <p:cNvPicPr>
            <a:picLocks noChangeAspect="1"/>
          </p:cNvPicPr>
          <p:nvPr/>
        </p:nvPicPr>
        <p:blipFill>
          <a:blip r:embed="rId4"/>
          <a:stretch>
            <a:fillRect/>
          </a:stretch>
        </p:blipFill>
        <p:spPr>
          <a:xfrm>
            <a:off x="6167438" y="932657"/>
            <a:ext cx="5930900" cy="40640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129FECD-9A0A-EAB8-DEFF-FCCB37DBA1D6}"/>
                  </a:ext>
                </a:extLst>
              </p:cNvPr>
              <p:cNvSpPr txBox="1"/>
              <p:nvPr/>
            </p:nvSpPr>
            <p:spPr>
              <a:xfrm>
                <a:off x="75385" y="5464969"/>
                <a:ext cx="12116615" cy="705578"/>
              </a:xfrm>
              <a:prstGeom prst="rect">
                <a:avLst/>
              </a:prstGeom>
              <a:noFill/>
            </p:spPr>
            <p:txBody>
              <a:bodyPr wrap="square" rtlCol="0">
                <a:spAutoFit/>
              </a:bodyPr>
              <a:lstStyle/>
              <a:p>
                <a:r>
                  <a:rPr lang="en-US" dirty="0"/>
                  <a:t>All four parameters decay parallel to the</a:t>
                </a:r>
                <a:r>
                  <a:rPr lang="en-US" b="0" dirty="0"/>
                  <a:t> </a:t>
                </a:r>
                <a14:m>
                  <m:oMath xmlns:m="http://schemas.openxmlformats.org/officeDocument/2006/math">
                    <m:r>
                      <a:rPr lang="en-US" b="0" i="1" smtClean="0">
                        <a:latin typeface="Cambria Math" panose="02040503050406030204" pitchFamily="18" charset="0"/>
                      </a:rPr>
                      <m:t>1/</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𝑁</m:t>
                        </m:r>
                      </m:e>
                    </m:rad>
                  </m:oMath>
                </a14:m>
                <a:r>
                  <a:rPr lang="en-US" dirty="0"/>
                  <a:t> reference – textbook Monte Carlo behavior. Production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US" dirty="0"/>
                  <a:t> gives </a:t>
                </a:r>
                <a14:m>
                  <m:oMath xmlns:m="http://schemas.openxmlformats.org/officeDocument/2006/math">
                    <m:r>
                      <a:rPr lang="en-US" b="0" i="1" smtClean="0">
                        <a:latin typeface="Cambria Math" panose="02040503050406030204" pitchFamily="18" charset="0"/>
                      </a:rPr>
                      <m:t>𝑠𝑡𝑑</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𝑆</m:t>
                                </m:r>
                              </m:e>
                            </m:acc>
                          </m:e>
                          <m:sub>
                            <m:r>
                              <a:rPr lang="en-US" b="0" i="1" smtClean="0">
                                <a:latin typeface="Cambria Math" panose="02040503050406030204" pitchFamily="18" charset="0"/>
                              </a:rPr>
                              <m:t>𝑖</m:t>
                            </m:r>
                          </m:sub>
                        </m:sSub>
                      </m:e>
                    </m:d>
                    <m:r>
                      <a:rPr lang="en-US" b="0" i="1" smtClean="0">
                        <a:latin typeface="Cambria Math" panose="02040503050406030204" pitchFamily="18" charset="0"/>
                      </a:rPr>
                      <m:t>&lt;0.005</m:t>
                    </m:r>
                  </m:oMath>
                </a14:m>
                <a:r>
                  <a:rPr lang="en-US" dirty="0"/>
                  <a:t>, well below the cross-protocol signal we want to resolve  </a:t>
                </a:r>
              </a:p>
            </p:txBody>
          </p:sp>
        </mc:Choice>
        <mc:Fallback xmlns="">
          <p:sp>
            <p:nvSpPr>
              <p:cNvPr id="7" name="TextBox 6">
                <a:extLst>
                  <a:ext uri="{FF2B5EF4-FFF2-40B4-BE49-F238E27FC236}">
                    <a16:creationId xmlns:a16="http://schemas.microsoft.com/office/drawing/2014/main" id="{7129FECD-9A0A-EAB8-DEFF-FCCB37DBA1D6}"/>
                  </a:ext>
                </a:extLst>
              </p:cNvPr>
              <p:cNvSpPr txBox="1">
                <a:spLocks noRot="1" noChangeAspect="1" noMove="1" noResize="1" noEditPoints="1" noAdjustHandles="1" noChangeArrowheads="1" noChangeShapeType="1" noTextEdit="1"/>
              </p:cNvSpPr>
              <p:nvPr/>
            </p:nvSpPr>
            <p:spPr>
              <a:xfrm>
                <a:off x="75385" y="5464969"/>
                <a:ext cx="12116615" cy="705578"/>
              </a:xfrm>
              <a:prstGeom prst="rect">
                <a:avLst/>
              </a:prstGeom>
              <a:blipFill>
                <a:blip r:embed="rId5"/>
                <a:stretch>
                  <a:fillRect l="-418" b="-10714"/>
                </a:stretch>
              </a:blipFill>
            </p:spPr>
            <p:txBody>
              <a:bodyPr/>
              <a:lstStyle/>
              <a:p>
                <a:r>
                  <a:rPr lang="en-US">
                    <a:noFill/>
                  </a:rPr>
                  <a:t> </a:t>
                </a:r>
              </a:p>
            </p:txBody>
          </p:sp>
        </mc:Fallback>
      </mc:AlternateContent>
    </p:spTree>
    <p:extLst>
      <p:ext uri="{BB962C8B-B14F-4D97-AF65-F5344CB8AC3E}">
        <p14:creationId xmlns:p14="http://schemas.microsoft.com/office/powerpoint/2010/main" val="407200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6</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1851789" cy="646331"/>
          </a:xfrm>
          <a:prstGeom prst="rect">
            <a:avLst/>
          </a:prstGeom>
          <a:noFill/>
        </p:spPr>
        <p:txBody>
          <a:bodyPr wrap="none" rtlCol="0">
            <a:spAutoFit/>
          </a:bodyPr>
          <a:lstStyle/>
          <a:p>
            <a:r>
              <a:rPr lang="en-US" sz="3600" b="1" dirty="0">
                <a:solidFill>
                  <a:schemeClr val="bg1"/>
                </a:solidFill>
              </a:rPr>
              <a:t>Results</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3481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6CC9-7CA2-F60D-B193-9CF7CCFDE97A}"/>
              </a:ext>
            </a:extLst>
          </p:cNvPr>
          <p:cNvSpPr>
            <a:spLocks noGrp="1"/>
          </p:cNvSpPr>
          <p:nvPr>
            <p:ph type="title"/>
          </p:nvPr>
        </p:nvSpPr>
        <p:spPr/>
        <p:txBody>
          <a:bodyPr/>
          <a:lstStyle/>
          <a:p>
            <a:r>
              <a:rPr lang="en-US" dirty="0"/>
              <a:t>Cross protocol identifiability</a:t>
            </a:r>
          </a:p>
        </p:txBody>
      </p:sp>
      <p:pic>
        <p:nvPicPr>
          <p:cNvPr id="3" name="Picture 2">
            <a:extLst>
              <a:ext uri="{FF2B5EF4-FFF2-40B4-BE49-F238E27FC236}">
                <a16:creationId xmlns:a16="http://schemas.microsoft.com/office/drawing/2014/main" id="{E7F96BBC-2FEB-C42B-8E7F-E1A5707194E2}"/>
              </a:ext>
            </a:extLst>
          </p:cNvPr>
          <p:cNvPicPr>
            <a:picLocks noChangeAspect="1"/>
          </p:cNvPicPr>
          <p:nvPr/>
        </p:nvPicPr>
        <p:blipFill>
          <a:blip r:embed="rId3"/>
          <a:stretch>
            <a:fillRect/>
          </a:stretch>
        </p:blipFill>
        <p:spPr>
          <a:xfrm>
            <a:off x="230695" y="1347787"/>
            <a:ext cx="5566857" cy="3538537"/>
          </a:xfrm>
          <a:prstGeom prst="rect">
            <a:avLst/>
          </a:prstGeom>
        </p:spPr>
      </p:pic>
      <p:pic>
        <p:nvPicPr>
          <p:cNvPr id="4" name="Picture 3">
            <a:extLst>
              <a:ext uri="{FF2B5EF4-FFF2-40B4-BE49-F238E27FC236}">
                <a16:creationId xmlns:a16="http://schemas.microsoft.com/office/drawing/2014/main" id="{4A423835-5F61-1C61-13A2-CE04C90A54A6}"/>
              </a:ext>
            </a:extLst>
          </p:cNvPr>
          <p:cNvPicPr>
            <a:picLocks noChangeAspect="1"/>
          </p:cNvPicPr>
          <p:nvPr/>
        </p:nvPicPr>
        <p:blipFill>
          <a:blip r:embed="rId4"/>
          <a:stretch>
            <a:fillRect/>
          </a:stretch>
        </p:blipFill>
        <p:spPr>
          <a:xfrm>
            <a:off x="6423023" y="1347787"/>
            <a:ext cx="5566857" cy="353853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B89D51E-735F-9ECF-ACC7-EA12C0512003}"/>
                  </a:ext>
                </a:extLst>
              </p:cNvPr>
              <p:cNvSpPr txBox="1"/>
              <p:nvPr/>
            </p:nvSpPr>
            <p:spPr>
              <a:xfrm>
                <a:off x="3622192" y="821321"/>
                <a:ext cx="5601662" cy="372410"/>
              </a:xfrm>
              <a:prstGeom prst="rect">
                <a:avLst/>
              </a:prstGeom>
              <a:noFill/>
            </p:spPr>
            <p:txBody>
              <a:bodyPr wrap="none" rtlCol="0">
                <a:spAutoFit/>
              </a:bodyPr>
              <a:lstStyle/>
              <a:p>
                <a:r>
                  <a:rPr lang="en-US" dirty="0"/>
                  <a:t>Cross-Protocol </a:t>
                </a:r>
                <a:r>
                  <a:rPr lang="en-US" dirty="0" err="1"/>
                  <a:t>Sobol</a:t>
                </a:r>
                <a:r>
                  <a:rPr lang="en-US" dirty="0"/>
                  <a:t> Indices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5</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𝑏𝑜𝑜𝑡</m:t>
                        </m:r>
                        <m:r>
                          <a:rPr lang="en-US" b="0" i="1" smtClean="0">
                            <a:latin typeface="Cambria Math" panose="02040503050406030204" pitchFamily="18" charset="0"/>
                          </a:rPr>
                          <m:t> </m:t>
                        </m:r>
                      </m:sub>
                    </m:sSub>
                    <m:r>
                      <a:rPr lang="en-US" b="0" i="1" smtClean="0">
                        <a:latin typeface="Cambria Math" panose="02040503050406030204" pitchFamily="18" charset="0"/>
                      </a:rPr>
                      <m:t>=200)</m:t>
                    </m:r>
                  </m:oMath>
                </a14:m>
                <a:endParaRPr lang="en-US" dirty="0"/>
              </a:p>
            </p:txBody>
          </p:sp>
        </mc:Choice>
        <mc:Fallback xmlns="">
          <p:sp>
            <p:nvSpPr>
              <p:cNvPr id="5" name="TextBox 4">
                <a:extLst>
                  <a:ext uri="{FF2B5EF4-FFF2-40B4-BE49-F238E27FC236}">
                    <a16:creationId xmlns:a16="http://schemas.microsoft.com/office/drawing/2014/main" id="{8B89D51E-735F-9ECF-ACC7-EA12C0512003}"/>
                  </a:ext>
                </a:extLst>
              </p:cNvPr>
              <p:cNvSpPr txBox="1">
                <a:spLocks noRot="1" noChangeAspect="1" noMove="1" noResize="1" noEditPoints="1" noAdjustHandles="1" noChangeArrowheads="1" noChangeShapeType="1" noTextEdit="1"/>
              </p:cNvSpPr>
              <p:nvPr/>
            </p:nvSpPr>
            <p:spPr>
              <a:xfrm>
                <a:off x="3622192" y="821321"/>
                <a:ext cx="5601662" cy="372410"/>
              </a:xfrm>
              <a:prstGeom prst="rect">
                <a:avLst/>
              </a:prstGeom>
              <a:blipFill>
                <a:blip r:embed="rId5"/>
                <a:stretch>
                  <a:fillRect l="-905" t="-6452" b="-22581"/>
                </a:stretch>
              </a:blipFill>
            </p:spPr>
            <p:txBody>
              <a:bodyPr/>
              <a:lstStyle/>
              <a:p>
                <a:r>
                  <a:rPr lang="en-US">
                    <a:noFill/>
                  </a:rPr>
                  <a:t> </a:t>
                </a:r>
              </a:p>
            </p:txBody>
          </p:sp>
        </mc:Fallback>
      </mc:AlternateContent>
    </p:spTree>
    <p:extLst>
      <p:ext uri="{BB962C8B-B14F-4D97-AF65-F5344CB8AC3E}">
        <p14:creationId xmlns:p14="http://schemas.microsoft.com/office/powerpoint/2010/main" val="3958054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7BC12-45B2-A400-F8CB-DA6F3A7DD378}"/>
              </a:ext>
            </a:extLst>
          </p:cNvPr>
          <p:cNvSpPr>
            <a:spLocks noGrp="1"/>
          </p:cNvSpPr>
          <p:nvPr>
            <p:ph type="title"/>
          </p:nvPr>
        </p:nvSpPr>
        <p:spPr/>
        <p:txBody>
          <a:bodyPr/>
          <a:lstStyle/>
          <a:p>
            <a:r>
              <a:rPr lang="en-US" dirty="0"/>
              <a:t>Loading Magnitude Controls</a:t>
            </a:r>
          </a:p>
        </p:txBody>
      </p:sp>
      <p:pic>
        <p:nvPicPr>
          <p:cNvPr id="3" name="Picture 2">
            <a:extLst>
              <a:ext uri="{FF2B5EF4-FFF2-40B4-BE49-F238E27FC236}">
                <a16:creationId xmlns:a16="http://schemas.microsoft.com/office/drawing/2014/main" id="{AC46E211-92CF-F2C3-2B1D-116C77624864}"/>
              </a:ext>
            </a:extLst>
          </p:cNvPr>
          <p:cNvPicPr>
            <a:picLocks noChangeAspect="1"/>
          </p:cNvPicPr>
          <p:nvPr/>
        </p:nvPicPr>
        <p:blipFill>
          <a:blip r:embed="rId3"/>
          <a:stretch>
            <a:fillRect/>
          </a:stretch>
        </p:blipFill>
        <p:spPr>
          <a:xfrm>
            <a:off x="633412" y="1299267"/>
            <a:ext cx="4954364" cy="3251301"/>
          </a:xfrm>
          <a:prstGeom prst="rect">
            <a:avLst/>
          </a:prstGeom>
        </p:spPr>
      </p:pic>
      <p:pic>
        <p:nvPicPr>
          <p:cNvPr id="4" name="Picture 3">
            <a:extLst>
              <a:ext uri="{FF2B5EF4-FFF2-40B4-BE49-F238E27FC236}">
                <a16:creationId xmlns:a16="http://schemas.microsoft.com/office/drawing/2014/main" id="{38E40A4D-00F9-CCDA-6F6C-7FFCC294B1D9}"/>
              </a:ext>
            </a:extLst>
          </p:cNvPr>
          <p:cNvPicPr>
            <a:picLocks noChangeAspect="1"/>
          </p:cNvPicPr>
          <p:nvPr/>
        </p:nvPicPr>
        <p:blipFill>
          <a:blip r:embed="rId4"/>
          <a:stretch>
            <a:fillRect/>
          </a:stretch>
        </p:blipFill>
        <p:spPr>
          <a:xfrm>
            <a:off x="7007688" y="1305206"/>
            <a:ext cx="4699119" cy="324536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D98993-7E81-BA19-58C0-F71CE6CA3A1F}"/>
                  </a:ext>
                </a:extLst>
              </p:cNvPr>
              <p:cNvSpPr txBox="1"/>
              <p:nvPr/>
            </p:nvSpPr>
            <p:spPr>
              <a:xfrm>
                <a:off x="357188" y="4929188"/>
                <a:ext cx="7491731"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=1.05</m:t>
                    </m:r>
                    <m:r>
                      <a:rPr lang="en-US" b="0" i="0" smtClean="0">
                        <a:latin typeface="Cambria Math" panose="02040503050406030204" pitchFamily="18" charset="0"/>
                        <a:ea typeface="Cambria Math" panose="02040503050406030204" pitchFamily="18" charset="0"/>
                      </a:rPr>
                      <m:t>:</m:t>
                    </m:r>
                  </m:oMath>
                </a14:m>
                <a:r>
                  <a:rPr lang="en-US" dirty="0"/>
                  <a:t> matrix stiffness dominates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𝑐</m:t>
                            </m:r>
                          </m:sub>
                        </m:sSub>
                        <m:r>
                          <a:rPr lang="en-US" b="0" i="1" smtClean="0">
                            <a:latin typeface="Cambria Math" panose="02040503050406030204" pitchFamily="18" charset="0"/>
                          </a:rPr>
                          <m:t>=0.84</m:t>
                        </m:r>
                      </m:e>
                    </m:d>
                    <m:r>
                      <a:rPr lang="en-US" b="0" i="1" smtClean="0">
                        <a:latin typeface="Cambria Math" panose="02040503050406030204" pitchFamily="18" charset="0"/>
                      </a:rPr>
                      <m:t>;</m:t>
                    </m:r>
                  </m:oMath>
                </a14:m>
                <a:r>
                  <a:rPr lang="en-US" dirty="0"/>
                  <a:t> fibers haven’t engaged</a:t>
                </a:r>
              </a:p>
            </p:txBody>
          </p:sp>
        </mc:Choice>
        <mc:Fallback xmlns="">
          <p:sp>
            <p:nvSpPr>
              <p:cNvPr id="5" name="TextBox 4">
                <a:extLst>
                  <a:ext uri="{FF2B5EF4-FFF2-40B4-BE49-F238E27FC236}">
                    <a16:creationId xmlns:a16="http://schemas.microsoft.com/office/drawing/2014/main" id="{0BD98993-7E81-BA19-58C0-F71CE6CA3A1F}"/>
                  </a:ext>
                </a:extLst>
              </p:cNvPr>
              <p:cNvSpPr txBox="1">
                <a:spLocks noRot="1" noChangeAspect="1" noMove="1" noResize="1" noEditPoints="1" noAdjustHandles="1" noChangeArrowheads="1" noChangeShapeType="1" noTextEdit="1"/>
              </p:cNvSpPr>
              <p:nvPr/>
            </p:nvSpPr>
            <p:spPr>
              <a:xfrm>
                <a:off x="357188" y="4929188"/>
                <a:ext cx="7491731" cy="369332"/>
              </a:xfrm>
              <a:prstGeom prst="rect">
                <a:avLst/>
              </a:prstGeom>
              <a:blipFill>
                <a:blip r:embed="rId5"/>
                <a:stretch>
                  <a:fillRect t="-10000"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DE607EF-EC55-ECA0-F7E6-2B94C02A78BD}"/>
                  </a:ext>
                </a:extLst>
              </p:cNvPr>
              <p:cNvSpPr txBox="1"/>
              <p:nvPr/>
            </p:nvSpPr>
            <p:spPr>
              <a:xfrm>
                <a:off x="357188" y="5438776"/>
                <a:ext cx="7849649" cy="369332"/>
              </a:xfrm>
              <a:prstGeom prst="rect">
                <a:avLst/>
              </a:prstGeom>
              <a:noFill/>
            </p:spPr>
            <p:txBody>
              <a:bodyPr wrap="none"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1.30:</m:t>
                    </m:r>
                  </m:oMath>
                </a14:m>
                <a:r>
                  <a:rPr lang="en-US" dirty="0"/>
                  <a:t> fiber nonlinearity takes over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𝑘</m:t>
                            </m:r>
                            <m:r>
                              <a:rPr lang="en-US" b="0" i="1" smtClean="0">
                                <a:latin typeface="Cambria Math" panose="02040503050406030204" pitchFamily="18" charset="0"/>
                              </a:rPr>
                              <m:t>2</m:t>
                            </m:r>
                          </m:sub>
                        </m:sSub>
                        <m:r>
                          <a:rPr lang="en-US" b="0" i="1" smtClean="0">
                            <a:latin typeface="Cambria Math" panose="02040503050406030204" pitchFamily="18" charset="0"/>
                          </a:rPr>
                          <m:t>=0.39</m:t>
                        </m:r>
                      </m:e>
                    </m:d>
                    <m:r>
                      <a:rPr lang="en-US" b="0" i="1" smtClean="0">
                        <a:latin typeface="Cambria Math" panose="02040503050406030204" pitchFamily="18" charset="0"/>
                      </a:rPr>
                      <m:t>;</m:t>
                    </m:r>
                  </m:oMath>
                </a14:m>
                <a:r>
                  <a:rPr lang="en-US" dirty="0"/>
                  <a:t> matrix collapses to 0.03</a:t>
                </a:r>
              </a:p>
            </p:txBody>
          </p:sp>
        </mc:Choice>
        <mc:Fallback xmlns="">
          <p:sp>
            <p:nvSpPr>
              <p:cNvPr id="6" name="TextBox 5">
                <a:extLst>
                  <a:ext uri="{FF2B5EF4-FFF2-40B4-BE49-F238E27FC236}">
                    <a16:creationId xmlns:a16="http://schemas.microsoft.com/office/drawing/2014/main" id="{1DE607EF-EC55-ECA0-F7E6-2B94C02A78BD}"/>
                  </a:ext>
                </a:extLst>
              </p:cNvPr>
              <p:cNvSpPr txBox="1">
                <a:spLocks noRot="1" noChangeAspect="1" noMove="1" noResize="1" noEditPoints="1" noAdjustHandles="1" noChangeArrowheads="1" noChangeShapeType="1" noTextEdit="1"/>
              </p:cNvSpPr>
              <p:nvPr/>
            </p:nvSpPr>
            <p:spPr>
              <a:xfrm>
                <a:off x="357188" y="5438776"/>
                <a:ext cx="7849649" cy="369332"/>
              </a:xfrm>
              <a:prstGeom prst="rect">
                <a:avLst/>
              </a:prstGeom>
              <a:blipFill>
                <a:blip r:embed="rId6"/>
                <a:stretch>
                  <a:fillRect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0D3157-13A3-80B4-2019-CB72561A1CD1}"/>
                  </a:ext>
                </a:extLst>
              </p:cNvPr>
              <p:cNvSpPr txBox="1"/>
              <p:nvPr/>
            </p:nvSpPr>
            <p:spPr>
              <a:xfrm>
                <a:off x="385763" y="6157913"/>
                <a:ext cx="7810921" cy="369332"/>
              </a:xfrm>
              <a:prstGeom prst="rect">
                <a:avLst/>
              </a:prstGeom>
              <a:noFill/>
            </p:spPr>
            <p:txBody>
              <a:bodyPr wrap="none" rtlCol="0">
                <a:spAutoFit/>
              </a:bodyPr>
              <a:lstStyle/>
              <a:p>
                <a:r>
                  <a:rPr lang="en-US" dirty="0">
                    <a:solidFill>
                      <a:schemeClr val="accent4"/>
                    </a:solidFill>
                  </a:rPr>
                  <a:t>Crossover at </a:t>
                </a:r>
                <a14:m>
                  <m:oMath xmlns:m="http://schemas.openxmlformats.org/officeDocument/2006/math">
                    <m:r>
                      <a:rPr lang="en-US" i="1" smtClean="0">
                        <a:solidFill>
                          <a:schemeClr val="accent4"/>
                        </a:solidFill>
                        <a:latin typeface="Cambria Math" panose="02040503050406030204" pitchFamily="18" charset="0"/>
                        <a:ea typeface="Cambria Math" panose="02040503050406030204" pitchFamily="18" charset="0"/>
                      </a:rPr>
                      <m:t>𝜆</m:t>
                    </m:r>
                    <m:r>
                      <a:rPr lang="en-US" i="1" smtClean="0">
                        <a:solidFill>
                          <a:schemeClr val="accent4"/>
                        </a:solidFill>
                        <a:latin typeface="Cambria Math" panose="02040503050406030204" pitchFamily="18" charset="0"/>
                        <a:ea typeface="Cambria Math" panose="02040503050406030204" pitchFamily="18" charset="0"/>
                      </a:rPr>
                      <m:t>≈1.22</m:t>
                    </m:r>
                  </m:oMath>
                </a14:m>
                <a:r>
                  <a:rPr lang="en-US" dirty="0">
                    <a:solidFill>
                      <a:schemeClr val="accent4"/>
                    </a:solidFill>
                  </a:rPr>
                  <a:t> – the matrix-to-fiber transition in the sensitivity data</a:t>
                </a:r>
              </a:p>
            </p:txBody>
          </p:sp>
        </mc:Choice>
        <mc:Fallback xmlns="">
          <p:sp>
            <p:nvSpPr>
              <p:cNvPr id="7" name="TextBox 6">
                <a:extLst>
                  <a:ext uri="{FF2B5EF4-FFF2-40B4-BE49-F238E27FC236}">
                    <a16:creationId xmlns:a16="http://schemas.microsoft.com/office/drawing/2014/main" id="{9D0D3157-13A3-80B4-2019-CB72561A1CD1}"/>
                  </a:ext>
                </a:extLst>
              </p:cNvPr>
              <p:cNvSpPr txBox="1">
                <a:spLocks noRot="1" noChangeAspect="1" noMove="1" noResize="1" noEditPoints="1" noAdjustHandles="1" noChangeArrowheads="1" noChangeShapeType="1" noTextEdit="1"/>
              </p:cNvSpPr>
              <p:nvPr/>
            </p:nvSpPr>
            <p:spPr>
              <a:xfrm>
                <a:off x="385763" y="6157913"/>
                <a:ext cx="7810921" cy="369332"/>
              </a:xfrm>
              <a:prstGeom prst="rect">
                <a:avLst/>
              </a:prstGeom>
              <a:blipFill>
                <a:blip r:embed="rId7"/>
                <a:stretch>
                  <a:fillRect l="-649" t="-6452" b="-22581"/>
                </a:stretch>
              </a:blipFill>
            </p:spPr>
            <p:txBody>
              <a:bodyPr/>
              <a:lstStyle/>
              <a:p>
                <a:r>
                  <a:rPr lang="en-US">
                    <a:noFill/>
                  </a:rPr>
                  <a:t> </a:t>
                </a:r>
              </a:p>
            </p:txBody>
          </p:sp>
        </mc:Fallback>
      </mc:AlternateContent>
    </p:spTree>
    <p:extLst>
      <p:ext uri="{BB962C8B-B14F-4D97-AF65-F5344CB8AC3E}">
        <p14:creationId xmlns:p14="http://schemas.microsoft.com/office/powerpoint/2010/main" val="2743105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22F3D-2D05-D625-2ED9-16099EE408F8}"/>
              </a:ext>
            </a:extLst>
          </p:cNvPr>
          <p:cNvSpPr>
            <a:spLocks noGrp="1"/>
          </p:cNvSpPr>
          <p:nvPr>
            <p:ph type="title"/>
          </p:nvPr>
        </p:nvSpPr>
        <p:spPr/>
        <p:txBody>
          <a:bodyPr/>
          <a:lstStyle/>
          <a:p>
            <a:r>
              <a:rPr lang="en-US" dirty="0"/>
              <a:t>Strong Scaling on NOVA</a:t>
            </a:r>
          </a:p>
        </p:txBody>
      </p:sp>
      <p:pic>
        <p:nvPicPr>
          <p:cNvPr id="4" name="Picture 3">
            <a:extLst>
              <a:ext uri="{FF2B5EF4-FFF2-40B4-BE49-F238E27FC236}">
                <a16:creationId xmlns:a16="http://schemas.microsoft.com/office/drawing/2014/main" id="{C0CBEB9C-BAC4-CBDB-D244-DD7F21B7A616}"/>
              </a:ext>
            </a:extLst>
          </p:cNvPr>
          <p:cNvPicPr>
            <a:picLocks noChangeAspect="1"/>
          </p:cNvPicPr>
          <p:nvPr/>
        </p:nvPicPr>
        <p:blipFill>
          <a:blip r:embed="rId3"/>
          <a:stretch>
            <a:fillRect/>
          </a:stretch>
        </p:blipFill>
        <p:spPr>
          <a:xfrm>
            <a:off x="6340474" y="980281"/>
            <a:ext cx="5397500" cy="3810000"/>
          </a:xfrm>
          <a:prstGeom prst="rect">
            <a:avLst/>
          </a:prstGeom>
        </p:spPr>
      </p:pic>
      <p:pic>
        <p:nvPicPr>
          <p:cNvPr id="5" name="Picture 4">
            <a:extLst>
              <a:ext uri="{FF2B5EF4-FFF2-40B4-BE49-F238E27FC236}">
                <a16:creationId xmlns:a16="http://schemas.microsoft.com/office/drawing/2014/main" id="{209083A8-8578-D2A6-A9BD-53D46AA8E6CB}"/>
              </a:ext>
            </a:extLst>
          </p:cNvPr>
          <p:cNvPicPr>
            <a:picLocks noChangeAspect="1"/>
          </p:cNvPicPr>
          <p:nvPr/>
        </p:nvPicPr>
        <p:blipFill>
          <a:blip r:embed="rId4"/>
          <a:stretch>
            <a:fillRect/>
          </a:stretch>
        </p:blipFill>
        <p:spPr>
          <a:xfrm>
            <a:off x="454026" y="980281"/>
            <a:ext cx="5447506" cy="381000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58B92CE-5773-E5E0-0E22-BD7DBF7E66FB}"/>
                  </a:ext>
                </a:extLst>
              </p:cNvPr>
              <p:cNvSpPr txBox="1"/>
              <p:nvPr/>
            </p:nvSpPr>
            <p:spPr>
              <a:xfrm>
                <a:off x="0" y="5314950"/>
                <a:ext cx="11921533" cy="369332"/>
              </a:xfrm>
              <a:prstGeom prst="rect">
                <a:avLst/>
              </a:prstGeom>
              <a:noFill/>
            </p:spPr>
            <p:txBody>
              <a:bodyPr wrap="none" rtlCol="0">
                <a:spAutoFit/>
              </a:bodyPr>
              <a:lstStyle/>
              <a:p>
                <a:r>
                  <a:rPr lang="en-US" dirty="0"/>
                  <a:t>Wall time at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10</m:t>
                        </m:r>
                      </m:e>
                      <m:sup>
                        <m:r>
                          <a:rPr lang="en-US" b="0" i="1" smtClean="0">
                            <a:latin typeface="Cambria Math" panose="02040503050406030204" pitchFamily="18" charset="0"/>
                          </a:rPr>
                          <m:t>6</m:t>
                        </m:r>
                      </m:sup>
                    </m:sSup>
                  </m:oMath>
                </a14:m>
                <a:r>
                  <a:rPr lang="en-US" dirty="0"/>
                  <a:t> across 4 protocols: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50 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oMath>
                </a14:m>
                <a:r>
                  <a:rPr lang="en-US" dirty="0"/>
                  <a:t>on 1 core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𝑜𝑛</m:t>
                    </m:r>
                    <m:r>
                      <a:rPr lang="en-US" b="0" i="1" smtClean="0">
                        <a:latin typeface="Cambria Math" panose="02040503050406030204" pitchFamily="18" charset="0"/>
                        <a:ea typeface="Cambria Math" panose="02040503050406030204" pitchFamily="18" charset="0"/>
                      </a:rPr>
                      <m:t> 32 </m:t>
                    </m:r>
                    <m:r>
                      <a:rPr lang="en-US" b="0" i="1" smtClean="0">
                        <a:latin typeface="Cambria Math" panose="02040503050406030204" pitchFamily="18" charset="0"/>
                        <a:ea typeface="Cambria Math" panose="02040503050406030204" pitchFamily="18" charset="0"/>
                      </a:rPr>
                      <m:t>𝑐𝑜𝑟𝑒𝑠</m:t>
                    </m:r>
                    <m:r>
                      <a:rPr lang="en-US" b="0" i="1" smtClean="0">
                        <a:latin typeface="Cambria Math" panose="02040503050406030204" pitchFamily="18" charset="0"/>
                        <a:ea typeface="Cambria Math" panose="02040503050406030204" pitchFamily="18" charset="0"/>
                      </a:rPr>
                      <m:t>. ~92%</m:t>
                    </m:r>
                  </m:oMath>
                </a14:m>
                <a:r>
                  <a:rPr lang="en-US" dirty="0"/>
                  <a:t> parallel efficiency at 16 cores</a:t>
                </a:r>
              </a:p>
            </p:txBody>
          </p:sp>
        </mc:Choice>
        <mc:Fallback xmlns="">
          <p:sp>
            <p:nvSpPr>
              <p:cNvPr id="6" name="TextBox 5">
                <a:extLst>
                  <a:ext uri="{FF2B5EF4-FFF2-40B4-BE49-F238E27FC236}">
                    <a16:creationId xmlns:a16="http://schemas.microsoft.com/office/drawing/2014/main" id="{D58B92CE-5773-E5E0-0E22-BD7DBF7E66FB}"/>
                  </a:ext>
                </a:extLst>
              </p:cNvPr>
              <p:cNvSpPr txBox="1">
                <a:spLocks noRot="1" noChangeAspect="1" noMove="1" noResize="1" noEditPoints="1" noAdjustHandles="1" noChangeArrowheads="1" noChangeShapeType="1" noTextEdit="1"/>
              </p:cNvSpPr>
              <p:nvPr/>
            </p:nvSpPr>
            <p:spPr>
              <a:xfrm>
                <a:off x="0" y="5314950"/>
                <a:ext cx="11921533" cy="369332"/>
              </a:xfrm>
              <a:prstGeom prst="rect">
                <a:avLst/>
              </a:prstGeom>
              <a:blipFill>
                <a:blip r:embed="rId5"/>
                <a:stretch>
                  <a:fillRect l="-426" t="-6667" r="-426" b="-26667"/>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11AD7BC1-CB20-9E84-A401-2C7BA24D9620}"/>
              </a:ext>
            </a:extLst>
          </p:cNvPr>
          <p:cNvCxnSpPr>
            <a:cxnSpLocks/>
          </p:cNvCxnSpPr>
          <p:nvPr/>
        </p:nvCxnSpPr>
        <p:spPr>
          <a:xfrm>
            <a:off x="5901532" y="5494939"/>
            <a:ext cx="488948" cy="0"/>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7FFF7F9-6E21-9680-1AD4-4F217C07335C}"/>
              </a:ext>
            </a:extLst>
          </p:cNvPr>
          <p:cNvSpPr/>
          <p:nvPr/>
        </p:nvSpPr>
        <p:spPr>
          <a:xfrm>
            <a:off x="4322617" y="1652995"/>
            <a:ext cx="1440873" cy="23122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0A03381-DE8A-2CF2-B5DA-A258CCA65D03}"/>
              </a:ext>
            </a:extLst>
          </p:cNvPr>
          <p:cNvSpPr txBox="1"/>
          <p:nvPr/>
        </p:nvSpPr>
        <p:spPr>
          <a:xfrm>
            <a:off x="4281052" y="1616251"/>
            <a:ext cx="580608" cy="276999"/>
          </a:xfrm>
          <a:prstGeom prst="rect">
            <a:avLst/>
          </a:prstGeom>
          <a:noFill/>
        </p:spPr>
        <p:txBody>
          <a:bodyPr wrap="none" rtlCol="0">
            <a:spAutoFit/>
          </a:bodyPr>
          <a:lstStyle/>
          <a:p>
            <a:r>
              <a:rPr lang="en-US" sz="1200" dirty="0">
                <a:solidFill>
                  <a:schemeClr val="bg1"/>
                </a:solidFill>
                <a:latin typeface="DEJAVU SANS" panose="020B0603030804020204" pitchFamily="34" charset="0"/>
                <a:ea typeface="DEJAVU SANS" panose="020B0603030804020204" pitchFamily="34" charset="0"/>
                <a:cs typeface="DEJAVU SANS" panose="020B0603030804020204" pitchFamily="34" charset="0"/>
              </a:rPr>
              <a:t>Nova</a:t>
            </a:r>
          </a:p>
        </p:txBody>
      </p:sp>
      <p:sp>
        <p:nvSpPr>
          <p:cNvPr id="10" name="Rectangle 9">
            <a:extLst>
              <a:ext uri="{FF2B5EF4-FFF2-40B4-BE49-F238E27FC236}">
                <a16:creationId xmlns:a16="http://schemas.microsoft.com/office/drawing/2014/main" id="{8A55FAE3-35A9-C2A6-C0EE-7A86DD708D82}"/>
              </a:ext>
            </a:extLst>
          </p:cNvPr>
          <p:cNvSpPr/>
          <p:nvPr/>
        </p:nvSpPr>
        <p:spPr>
          <a:xfrm>
            <a:off x="7412180" y="1588541"/>
            <a:ext cx="1731820" cy="26796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92AA2CB6-9FED-CAE5-44E7-7FFBE293FDCD}"/>
              </a:ext>
            </a:extLst>
          </p:cNvPr>
          <p:cNvSpPr txBox="1"/>
          <p:nvPr/>
        </p:nvSpPr>
        <p:spPr>
          <a:xfrm>
            <a:off x="7342905" y="1579509"/>
            <a:ext cx="1497526" cy="276999"/>
          </a:xfrm>
          <a:prstGeom prst="rect">
            <a:avLst/>
          </a:prstGeom>
          <a:noFill/>
        </p:spPr>
        <p:txBody>
          <a:bodyPr wrap="none" rtlCol="0">
            <a:spAutoFit/>
          </a:bodyPr>
          <a:lstStyle/>
          <a:p>
            <a:r>
              <a:rPr lang="en-US" sz="1200" dirty="0">
                <a:solidFill>
                  <a:schemeClr val="bg1"/>
                </a:solidFill>
                <a:latin typeface="DEJAVU SANS" panose="020B0603030804020204" pitchFamily="34" charset="0"/>
                <a:ea typeface="DEJAVU SANS" panose="020B0603030804020204" pitchFamily="34" charset="0"/>
                <a:cs typeface="DEJAVU SANS" panose="020B0603030804020204" pitchFamily="34" charset="0"/>
              </a:rPr>
              <a:t>~ 92% efficiency</a:t>
            </a:r>
          </a:p>
        </p:txBody>
      </p:sp>
    </p:spTree>
    <p:extLst>
      <p:ext uri="{BB962C8B-B14F-4D97-AF65-F5344CB8AC3E}">
        <p14:creationId xmlns:p14="http://schemas.microsoft.com/office/powerpoint/2010/main" val="20598661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dirty="0"/>
              <a:t>Section 7</a:t>
            </a:r>
          </a:p>
        </p:txBody>
      </p:sp>
      <p:sp>
        <p:nvSpPr>
          <p:cNvPr id="3" name="TextBox 2">
            <a:extLst>
              <a:ext uri="{FF2B5EF4-FFF2-40B4-BE49-F238E27FC236}">
                <a16:creationId xmlns:a16="http://schemas.microsoft.com/office/drawing/2014/main" id="{21DE3C09-6D3C-337C-CD94-370EDC430F9F}"/>
              </a:ext>
            </a:extLst>
          </p:cNvPr>
          <p:cNvSpPr txBox="1"/>
          <p:nvPr/>
        </p:nvSpPr>
        <p:spPr>
          <a:xfrm>
            <a:off x="0" y="2352502"/>
            <a:ext cx="6075381" cy="646331"/>
          </a:xfrm>
          <a:prstGeom prst="rect">
            <a:avLst/>
          </a:prstGeom>
          <a:noFill/>
        </p:spPr>
        <p:txBody>
          <a:bodyPr wrap="none" rtlCol="0">
            <a:spAutoFit/>
          </a:bodyPr>
          <a:lstStyle/>
          <a:p>
            <a:r>
              <a:rPr lang="en-US" sz="3600" b="1" dirty="0">
                <a:solidFill>
                  <a:schemeClr val="bg1"/>
                </a:solidFill>
              </a:rPr>
              <a:t>Summary and Future Work</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99753" y="3192087"/>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205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E41F-5757-F143-4864-918C83DAA0F3}"/>
              </a:ext>
            </a:extLst>
          </p:cNvPr>
          <p:cNvSpPr>
            <a:spLocks noGrp="1"/>
          </p:cNvSpPr>
          <p:nvPr>
            <p:ph type="title"/>
          </p:nvPr>
        </p:nvSpPr>
        <p:spPr/>
        <p:txBody>
          <a:bodyPr/>
          <a:lstStyle/>
          <a:p>
            <a:r>
              <a:rPr lang="en-US" dirty="0"/>
              <a:t>Summary &amp; Future Work</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6E4C6F1-C3AC-DCDA-A947-BE67D3222DBE}"/>
                  </a:ext>
                </a:extLst>
              </p:cNvPr>
              <p:cNvSpPr txBox="1"/>
              <p:nvPr/>
            </p:nvSpPr>
            <p:spPr>
              <a:xfrm>
                <a:off x="212785" y="1298984"/>
                <a:ext cx="11979215" cy="2031325"/>
              </a:xfrm>
              <a:prstGeom prst="rect">
                <a:avLst/>
              </a:prstGeom>
              <a:noFill/>
            </p:spPr>
            <p:txBody>
              <a:bodyPr wrap="square" rtlCol="0">
                <a:spAutoFit/>
              </a:bodyPr>
              <a:lstStyle/>
              <a:p>
                <a:pPr marL="285750" indent="-285750" algn="just">
                  <a:buFont typeface="Wingdings" pitchFamily="2" charset="2"/>
                  <a:buChar char="q"/>
                </a:pPr>
                <a:r>
                  <a:rPr lang="en-US" dirty="0"/>
                  <a:t>Sensitivity analysis gives a quantitative answer to which protocol identifies which parameter</a:t>
                </a:r>
              </a:p>
              <a:p>
                <a:pPr marL="285750" indent="-285750" algn="just">
                  <a:buFont typeface="Wingdings" pitchFamily="2" charset="2"/>
                  <a:buChar char="q"/>
                </a:pPr>
                <a:endParaRPr lang="en-US" dirty="0"/>
              </a:p>
              <a:p>
                <a:pPr marL="285750" indent="-285750" algn="just">
                  <a:buFont typeface="Wingdings" pitchFamily="2" charset="2"/>
                  <a:buChar char="q"/>
                </a:pPr>
                <a:r>
                  <a:rPr lang="en-US" dirty="0"/>
                  <a:t>Empirical </a:t>
                </a:r>
                <a:r>
                  <a:rPr lang="en-US" dirty="0" err="1"/>
                  <a:t>equibiaxial</a:t>
                </a:r>
                <a:r>
                  <a:rPr lang="en-US" dirty="0"/>
                  <a:t> failure for fiber angle now has a clean variance decomposition explanation: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𝑆</m:t>
                        </m:r>
                      </m:e>
                      <m:sub>
                        <m:r>
                          <a:rPr lang="en-US" i="1" smtClean="0">
                            <a:latin typeface="Cambria Math" panose="02040503050406030204" pitchFamily="18" charset="0"/>
                            <a:ea typeface="Cambria Math" panose="02040503050406030204" pitchFamily="18" charset="0"/>
                          </a:rPr>
                          <m:t>𝛼</m:t>
                        </m:r>
                      </m:sub>
                    </m:sSub>
                    <m:r>
                      <a:rPr lang="en-US" b="0" i="1" smtClean="0">
                        <a:latin typeface="Cambria Math" panose="02040503050406030204" pitchFamily="18" charset="0"/>
                      </a:rPr>
                      <m:t>=0.08</m:t>
                    </m:r>
                  </m:oMath>
                </a14:m>
                <a:r>
                  <a:rPr lang="en-US" dirty="0"/>
                  <a:t> </a:t>
                </a:r>
                <a:r>
                  <a:rPr lang="en-US" dirty="0" err="1"/>
                  <a:t>equibiaxial</a:t>
                </a:r>
                <a:r>
                  <a:rPr lang="en-US" dirty="0"/>
                  <a:t> vs 0.31 uniaxial</a:t>
                </a:r>
              </a:p>
              <a:p>
                <a:pPr marL="285750" indent="-285750" algn="just">
                  <a:buFont typeface="Wingdings" pitchFamily="2" charset="2"/>
                  <a:buChar char="q"/>
                </a:pPr>
                <a:endParaRPr lang="en-US" dirty="0"/>
              </a:p>
              <a:p>
                <a:pPr marL="285750" indent="-285750" algn="just">
                  <a:buFont typeface="Wingdings" pitchFamily="2" charset="2"/>
                  <a:buChar char="q"/>
                </a:pPr>
                <a:r>
                  <a:rPr lang="en-US" dirty="0"/>
                  <a:t>No single loading protocol identifies all four HGO parameters. Production calibrations should combine at least two protocols</a:t>
                </a:r>
              </a:p>
            </p:txBody>
          </p:sp>
        </mc:Choice>
        <mc:Fallback xmlns="">
          <p:sp>
            <p:nvSpPr>
              <p:cNvPr id="3" name="TextBox 2">
                <a:extLst>
                  <a:ext uri="{FF2B5EF4-FFF2-40B4-BE49-F238E27FC236}">
                    <a16:creationId xmlns:a16="http://schemas.microsoft.com/office/drawing/2014/main" id="{06E4C6F1-C3AC-DCDA-A947-BE67D3222DBE}"/>
                  </a:ext>
                </a:extLst>
              </p:cNvPr>
              <p:cNvSpPr txBox="1">
                <a:spLocks noRot="1" noChangeAspect="1" noMove="1" noResize="1" noEditPoints="1" noAdjustHandles="1" noChangeArrowheads="1" noChangeShapeType="1" noTextEdit="1"/>
              </p:cNvSpPr>
              <p:nvPr/>
            </p:nvSpPr>
            <p:spPr>
              <a:xfrm>
                <a:off x="212785" y="1298984"/>
                <a:ext cx="11979215" cy="2031325"/>
              </a:xfrm>
              <a:prstGeom prst="rect">
                <a:avLst/>
              </a:prstGeom>
              <a:blipFill>
                <a:blip r:embed="rId2"/>
                <a:stretch>
                  <a:fillRect l="-317" t="-1242" r="-317" b="-3727"/>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46224CCF-9732-994E-DE4E-A2C75FCB7034}"/>
              </a:ext>
            </a:extLst>
          </p:cNvPr>
          <p:cNvSpPr txBox="1"/>
          <p:nvPr/>
        </p:nvSpPr>
        <p:spPr>
          <a:xfrm>
            <a:off x="86264" y="798458"/>
            <a:ext cx="1236236" cy="369332"/>
          </a:xfrm>
          <a:prstGeom prst="rect">
            <a:avLst/>
          </a:prstGeom>
          <a:noFill/>
        </p:spPr>
        <p:txBody>
          <a:bodyPr wrap="none" rtlCol="0">
            <a:spAutoFit/>
          </a:bodyPr>
          <a:lstStyle/>
          <a:p>
            <a:r>
              <a:rPr lang="en-US" b="1" dirty="0">
                <a:solidFill>
                  <a:schemeClr val="accent4"/>
                </a:solidFill>
              </a:rPr>
              <a:t>Summary</a:t>
            </a:r>
          </a:p>
        </p:txBody>
      </p:sp>
      <p:sp>
        <p:nvSpPr>
          <p:cNvPr id="5" name="TextBox 4">
            <a:extLst>
              <a:ext uri="{FF2B5EF4-FFF2-40B4-BE49-F238E27FC236}">
                <a16:creationId xmlns:a16="http://schemas.microsoft.com/office/drawing/2014/main" id="{3C0F793F-86DD-8336-4EFD-1D1C66493525}"/>
              </a:ext>
            </a:extLst>
          </p:cNvPr>
          <p:cNvSpPr txBox="1"/>
          <p:nvPr/>
        </p:nvSpPr>
        <p:spPr>
          <a:xfrm>
            <a:off x="86264" y="3592696"/>
            <a:ext cx="1539845" cy="369332"/>
          </a:xfrm>
          <a:prstGeom prst="rect">
            <a:avLst/>
          </a:prstGeom>
          <a:noFill/>
        </p:spPr>
        <p:txBody>
          <a:bodyPr wrap="none" rtlCol="0">
            <a:spAutoFit/>
          </a:bodyPr>
          <a:lstStyle/>
          <a:p>
            <a:r>
              <a:rPr lang="en-US" b="1" dirty="0">
                <a:solidFill>
                  <a:schemeClr val="accent4"/>
                </a:solidFill>
              </a:rPr>
              <a:t>Future Work</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0ADA395-5B2F-5D6A-CB72-73C8F778361A}"/>
                  </a:ext>
                </a:extLst>
              </p:cNvPr>
              <p:cNvSpPr txBox="1"/>
              <p:nvPr/>
            </p:nvSpPr>
            <p:spPr>
              <a:xfrm>
                <a:off x="212785" y="4196006"/>
                <a:ext cx="11979215" cy="2031325"/>
              </a:xfrm>
              <a:prstGeom prst="rect">
                <a:avLst/>
              </a:prstGeom>
              <a:noFill/>
            </p:spPr>
            <p:txBody>
              <a:bodyPr wrap="square" rtlCol="0">
                <a:spAutoFit/>
              </a:bodyPr>
              <a:lstStyle/>
              <a:p>
                <a:pPr marL="285750" indent="-285750">
                  <a:buFont typeface="Wingdings" pitchFamily="2" charset="2"/>
                  <a:buChar char="q"/>
                </a:pPr>
                <a:r>
                  <a:rPr lang="en-US" dirty="0"/>
                  <a:t>Extend HGO to GOH model – adds fiber dispersion parameter </a:t>
                </a:r>
                <a14:m>
                  <m:oMath xmlns:m="http://schemas.openxmlformats.org/officeDocument/2006/math">
                    <m:r>
                      <a:rPr lang="en-US" i="1" smtClean="0">
                        <a:latin typeface="Cambria Math" panose="02040503050406030204" pitchFamily="18" charset="0"/>
                        <a:ea typeface="Cambria Math" panose="02040503050406030204" pitchFamily="18" charset="0"/>
                      </a:rPr>
                      <m:t>𝜅</m:t>
                    </m:r>
                  </m:oMath>
                </a14:m>
                <a:r>
                  <a:rPr lang="en-US" dirty="0"/>
                  <a:t>. Tests whether dispersion is identifiable from biaxial protocols</a:t>
                </a:r>
              </a:p>
              <a:p>
                <a:pPr marL="285750" indent="-285750">
                  <a:buFont typeface="Wingdings" pitchFamily="2" charset="2"/>
                  <a:buChar char="q"/>
                </a:pPr>
                <a:endParaRPr lang="en-US" dirty="0"/>
              </a:p>
              <a:p>
                <a:pPr marL="285750" indent="-285750">
                  <a:buFont typeface="Wingdings" pitchFamily="2" charset="2"/>
                  <a:buChar char="q"/>
                </a:pPr>
                <a:r>
                  <a:rPr lang="en-US" dirty="0"/>
                  <a:t>Integrate as a pre-screening step in my constitutive-discovery pipeline – flag unidentifiable parameter combinations before sparse regression</a:t>
                </a:r>
              </a:p>
              <a:p>
                <a:pPr marL="285750" indent="-285750">
                  <a:buFont typeface="Wingdings" pitchFamily="2" charset="2"/>
                  <a:buChar char="q"/>
                </a:pPr>
                <a:endParaRPr lang="en-US" dirty="0"/>
              </a:p>
              <a:p>
                <a:r>
                  <a:rPr lang="en-US" dirty="0"/>
                  <a:t> </a:t>
                </a:r>
              </a:p>
            </p:txBody>
          </p:sp>
        </mc:Choice>
        <mc:Fallback xmlns="">
          <p:sp>
            <p:nvSpPr>
              <p:cNvPr id="6" name="TextBox 5">
                <a:extLst>
                  <a:ext uri="{FF2B5EF4-FFF2-40B4-BE49-F238E27FC236}">
                    <a16:creationId xmlns:a16="http://schemas.microsoft.com/office/drawing/2014/main" id="{F0ADA395-5B2F-5D6A-CB72-73C8F778361A}"/>
                  </a:ext>
                </a:extLst>
              </p:cNvPr>
              <p:cNvSpPr txBox="1">
                <a:spLocks noRot="1" noChangeAspect="1" noMove="1" noResize="1" noEditPoints="1" noAdjustHandles="1" noChangeArrowheads="1" noChangeShapeType="1" noTextEdit="1"/>
              </p:cNvSpPr>
              <p:nvPr/>
            </p:nvSpPr>
            <p:spPr>
              <a:xfrm>
                <a:off x="212785" y="4196006"/>
                <a:ext cx="11979215" cy="2031325"/>
              </a:xfrm>
              <a:prstGeom prst="rect">
                <a:avLst/>
              </a:prstGeom>
              <a:blipFill>
                <a:blip r:embed="rId3"/>
                <a:stretch>
                  <a:fillRect l="-317" t="-1242"/>
                </a:stretch>
              </a:blipFill>
            </p:spPr>
            <p:txBody>
              <a:bodyPr/>
              <a:lstStyle/>
              <a:p>
                <a:r>
                  <a:rPr lang="en-US">
                    <a:noFill/>
                  </a:rPr>
                  <a:t> </a:t>
                </a:r>
              </a:p>
            </p:txBody>
          </p:sp>
        </mc:Fallback>
      </mc:AlternateContent>
    </p:spTree>
    <p:extLst>
      <p:ext uri="{BB962C8B-B14F-4D97-AF65-F5344CB8AC3E}">
        <p14:creationId xmlns:p14="http://schemas.microsoft.com/office/powerpoint/2010/main" val="12158797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09437-0645-9580-048B-83AA412A8B37}"/>
              </a:ext>
            </a:extLst>
          </p:cNvPr>
          <p:cNvSpPr>
            <a:spLocks noGrp="1"/>
          </p:cNvSpPr>
          <p:nvPr>
            <p:ph type="title"/>
          </p:nvPr>
        </p:nvSpPr>
        <p:spPr>
          <a:xfrm>
            <a:off x="0" y="1438102"/>
            <a:ext cx="12192000" cy="914400"/>
          </a:xfrm>
        </p:spPr>
        <p:txBody>
          <a:bodyPr>
            <a:normAutofit/>
          </a:bodyPr>
          <a:lstStyle/>
          <a:p>
            <a:r>
              <a:rPr lang="en-US" sz="2400" b="1" dirty="0"/>
              <a:t>Thank you</a:t>
            </a:r>
          </a:p>
        </p:txBody>
      </p:sp>
      <p:sp>
        <p:nvSpPr>
          <p:cNvPr id="3" name="TextBox 2">
            <a:extLst>
              <a:ext uri="{FF2B5EF4-FFF2-40B4-BE49-F238E27FC236}">
                <a16:creationId xmlns:a16="http://schemas.microsoft.com/office/drawing/2014/main" id="{21DE3C09-6D3C-337C-CD94-370EDC430F9F}"/>
              </a:ext>
            </a:extLst>
          </p:cNvPr>
          <p:cNvSpPr txBox="1"/>
          <p:nvPr/>
        </p:nvSpPr>
        <p:spPr>
          <a:xfrm>
            <a:off x="5149969" y="5294110"/>
            <a:ext cx="2723823" cy="646331"/>
          </a:xfrm>
          <a:prstGeom prst="rect">
            <a:avLst/>
          </a:prstGeom>
          <a:noFill/>
        </p:spPr>
        <p:txBody>
          <a:bodyPr wrap="none" rtlCol="0">
            <a:spAutoFit/>
          </a:bodyPr>
          <a:lstStyle/>
          <a:p>
            <a:r>
              <a:rPr lang="en-US" sz="3600" b="1" dirty="0">
                <a:solidFill>
                  <a:schemeClr val="bg1"/>
                </a:solidFill>
              </a:rPr>
              <a:t>Questions?</a:t>
            </a:r>
          </a:p>
        </p:txBody>
      </p:sp>
      <p:cxnSp>
        <p:nvCxnSpPr>
          <p:cNvPr id="5" name="Straight Connector 4">
            <a:extLst>
              <a:ext uri="{FF2B5EF4-FFF2-40B4-BE49-F238E27FC236}">
                <a16:creationId xmlns:a16="http://schemas.microsoft.com/office/drawing/2014/main" id="{224C2FDD-90B4-E09F-270F-8B0564D3C33F}"/>
              </a:ext>
            </a:extLst>
          </p:cNvPr>
          <p:cNvCxnSpPr/>
          <p:nvPr/>
        </p:nvCxnSpPr>
        <p:spPr>
          <a:xfrm>
            <a:off x="65247" y="2251808"/>
            <a:ext cx="3574472"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E8C330A-0DD9-0A26-3B90-9373C97E958D}"/>
              </a:ext>
            </a:extLst>
          </p:cNvPr>
          <p:cNvSpPr txBox="1"/>
          <p:nvPr/>
        </p:nvSpPr>
        <p:spPr>
          <a:xfrm>
            <a:off x="0" y="2352502"/>
            <a:ext cx="7750968" cy="1477328"/>
          </a:xfrm>
          <a:prstGeom prst="rect">
            <a:avLst/>
          </a:prstGeom>
          <a:noFill/>
        </p:spPr>
        <p:txBody>
          <a:bodyPr wrap="none" rtlCol="0">
            <a:spAutoFit/>
          </a:bodyPr>
          <a:lstStyle/>
          <a:p>
            <a:r>
              <a:rPr lang="en-US" dirty="0">
                <a:solidFill>
                  <a:schemeClr val="bg1"/>
                </a:solidFill>
              </a:rPr>
              <a:t>Acknowledgements</a:t>
            </a:r>
          </a:p>
          <a:p>
            <a:endParaRPr lang="en-US" dirty="0">
              <a:solidFill>
                <a:schemeClr val="bg1"/>
              </a:solidFill>
            </a:endParaRPr>
          </a:p>
          <a:p>
            <a:r>
              <a:rPr lang="en-US" dirty="0">
                <a:solidFill>
                  <a:schemeClr val="bg1"/>
                </a:solidFill>
              </a:rPr>
              <a:t>Dr. Abhay Bangalore Ramachandra (Major Professor) – research direction</a:t>
            </a:r>
          </a:p>
          <a:p>
            <a:r>
              <a:rPr lang="en-US" dirty="0">
                <a:solidFill>
                  <a:schemeClr val="bg1"/>
                </a:solidFill>
              </a:rPr>
              <a:t>Dr. </a:t>
            </a:r>
            <a:r>
              <a:rPr lang="en-US" dirty="0" err="1">
                <a:solidFill>
                  <a:schemeClr val="bg1"/>
                </a:solidFill>
              </a:rPr>
              <a:t>Sonting</a:t>
            </a:r>
            <a:r>
              <a:rPr lang="en-US" dirty="0">
                <a:solidFill>
                  <a:schemeClr val="bg1"/>
                </a:solidFill>
              </a:rPr>
              <a:t> Luo (instructor) – course materials and HPC infrastructure</a:t>
            </a:r>
          </a:p>
          <a:p>
            <a:r>
              <a:rPr lang="en-US" dirty="0">
                <a:solidFill>
                  <a:schemeClr val="bg1"/>
                </a:solidFill>
              </a:rPr>
              <a:t>Iowa State NOVA support team</a:t>
            </a:r>
          </a:p>
        </p:txBody>
      </p:sp>
    </p:spTree>
    <p:extLst>
      <p:ext uri="{BB962C8B-B14F-4D97-AF65-F5344CB8AC3E}">
        <p14:creationId xmlns:p14="http://schemas.microsoft.com/office/powerpoint/2010/main" val="2890408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U_template" id="{082034C5-8A21-2547-B606-20F7B12084E8}" vid="{16CDC827-255F-8047-89D1-075D6256D9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88DCA07-0E4C-D241-8211-1D4305B9C0BC}">
  <we:reference id="wa104381909" version="3.19.0.0" store="en-US" storeType="OMEX"/>
  <we:alternateReferences>
    <we:reference id="wa104381909" version="3.19.0.0" store="" storeType="OMEX"/>
  </we:alternateReferences>
  <we:properties>
    <we:property name="EQUATION_HISTORY" value="&quot;[{\&quot;mathml\&quot;:\&quot;&lt;math style=\\\&quot;font-family:stix;font-size:16px;\\\&quot; xmlns=\\\&quot;http://www.w3.org/1998/Math/MathML\\\&quot;&gt;&lt;msub&gt;&lt;mi&gt;l&lt;/mi&gt;&lt;mi&gt;z&lt;/mi&gt;&lt;/msub&gt;&lt;mo&gt;&amp;#xA0;&lt;/mo&gt;&lt;mo&gt;=&lt;/mo&gt;&lt;mfrac&gt;&lt;mrow&gt;&lt;mo&gt;&amp;#xA0;&lt;/mo&gt;&lt;mn&gt;1&lt;/mn&gt;&lt;/mrow&gt;&lt;mrow&gt;&lt;msub&gt;&lt;mi&gt;l&lt;/mi&gt;&lt;mi&gt;x&lt;/mi&gt;&lt;/msub&gt;&lt;mi&gt;l&lt;/mi&gt;&lt;mi&gt;y&lt;/mi&gt;&lt;/mrow&gt;&lt;/mfrac&gt;&lt;/math&gt;\&quot;,\&quot;base64Image\&quot;:\&quot;iVBORw0KGgoAAAANSUhEUgAAAZEAAAEACAYAAAByG0uxAAAACXBIWXMAAA7EAAAOxAGVKw4bAAAABGJhU0UAAACNUy1tAwAAEMtJREFUeNrt3Q/EVPn+B/CvJEmWJElWJCv5Sax1JUkkK0liJblWYuVKkshKslZcyVrJJblWkocrSZIlSZIsSVZWIkmulXisJFnL3vO9c+b3zH2ac77nPDPTM+eZ14uve/dp5jzzvM/M+cw55/snBICZZ0HWvs3aWVEAUNVHWTuetTdZ+zNrr0UCQMr8rB3L2m958fhTEQEgZV7WjmZtfFLxUEQAKDQ3a4ez9qqgeCgiALxnTtYOZe3XRPFQRAD4f7OzdrBG8VBEAAizsrY/ay9qFg9FBGDEi8e+rD3Pi8EfWbuTtXNZO5W1u4oIAEV+yYvA/awdyNqiLo/5pyICQDdxwOCqxGMWKyIA9OOMRREBoLYriggAU3VZEQFAEQFAEQFAEQFAEVFEAFBEAFBEAFBEAFBEAFBEFBEAFBEAFBEAFBEAFBEAUEQAUEQAUEQAUEQAUEQUEQAUEQAUEQAUEQAUEQBQRABQRABQRABQRABQRBQRABQRABQRABQRABQRAFBEAFBEAFBEAFBEAFBEFBEAFBEAFBEAFBEAFBEAUEQAUEQAUEQAUEQAUEQUEQAqu6qIADBVjxURAKZiXtb+SBSR+O+zRAXAZHsTBaTdNooKgE7zs/a0YhG5IS4A2hZn7XbFAtJuZ4LLWgAja0HWtubF4E3NAtJuz7J2PGubszZHpAAz17qs/Zq18ay9m2LRSLV3+fbj7/lC5AAzx6YBFY6i9leRAwAAAAAAMCz00wagktgPO/bHPpC1i1l7kbVXCgkAk88uVmZte9aOZG0sa09C94nR7osLYLTFM4tzobUYzPOQnkWzs50UH8Bo62VAz1bxAYy29XmLI0q3Ze1oSC8ME9vvWZstPgC6uZQoIjdFBECRbYkickxEABTZnSgi60UEQJGxkgLyNhgfAkCJX0uKyGXxAFBkZSi/lHVQRAAU2Z8oIqtFBECRKyUFZFw8ABSJN8zL1kAeExEARTaE8ktZe0UEQJFvEkVkuYgAKHKnpIA8Ew8AReaF8qngz4sIgCLbQ/mlrJ0iAqDImUQRWSgiAIqUrSPySDwAFFmSOAs5LSIAiqSmft8uIgCKlE39HntszRURAEVelhSRu+IBoMjqUH4p64SIAChyIFFENosIgCJlU7//HiyFC0CBWXmhKCoiN0QEQJGNofxS1hERTYtNif0yk9pluxuaKzX1+1oRKSKKCFCkbOr3t+JRRBQRoEhq6vdLIlJEFBGgyI7Eh3ufiBQRRQQo8o/Eh3uViBQRRQQoUjb1+0vxKCKKCFAkNfX7RRExA/2paSPYBuLLxC/d7XiDIqJpikiRscQvXep4gyKiaYpIkVclv/CpYw2KiKYpIkXWJH7hOccaFBFNU0SKHEr8wh2ONSgimqaIFLkWypfCXeBYA0A3qanfH4gIgCKpQWzfiQiAIicSRWSriAAoci+UL4U7W0QAdDM/lE/9fktEABRJTf1+XEQAFDmXKCIbRDQ0zOILDJ0noXwp3FkiUkQUEaCbpYkP8lURKSKKCFBkT+KDfFBEiogiAhRJTf3+qYgUEUUEKDJe8iEeF48ioogARVJTv49V2MZcMSoiigiMptTU719V2MaZrN3O2iJxAoyW64kisiLx/K354x6KEmC0xLmwyqZ+f554/uKsvQyt6VJWiRNgtKSurZ9PPP9G/rhjogQYPamp33eXPPdo/pg7YgQYTbfC1MaHbAkT3X8/FiPAaHqTKCLd5sta2/G8z0UIMLr+qFlEYtF4nf/bIfEBjLa3Ib2GSCwky7J2uuPnp0QHwL1QfwSxAgLAfx2pUTzeZW2fyABom1PxbCSOB1kpLgC6FZKvs3Y/tO6RxDOOePP8ZmiNI1ktIgAAAAAAejNLBHIDqCLeu9yctQNZu5i1F1l75YAoN4DJ35JjT8jtodUFP64s+iR0n13ivrjkBoy2+A35XGgtA/w8pKci6mwn5SY3YLT1sv78VrnJDRht6/MWF4jbFlrr9DyucCCMK5LOlpvcALq5lDgY3hSR3KjvdY+nsd3aFrEyhLYl3reWpJYbNa0ZQAG57dSWIbU78d5dLyK5Uc+hPheQ2P1voVgZUmMl7904x51xDnKjput9LCBxbfjlImWI/Vry/r0sHrlRT/z28HufCkjsT75RpAyxlYn38EERyY16NnW8EX7K2q6sLal5avpV/vw94mTI7U8cDC3PIDdqOpG/Cc5P8fmb8+f/XZQ0wJVQfikWuVFTXH0x3gifSk+q+O3jdf4Gg2EXz67flRwMx0QkN+qZH1r3MXZP4bnxkte/Q2vCtXmipAE2hPJLMntFJDfqf8NYH+p3zZufF49YRBaLkYb4JnEw1KtQbnwgsUvwm6x9Kgoa5E7JgfCZeOTGh3E2f/NsEwUNEi+5lk1pfl5EcmPwDuZvnEOioGG2h/JLMjtFJDcGa2v+pvmnKGigM4mDoWl65MYAfRZac+PcCiZVpJnK1sN4JB65MTgfZ+1laI0lWSAOGmhJ4tv0aRHJjcFYkH/beBV046O5UlOYbxeR3Oi/OHYkrlQWe2ZsEAcNVjaFeXx/zxWR3Oi/8/mb5a+ioOFelhwM74pn2nJbmZ/NHM7ahXybcXqVG338G2LvsTgwOs5UHse2xSma1ti1g3c0mFSRmWF1KL8kc0JEA89tTmgtlb0/LxYPQnr5iX50HS6bediX4wHamYdsUkVmggOJg9VmEQ0kt9iL81JoTY00lbWJHvb4+uPl+Neh/HLcKru5/9bl3xDiuiKudzITlE1h/nuwpOugcotnH3FYQLw0dTlvcYjAuxqFZF0Pr39Vhe0b89ZnsffVq2BSRWaO1KqdN0T0wXOblV/teF7hIP9DD79nfoXtv7Kr+2dR1p6G1o0nN52YKTYmDiJHRDRtucWR7g8SvycWsl6WmbhdYfv0QTztbM/SuUUczCCpKczXimhac4sDmV8nflcvS27HwZJPSrb91q7uj38FkyoyM91xABn63A4nisj1HrcfB0yfD4O5eU/m2zzM+G0g9sawPggzRWoK80siGorc4pWQsvEo8bX0Y5LHOIHs+KRtX7S7e7OnYKe9yE9nzZNFk+1IfMPdJ6Khye3b8GGW393mPdA/mxLfNv7Mvx1sFRUN9Y/E+9sYgeHJbVkY7CWttlmTtrvS7p6aVV1O6/pxYyt224ujUfeLmCHwOPEFieHKrawnVa+9tLoVkad29dTErrwvQv3Ro6leW5NHt54UNdMoNYW5a+HDl9u+MPhpUD7p2N53dnd9cQT6/fybRuyJFSc+i9c/j4XWxGdlO3A8P+UsMnlqgzfiZhp9mXg/7xbR0OW2KPG7x/rwO3Z2bE8noinaG4qnK4hV+vtQPFL1p5LnPg26TzI8xhIHpKUiGsrcyi5pvQm9T1HT/vt+tqsHK75RfijYkWcKnnN80uNuiZFp9KrkYORa+PDmdihRxHpZ12h2XoiMifuA4rrqD7vsyOMVTkV3iI9psiZxIDonoqHNbWUY3LT97Ut18UrLR3b3hxVHlP4W3u9ytz4/vYytcxnNCyJjGqW+zfqCM9y5PS15DT/1sN32KPyzdvX0iCNGT4X0QjKnRcU0uxbKRz8bRDvcuZ1LvI6pnEV0nmUZHzTNFuXfWOLa6/HmeVwb4Fm+483+y3RLTWH+QERDn9v2AZwRtW+o37SrgTKbEgcgYwOGP7fZoXw2jbqXozrvs2ywq4EyJxIHQ9P4NCO3WyWvpW733Iuh9/spwIi4F8qnzpgtokbkdixR1OZX3M4qXyCAquKBpewyiLFLzcltfZ/OjK7mj79vNwMpqSnMj4uoMbnFG/3venxN6zoev9luBlLOhcGNdpbbh3c19LYwVnv99nt2MVBFai3tWSJqVG5HwtSnpN8V+r8ePDCDLU18m74qosbl9pfEaysadBiX231uvwN17EkccA6KqHG5pe6LFN1cb08GGzsLGJ0OVJKawtzaEc3Mrey+yOGCM6u3wRxZQE1lyz2Pi6exuR0N9Rapag8sjFO+L7F7gSpSU5hXWRFvrtyGMreNofr6Jp1jS476WABVpaYw/6rCNuJia3FVvUVyG6rcUvNozckfF++fPMp/9qzj5wBJ1xMHwxWJ52/NH/dQbkOZW9mULJu7FMRtPhJAnW+qZVOYP088f3FojTkYtZ48TcrtTMnr3J+/ltf5f//oIwHUkZrC/Hzi+Tfyxx2T29Dm9kXJ67yQv9b2RJErfCSAOlJTmO8ueW67588duQ11bstLXue/O/7/Nz4OQF23wtTGOWwJE91YP5bb0Of2NvF6Y0+tuT4OQF1vEgeXbvM+re143udya0Ru1xKv1yy9wJT8UfNgGA9+7Zuwh+TWmNzKbq5f9DEABnWZ43h+QFyWtdMdPz8lt0bltisUz+a70McAmKp7iYNht3ZKbI3L7fOC17TLrgR6caTGQTDOCLtPZI3MbUGX13XFbgR6Nafit+o4rmGluBqb2/zw/uSQi+1GoF8HxK+zdj+0rvXHb87xJvDN0BoPsVpEjc9ty6Qi8oXdB0BVnTf3L4gDgKri/ZD2+JTn+X8DQCUXO85C1ooDgKq+DP87dgUAKom9wtqXsW6JA4CqYpfeJ2FiVLruvABUdikvIHGOrw3iAKCqw2HiPsgBcQC8L05suCe0xjzENcrbg/1uh3qXbv4vtFb2+y20VvZ7nLWdDc6lc46sH7xNACZ8FlojwR+H9FQjVXxTso11DcwnLm07HiZWTZztLQPQGhzXvkkcl3O9nLWxrP1cUgTWJLY5lihEf29YRvHs63mYWKVwkbcNwIR4iWlJl59fKigC35Zs63xIT5w4nZe0Ys+qY1m7mhfMOL6jbM2PWDB+CRM9sZZ5uwBUs6KgCPxU8Piv839/FFrjKOIkijuy9qDjufG+ynRdClrYURAmLx7VbbR5XKe9fXlvvMIZGACTPOhy0P2jSyHY1FFAus0fFQ/A030v5LuSs6PYeeBgXvhi+1uYuAfyOpjSBGBKThYcdDd3PGZx/m0+tqVD/Le8DPVXTBwPzewIADAUthUcXA92POZm/rMtQ/63vKtZQGLR+dRbAGDq5hccYP+V//uB/L/PNuBveVSjgMTeaR/b/QC96zZ25EXWlofWvYQXebEZdocrFpCLDfl7ABrhQsHB9m7+v9sa8nfMytr1kuIRi+EOuxugv/aUHHivNfDviT2v7uRnUbHdzn82x64G6L81BQUkdvVdIR4AUrr1bLoqFgCq6HYv4ZlYAKjiROh+Oct9BACSigYdbhUNACm7C4rIcdEAUCZOEz9eUER+FA8AZX4MxeNEYq+tWSICoJv9YWIywq8LCslfxATAZJ+E1oju9g30lQVF5ICoAOgUL1Hdz4vE9x0//y0Uz+gLAP91PC8QD8P/rmLYbd31cXEB0PZZXhzehNYlrU4HQvdLWp8ktjlbrAAz37ysPckLw5clBWZy212yzX35NueKF2BmO5sXhbGCf4/3SrpNxni+4PGr8sefEC3AzNYelR4nVvyo5HFXQ7XJGOPqgHFVxF+chQA0W7wncTRrV7J2MmvLJv37htDqzhsnVUyN+zgaul/SWjfpcdfy7X0qfoBmOx3en4H3TNa2hNbN8vZ4kEMVtrW+oIj8nLXFWVuUF6uq2wNgyL0LxVOXtNvFituK90VeVdjeZbEDjEYRuRHqdcM9mdje3dDq6QXADPB9yQE/DiCse+N7YWjNp9VtezdD66Y6ADPIsdDqLRXPSuI9kNtZ29XD9paHVk+tt3mLZx97xTwz/QcaeqXb7FNS4wAAARF0RVh0TWF0aE1MADxtYXRoIHhtbG5zPSJodHRwOi8vd3d3LnczLm9yZy8xOTk4L01hdGgvTWF0aE1MIj48bXN0eWxlIG1hdGhzaXplPSIxNnB4Ij48bXN1Yj48bWk+bDwvbWk+PG1pPno8L21pPjwvbXN1Yj48bW8+JiN4QTA7PC9tbz48bW8+PTwvbW8+PG1mcmFjPjxtcm93Pjxtbz4mI3hBMDs8L21vPjxtbj4xPC9tbj48L21yb3c+PG1yb3c+PG1zdWI+PG1pPmw8L21pPjxtaT54PC9taT48L21zdWI+PG1pPmw8L21pPjxtaT55PC9taT48L21yb3c+PC9tZnJhYz48L21zdHlsZT48L21hdGg+MgExIgAAAABJRU5ErkJggg==\&quot;,\&quot;slideId\&quot;:259,\&quot;accessibleText\&quot;:\&quot;l subscript z space equals fraction numerator space 1 over denominator l subscript x l y end fraction\&quot;,\&quot;imageHeight\&quot;:40.96},{\&quot;mathml\&quot;:\&quot;&lt;math style=\\\&quot;font-family:stix;font-size:16px;\\\&quot; xmlns=\\\&quot;http://www.w3.org/1998/Math/MathML\\\&quot;&gt;&lt;msub&gt;&lt;mi&gt;l&lt;/mi&gt;&lt;mi&gt;z&lt;/mi&gt;&lt;/msub&gt;&lt;mo&gt;=&lt;/mo&gt;&lt;mfrac&gt;&lt;mn&gt;1&lt;/mn&gt;&lt;mrow&gt;&lt;msub&gt;&lt;mi&gt;l&lt;/mi&gt;&lt;mi&gt;x&lt;/mi&gt;&lt;/msub&gt;&lt;msub&gt;&lt;mi&gt;l&lt;/mi&gt;&lt;mi&gt;y&lt;/mi&gt;&lt;/msub&gt;&lt;/mrow&gt;&lt;/mfrac&gt;&lt;/math&gt;\&quot;,\&quot;base64Image\&quot;:\&quot;iVBORw0KGgoAAAANSUhEUgAAAXcAAAEOCAYAAABy7Vf3AAAACXBIWXMAAA7EAAAOxAGVKw4bAAAABGJhU0UAAACNUy1tAwAAD99JREFUeNrt3XGk1/f+B/C3JEkumckkMTPJT2LmyiQjmRxJXDOZSaQ/kmRkkmTiSmaSMZkrk8OVTJJLkpmZkczMlUiSSeJIkmTsvt/3+/nefXf6fD7v7/ec7/f8vu9zHg9e3HW+389xn316nc/5fN+f1zsEgJlbEevTWF+KAqB8f4l1LNbTWL/HeiISgHItj3U01uOqqf+uuQOUa1msI7GmpjV1zR2gQEtjfRzrUUNT19wBCrIk1qFYDzJNXXMHKMDiWAcHaOqaO8AYWxRrf6z7AzZ1zR1gTJv6vlj3qib9W6zvYp2NdSrW95o7QHn+XTXnG7EOxHq15jVfae4AZUkPIq3LvGal5g4wv6/wNXeAeeQbzR1g/rmouQNo7gBo7gBo7gBo7gBo7gCau+YOoLkDoLkDoLkDoLkDaO6aO4DmDoDmDoDmDoDmDoDmDqC5a+4AmjsAmjsAmjsAmjuA5q65A2juAGjuAGjuAGjuAGjuAJq75g6guQOguQOguQOguQNo7po7gOYOgOYOgOYOgOYOgOYOoLlr7gCaOwCaOwCaOwCaO4DmrrkDaO4AjLlLmjvA/HNLcweYX5bF+i3T3NPXF4kKoBx7Mo29W++KCqAMy2Pd6bO5XxUXwPhbGevbPht7t84Et2cAxs6KWBNVk346YGPv1t1Yx2JtjbVEpABz751YD2JNxXo+w2aeq+fV8dP3+ZvIAUZvy4gaelN9KHIAAAAAAIBm1r8CFC6tb03rXA/EOh/rfqxHGjxAOVfja2PtiHU41mSs26F+0NANcQGMp3QlfjZ0hvffC/lpcb11UnwA42k2DzBMiA9gPG2qKj3Ztj3WkZAf5J/qRazF4gMoy4VMc78mIoDybM8096MiAijPrkxz3yQigPJMtjT2Z8H6doAiPWhp7hfFA1CetaH9lsxBEQGUZ3+mua8XEUB5vmlp7FPiAShP+qC0be/FSREBlGdzaL8ls0dEAOU5nmnur4sIoDzftTT2u+IBKM+y0D7y95yIAMqzI7TfknlfRADlOZNp7q+ICKA8bXPcfxEPQHley1y1nxYRQHlyI353iAigPG0jftMKmqUiAijPw5bm/r14AMqzPrTfkjkhIoDyHMg0960iAihP24jfF8GWegDFWVQ18KbmflVEAOV5N7TfkjksopdsyWQ2n8p+uVCo3IjfjSLS3IHytI34fSYezd1fN5QnN+L3gog0d3/dUJ6dmX/Y+0SkufvrhvJ8kfmHvU5Emru/bihP24jfh+LR3DV3KE9uxO95ETHHfldqgdVIfJT5prv0GjR3pcpr7pOZb7pKr0FzV6q85v6o5Rve0WfQ3JUqr7lvyHzDs/oMmrtS5TX3Q5lvuFOfQXNXqrzmfjm0b6m3Qp8BKEtuxO9NEQGUJ/cAzmciAijPiUxznxARQHl+CO1b6i0WEUBZlof2Eb/XRQRQntyI32MiAijP2Uxz3yyivpgKCYyV26F9S71FItLcNXcoy6rMP+JLItLcNXcoz+7MP+KDItLcNXcoT27E71si0tw1dyjPVMs/4CnxaO6aO5QnN+J3so9jLBWj5g6Ml9yI3719HONMrG9jvSpOgPFwJdPc38i8f6J63U+iBBgPaVZM24jfe5n3r4z1MHTGFqwTJ8B4yN0fPpd5/9XqdUdFCTA+ciN+d7W890j1mu/ECDBeroeZrW/fFv5YJrlajADj5WmmudfNk9nY8773RAgwfn4bsLmnZv6k+toh8QGMp2chP8M9Nfg1sU73/Pkp0QGMrx/C4E8lauwAY+7wAE39eax9IgMYf0v6vHpP69nXigugrAb/SawboXMPPl2hpw9Nr4XOOvj1IgIAAAAAymBDebkBhUufW22NdSDW+Vj3Yz3SqOQGlHNVmVaN7QidZcRpl7Lbof5J7xvikhswntIV5dnQ2U7wXsiP6+itk3KTGzCeZrO/7ITc5AaMp01VpU1ttofOHga3+mhQaXezxXKTG1CWC5kmdU1EcmMwT2b5K19dbRMrA9qeOadsOyk3BrBhBI39W78GMgO7MufVJhHJjf4dGnJjT0uxXhErMzDZcl6l+UzWacuNAVwZYmNPe7++LlJm6EHLuXVRPHKjf+kn+oshNfa05vZdkTJDazPn10ERyY3+bek5CX6M9UGs1wb8NW5v9f7d4mQW9mealBHZcmMAJ6oT4NwM37+1ev/fRcksfRPab/chNwaQdotKH4DOZGVLuiJ4Up1cMBvpN8XnLU1qUkRyo3/LQ+c++a4ZvDfduvk1dIYRLRMls7Q5c2thj4jkxmA/9TeFwZdJLa+aemruK8XIEBzPNCkrsOTGHEhLJ5/GeksUDMl3LQ3qrnjkxuh9WZ0420XBkKTbem2ja8+JSG6M1sHqpDkkCoZoR+bWwvsikhujM1GdMF+JgiE7k2lSRlnIjRF5O3TmU1wPhoExfG3zyH8Rj9wYjdWxHobOWvgV4mDIXstcfZ4WkdwYvhXVFUDaNd2SKkYhN6p2h4jkxnClte9p95b0afxmcTAibaNq07m3VERyY7jOVSfKh6JghB62NKnvxSM3hutIMAyM0VufubVwQkRyY3jer04Qw8AYtQOZJrVVRHJjON4JnY070lx39+wYtbZRtek8tDWc3BiCtBomrYoxDIy5kNsB7KqI5MbsvRrrTugMA9sgDubAu5lbC4dFJDdmZ0n4Y7LcNnEwR3KjajeKSG7Mzj+DYWDMvbZRtc/EIzdm59PqpEhb5aVP4M1nZy7kRtVeEJHcmLndDSfI/epXP3NkGJWdmVsL+0QkN2ZmS+YKIFV6Am5CVIzAF5lzb52I5Mbg0gkwlTlJemt3n8dNDz99HWu/iMm4lbmoQG4MKC15vD9AY+9WbhXN9CfmToqaBrlRtedFJDcGk544vVH99E8rY9JI0HQP72joDBpqO3HSlf6almP/Ou31T8VNg48y59ouEcmNwe0JzY8mvxnr89D89NuPLe+9EyzJoj+TmSa1SkRyYzTSSfKPhhPoTMN7jk173XUx0uBRS4O6Ix65MXpp39Sfak6kYzWvfXXaa3aKjxobMlefZ0UkN+bOx7EeTzuZrsTaFDq3aVL1bvn1tchocCjTpFwUyI059kqsU6F9Gp1Necm5HNq3hvPgnNz4f/JqdRWR9lZNH5o+j3W3+rXQNEna5EbV3hSR3IDybMn81veZiOQGlOdEpkkZdSE3oEA/hPat4RaLSG5AWZaH9kF1nouQG1Cg3KjaYyKSG1Ces5kmtVlEcgPKczu0bw23SERyA8qyKnP1eUlEcgPKszvTpA6KSG5AeXKjam3KLjegQG1bOk6JR25AeXKjaif7OMZSuckNGC+5UbV7+zhG2iDm29AZWic3uQFj4EqmSb2Ref9E9bqf5CY3YDykmSdto2rvZd6/MtbD0Hn8fp3c5AaMh9yo2nOZ91+tXndUbnIDxkduVO2ulvceqV7zndzkBoyX62Fm67S3hT+W+62Wm9yA8fI006Tq5qJs7Hnfe3KTGzB+fhuwSaWm9KT62iG5yQ0YT89CfhZ5alRrYp3u+fNTcpMbML5+yDSputKg5AaMucMDNKfnsfaJTG7A+FvS51VoWpe9VlxyA8pqVJ/EuhE695LTlWb68O9a6KznXi8iuQEAAAAAAAAAAAAAAMBCkwZy7Y71dejsQdp9iChtNr1ygOP8X+jsmvQ4dLbNuxXr/XmYV5odvzPW56Eziz5l9eEMj3Ug1oPqGCk7m3sDs/J26Dz5mRpw7pH/fhxvOcY7hWeVRh7sjTUZOnu11v1/vB/q5863+bDmOL/EWu70BAa1ItbtqpH8Guti1bR+bmnOGzLHnMz8gPh7oVmdDPmNRPrdDrDO9w3HOe40BWYi3Sp5rebPLzQ0m09bjnWuj6ZX6q2ZiVg7Qmc7v/S/0/TKOy3/P68PePx7Dce57RQFhumNhmbzY8PrP+m5lZBuXaThX+le9M2e96b79ovnUUZLY11uafBrBjjW6YZjvHAqAsN2s6bZ/FbToLf0NPYVNcdJt3LemacZpXvidxsa8+EBj3Op5hhPnIbAsJ1saFpbe16TVtA8rGrVAs3pg4acbs7gWLvDH3vCdn/bARiq7Q1N62DPa65Vf7ZtgWfVdM98zQyOtaXn/aedhsAobjnUNax/Vl8/UP33l6IKRxuyOjTD43Xfv0O0wCjUrX1P67hfD50HnO4Ha7FDlccwVs0kS8Mfe8QuFi0wCl83NK3uuuztIvqfG6H+A+i/DHicieq9/xApMCq7Q/NSv8vi+ZMjYThr+7vLIjeJFBiVDQ0NK12RviGeP1nXkNW5AY6RxhaklUceXgJG7nlNw7okllp1a94fDPD+XdV79osSGLUrNQ3rrlhqfdFw9b62z/entfFTofOhKsBInQj1t2WWiOYlOxqa+94+3vteMCwMmENNDzNNiOYlaenii5qsJvt4b5qfnyZPviJGYC7samjux0RT61oY/L7730J+6ibA0KRxwFMNzf1f4qnV9LRq085KaYVMGh/82FU7MFf+FZrXuT8Pg+84tBBsasiraZTAx9XXj4oOmAv7q6aT1l1/0tCw/iqm2ivxuvvudbdcXql+M0o7YVkhA4zcm6EzO6b7wenahuZ+QFS16paPXqx5XXfp5B6RAXNx5dmdk/J5z58/Ds0TIvmzulEEj6a9pvv070/iAubCsZ6m0zuVsG5f1Slx1drc8JtO7wem3R+gZsgAI/d21XDSeus3p33tQEPDejNzzIU4trbpvnv32YA91X+fd8oBo7YsdAZWpabzUUvjn167Wo65rzrmQvyw8NuarNKKmLTP7KPqB+gqpx0wal+G9qcp09Vo3RCxpqmH66rXn1igeX4W6j+j6OZ82CkHjFr3KdQ0EKxtc4lLob8hYml3prSL07/Dwl3itzPUf6ja/TzDMwLArKR73mn1xjexToaXN21OH/6lZY9pGFhu3XrThhTvTHvd5ep4by3g3FeF5gfA3nZaArN1Orw80fFMrG2h8yFpdz17P5s5Nz19+XOslaHziP03YXabQ88nz2qy+kwswDA8b7mC7Fa/qzYW9dxaaKuLYv+v6eMb0i0sT6ICc9Lcr4bBliuezBwvbZ69TOz/dW5aNta0A0PzeUsjvjCDK8n0IM7DhuOlcbfLRf4/X/Vkc0ocwLCl9dW3qqv4dB84rcH+YBbHez10Vs48qypdrZuP8rLubPefw8J8mAtg3lkdOh9epx9+a8UBMD90J0P6jQZgnjgUzI4BmFfSA13pdky6z27ZI8A8kB7kSiuJ0rMAq8UBUL50lf5jddW+WRwA80Oa+JgbgQxAQU4F83QAivFxrCdV4063XOqmZnbHMXwqLoDx90F4ebxCeiAp7S6VBqilD0y7+8oeFxdAGSZDfvplqoOiAijH+UxTnwqdmfgAFGRDrBehefqldewAhdoYOhtudKdfpu0D31tIAfwHn4eTzeNm0A8AAADzdEVYdE1hdGhNTAA8bWF0aCB4bWxucz0iaHR0cDovL3d3dy53My5vcmcvMTk5OC9NYXRoL01hdGhNTCI+PG1zdHlsZSBtYXRoc2l6ZT0iMTZweCI+PG1zdWI+PG1pPmw8L21pPjxtaT56PC9taT48L21zdWI+PG1vPj08L21vPjxtZnJhYz48bW4+MTwvbW4+PG1yb3c+PG1zdWI+PG1pPmw8L21pPjxtaT54PC9taT48L21zdWI+PG1zdWI+PG1pPmw8L21pPjxtaT55PC9taT48L21zdWI+PC9tcm93PjwvbWZyYWM+PC9tc3R5bGU+PC9tYXRoPnvlkawAAAAASUVORK5CYII=\&quot;,\&quot;slideId\&quot;:259,\&quot;accessibleText\&quot;:\&quot;l subscript z equals fraction numerator 1 over denominator l subscript x l subscript y end fraction\&quot;,\&quot;imageHeight\&quot;:43.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3005</TotalTime>
  <Words>6014</Words>
  <Application>Microsoft Macintosh PowerPoint</Application>
  <PresentationFormat>Widescreen</PresentationFormat>
  <Paragraphs>547</Paragraphs>
  <Slides>33</Slides>
  <Notes>25</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Calibri</vt:lpstr>
      <vt:lpstr>Cambria Math</vt:lpstr>
      <vt:lpstr>Carlito</vt:lpstr>
      <vt:lpstr>Courier New</vt:lpstr>
      <vt:lpstr>DEJAVU SANS</vt:lpstr>
      <vt:lpstr>DEJAVU SANS</vt:lpstr>
      <vt:lpstr>Helvetica</vt:lpstr>
      <vt:lpstr>Wingdings</vt:lpstr>
      <vt:lpstr>Office Theme</vt:lpstr>
      <vt:lpstr>PowerPoint Presentation</vt:lpstr>
      <vt:lpstr>Outline</vt:lpstr>
      <vt:lpstr>Section 1</vt:lpstr>
      <vt:lpstr>Soft Tissue Mechanics: why we need models</vt:lpstr>
      <vt:lpstr>The Planar Biaxial Mechanical Test</vt:lpstr>
      <vt:lpstr>The Research Gap</vt:lpstr>
      <vt:lpstr>Why this matters for my own research</vt:lpstr>
      <vt:lpstr>Section 2</vt:lpstr>
      <vt:lpstr>Hyperelasticity of Soft-Tissue Material</vt:lpstr>
      <vt:lpstr>Why Fibers Matter: Tissue Microstructure</vt:lpstr>
      <vt:lpstr>HGO model: Strain Energy</vt:lpstr>
      <vt:lpstr>Parameters and physiological ranges</vt:lpstr>
      <vt:lpstr>What HGO actually predicts: stress vs stretch</vt:lpstr>
      <vt:lpstr>Section 3</vt:lpstr>
      <vt:lpstr>Local vs Global Sensitivity</vt:lpstr>
      <vt:lpstr>First-order vs Total-effect indices</vt:lpstr>
      <vt:lpstr>How do we calculate S_i and S_(T_i )</vt:lpstr>
      <vt:lpstr>Saltelli Estimator Formulas</vt:lpstr>
      <vt:lpstr>Section 4</vt:lpstr>
      <vt:lpstr>Why Parallelize and How It Scales</vt:lpstr>
      <vt:lpstr>Hybrid MPI + OpenMP</vt:lpstr>
      <vt:lpstr>Communication Analysis: Why scaling will be near-linear</vt:lpstr>
      <vt:lpstr>Section 5</vt:lpstr>
      <vt:lpstr>Why Validate the Estimator First?</vt:lpstr>
      <vt:lpstr>Validation: Ishigami Benchmark</vt:lpstr>
      <vt:lpstr>Monte Carlo Convergence</vt:lpstr>
      <vt:lpstr>Section 6</vt:lpstr>
      <vt:lpstr>Cross protocol identifiability</vt:lpstr>
      <vt:lpstr>Loading Magnitude Controls</vt:lpstr>
      <vt:lpstr>Strong Scaling on NOVA</vt:lpstr>
      <vt:lpstr>Section 7</vt:lpstr>
      <vt:lpstr>Summary &amp; 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Saha, Ranabir</dc:creator>
  <cp:lastModifiedBy>Saha, Ranabir</cp:lastModifiedBy>
  <cp:revision>108</cp:revision>
  <dcterms:created xsi:type="dcterms:W3CDTF">2026-05-01T18:50:42Z</dcterms:created>
  <dcterms:modified xsi:type="dcterms:W3CDTF">2026-05-05T16:32:06Z</dcterms:modified>
</cp:coreProperties>
</file>